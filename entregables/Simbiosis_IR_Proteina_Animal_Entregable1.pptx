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a0d70c26-75b7-63a4-3bec-9b66aa141751}">
          <p14:sldIdLst>
            <p14:sldId id="257"/>
          </p14:sldIdLst>
        </p14:section>
        <p14:section name="Mercado" id="{41db5a8a-d61d-0a16-b3aa-572b6c01e3ec}">
          <p14:sldIdLst>
            <p14:sldId id="258"/>
            <p14:sldId id="259"/>
          </p14:sldIdLst>
        </p14:section>
        <p14:section name="Experiencia" id="{6c3cac80-1947-bea7-5a2e-44065b3baefb}">
          <p14:sldIdLst>
            <p14:sldId id="260"/>
          </p14:sldIdLst>
        </p14:section>
        <p14:section name="Grupos" id="{e4d561f9-bb7e-f2f0-aed4-41f6abe68a67}">
          <p14:sldIdLst>
            <p14:sldId id="261"/>
          </p14:sldIdLst>
        </p14:section>
        <p14:section name="Plantas" id="{02a37fdd-8b3e-8837-c656-880701316c00}">
          <p14:sldIdLst>
            <p14:sldId id="262"/>
          </p14:sldIdLst>
        </p14:section>
        <p14:section name="Cierre" id="{f07915fc-6b58-c44c-3e73-f0ae05cf8cf5}">
          <p14:sldIdLst>
            <p14:sldId id="263"/>
            <p14:sldId id="264"/>
            <p14:sldId id="265"/>
            <p14:sldId id="266"/>
          </p14:sldIdLst>
        </p14:section>
        <p14:section name="Default-1" id="{980d443d-4922-a1b8-fc84-5f58625e9212}">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real anual 2025, %</a:t>
            </a:r>
          </a:p>
        </c:rich>
      </c:tx>
      <c:layout/>
      <c:overlay val="0"/>
    </c:title>
    <c:autoTitleDeleted val="0"/>
    <c:plotArea>
      <c:layout/>
      <c:barChart>
        <c:barDir val="bar"/>
        <c:grouping val="clustered"/>
        <c:varyColors val="0"/>
        <c:ser>
          <c:idx val="0"/>
          <c:order val="0"/>
          <c:tx>
            <c:strRef>
              <c:f>Sheet1!$B$1</c:f>
              <c:strCache>
                <c:ptCount val="1"/>
                <c:pt idx="0">
                  <c:v>Crecimiento real anual 2025 (%)</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7C878C"/>
              </a:solidFill>
              <a:effectLst/>
            </c:spPr>
          </c:dPt>
          <c:dPt>
            <c:idx val="2"/>
            <c:invertIfNegative val="0"/>
            <c:bubble3D val="0"/>
            <c:spPr>
              <a:solidFill>
                <a:srgbClr val="2F6F62"/>
              </a:solidFill>
              <a:effectLst/>
            </c:spPr>
          </c:dPt>
          <c:cat>
            <c:multiLvlStrRef>
              <c:f>Sheet1!$A$2:$A$4</c:f>
              <c:multiLvlStrCache>
                <c:ptCount val="3"/>
                <c:lvl>
                  <c:pt idx="0">
                    <c:v>Sector secundario (industria)</c:v>
                  </c:pt>
                  <c:pt idx="1">
                    <c:v>PIB nacional</c:v>
                  </c:pt>
                  <c:pt idx="2">
                    <c:v>PIB primario (agro, ganadería, pesca)</c:v>
                  </c:pt>
                </c:lvl>
              </c:multiLvlStrCache>
            </c:multiLvlStrRef>
          </c:cat>
          <c:val>
            <c:numRef>
              <c:f>Sheet1!$B$2:$B$4</c:f>
              <c:numCache>
                <c:formatCode>General</c:formatCode>
                <c:ptCount val="3"/>
                <c:pt idx="0">
                  <c:v>-1.1</c:v>
                </c:pt>
                <c:pt idx="1">
                  <c:v>0.8</c:v>
                </c:pt>
                <c:pt idx="2">
                  <c:v>4</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5"/>
          <c:min val="-2"/>
        </c:scaling>
        <c:delete val="0"/>
        <c:axPos val="b"/>
        <c:majorGridlines>
          <c:spPr>
            <a:ln w="6350" cap="flat">
              <a:solidFill>
                <a:srgbClr val="D9DEE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Crecimiento 2025, % anual</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A63D2B"/>
            </a:solidFill>
            <a:effectLst/>
          </c:spPr>
          <c:invertIfNegative val="0"/>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A63D2B"/>
              </a:solidFill>
              <a:effectLst/>
            </c:spPr>
          </c:dPt>
          <c:dPt>
            <c:idx val="1"/>
            <c:invertIfNegative val="0"/>
            <c:bubble3D val="0"/>
            <c:spPr>
              <a:solidFill>
                <a:srgbClr val="5B7B8C"/>
              </a:solidFill>
              <a:effectLst/>
            </c:spPr>
          </c:dPt>
          <c:cat>
            <c:multiLvlStrRef>
              <c:f>Sheet1!$A$2:$A$3</c:f>
              <c:multiLvlStrCache>
                <c:ptCount val="2"/>
                <c:lvl>
                  <c:pt idx="0">
                    <c:v>Consumo de carne</c:v>
                  </c:pt>
                  <c:pt idx="1">
                    <c:v>Producción de carne</c:v>
                  </c:pt>
                </c:lvl>
              </c:multiLvlStrCache>
            </c:multiLvlStrRef>
          </c:cat>
          <c:val>
            <c:numRef>
              <c:f>Sheet1!$B$2:$B$3</c:f>
              <c:numCache>
                <c:formatCode>General</c:formatCode>
                <c:ptCount val="2"/>
                <c:pt idx="0">
                  <c:v>4.5</c:v>
                </c:pt>
                <c:pt idx="1">
                  <c:v>2.6</c:v>
                </c:pt>
              </c:numCache>
            </c:numRef>
          </c:val>
        </c:ser>
        <c:dLbls>
          <c:numFmt formatCode="0.0" sourceLinked="0"/>
          <c:txPr>
            <a:bodyPr/>
            <a:lstStyle/>
            <a:p>
              <a:pPr>
                <a:defRPr b="0" i="0" strike="noStrike" sz="1400" u="none">
                  <a:solidFill>
                    <a:srgbClr val="1F2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F2A2E"/>
                </a:solidFill>
                <a:latin typeface="+mn-lt"/>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D9DE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87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El entregable va de lo macro (alimentos y bebidas) a lo micro (proteína animal), a los cuatro grupos acordados para esta lámina (no es un ranking de mercado), y termina en plantas concretas por estado.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cifras salen de la validación técnica del 12 de septiembre. La parte de Bachoco (atendido por otras regiones) y Bafar (oportunidades abiertas en La Piedad) son declaraciones de Marcos del 14 de octubre; no traen número de oportunidad, quedan PENDIENTE de registrar.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contraste agro vs industria explica por qué la proteína animal es candidata, pero no prueba demanda de reposición de bandas ni mangueras. Ese vínculo se prueba por planta, no por macro.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del programa: un proyecto anunciado no es demanda actual. El consumo de reposición llega después del arranque, no durante la obra. Pronóstico 2027 queda PENDIENTE: Ricardo lo pidió y no hay dato publicado que lo sustente en lo que se consultó.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Nomenclatura copiada del campo Nombre de oportunidad del archivo original. El número va solo como referencia secundaria. Para Pilgrim's y SuKarne el CRM acumula más ganadas en la misma clave (3 en El Porvenir; 6 en Lucero); aquí se citan los casos más cercanos a cada réplica.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etiquetas describen historial en el CRM, no compra vigente. SuKarne: Monarca (clave con «TIF 43») y Ganadería Integral SK (TIF 105) están en HIPÓTESIS de pertenencia en el cruce del CRM; sukarne.com las atribuye al grupo. Pilgrim's: 1.89 de 2.15 millones en claves de Durango (Gómez Palacio, La Popular, El Porvenir).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Siete plantas; seis tienen veredicto de réplica. La Piedad no lo tiene porque Bafar no tiene caso ganado propio. El SÍ de Tepeji queda condicionado a confirmar la identidad del sitio. Lagos baja a PARCIAL con el mismo criterio que Toluca: sin áreas verificadas en el destino. Ninguna fila asigna trabajo a una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GAO: la web solo muestra una dirección (Acatlán de Juárez, Jalisco) y extrusión como servicio principal. Razón social, procesos como anodizado, capacidad y equipos son ND. Las necesidades hidráulicas son lo que Marcos vio en campo, no un dato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Gates de México · Industrial Replacement</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Programa Simbiosis IR · Proteína animal · Borrador del 14-oct-2026</a:t>
            </a:r>
            <a:endParaRPr lang="en-US" sz="1000" dirty="0"/>
          </a:p>
        </p:txBody>
      </p:sp>
      <p:sp>
        <p:nvSpPr>
          <p:cNvPr id="3" name="Text 1"/>
          <p:cNvSpPr/>
          <p:nvPr>
            <p:ph idx="101" type="title" hasCustomPrompt="1"/>
          </p:nvPr>
        </p:nvSpPr>
        <p:spPr>
          <a:xfrm>
            <a:off x="548640" y="365760"/>
            <a:ext cx="11091672" cy="82296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8778240" cy="182880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Proteína animal: de los casos ganados a cuatro grupos prospecto</a:t>
            </a:r>
            <a:endParaRPr lang="en-US" sz="4400" dirty="0"/>
          </a:p>
        </p:txBody>
      </p:sp>
      <p:sp>
        <p:nvSpPr>
          <p:cNvPr id="3" name="Text 1"/>
          <p:cNvSpPr txBox="1"/>
          <p:nvPr/>
        </p:nvSpPr>
        <p:spPr>
          <a:xfrm>
            <a:off x="548640" y="3474720"/>
            <a:ext cx="8778240" cy="457200"/>
          </a:xfrm>
          <a:prstGeom prst="rect">
            <a:avLst/>
          </a:prstGeom>
          <a:noFill/>
          <a:ln/>
        </p:spPr>
        <p:txBody>
          <a:bodyPr wrap="square" lIns="0" tIns="0" rIns="0" bIns="0" rtlCol="0" anchor="ctr"/>
          <a:lstStyle/>
          <a:p>
            <a:pPr indent="0" marL="0">
              <a:buNone/>
            </a:pPr>
            <a:r>
              <a:rPr lang="en-US" sz="2200" dirty="0">
                <a:solidFill>
                  <a:schemeClr val="accent6"/>
                </a:solidFill>
                <a:latin typeface="Calibri" pitchFamily="34" charset="0"/>
                <a:ea typeface="Calibri" pitchFamily="34" charset="-122"/>
                <a:cs typeface="Calibri" pitchFamily="34" charset="-120"/>
              </a:rPr>
              <a:t>SuKarne · Bachoco · Pilgrim's Pride · Grupo Bafar</a:t>
            </a:r>
            <a:endParaRPr lang="en-US" sz="2200" dirty="0"/>
          </a:p>
        </p:txBody>
      </p:sp>
      <p:sp>
        <p:nvSpPr>
          <p:cNvPr id="4" name="Text 2"/>
          <p:cNvSpPr txBox="1"/>
          <p:nvPr/>
        </p:nvSpPr>
        <p:spPr>
          <a:xfrm>
            <a:off x="548640" y="4846320"/>
            <a:ext cx="8229600" cy="731520"/>
          </a:xfrm>
          <a:prstGeom prst="rect">
            <a:avLst/>
          </a:prstGeom>
          <a:noFill/>
          <a:ln/>
        </p:spPr>
        <p:txBody>
          <a:bodyPr wrap="square" lIns="0" tIns="0" rIns="0" bIns="0" rtlCol="0" anchor="ctr"/>
          <a:lstStyle/>
          <a:p>
            <a:pPr indent="0" marL="0">
              <a:buNone/>
            </a:pPr>
            <a:r>
              <a:rPr lang="en-US" sz="1400" dirty="0">
                <a:solidFill>
                  <a:schemeClr val="accent6"/>
                </a:solidFill>
                <a:latin typeface="Calibri" pitchFamily="34" charset="0"/>
                <a:ea typeface="Calibri" pitchFamily="34" charset="-122"/>
                <a:cs typeface="Calibri" pitchFamily="34" charset="-120"/>
              </a:rPr>
              <a:t>Entregable 1 · Borrador para Ricardo Narváez · 14 de octubre de 2026</a:t>
            </a:r>
            <a:endParaRPr lang="en-US" sz="1400" dirty="0"/>
          </a:p>
          <a:p>
            <a:pPr indent="0" marL="0">
              <a:buNone/>
            </a:pPr>
            <a:r>
              <a:rPr lang="en-US" sz="1400" dirty="0">
                <a:solidFill>
                  <a:schemeClr val="accent6"/>
                </a:solidFill>
                <a:latin typeface="Calibri" pitchFamily="34" charset="0"/>
                <a:ea typeface="Calibri" pitchFamily="34" charset="-122"/>
                <a:cs typeface="Calibri" pitchFamily="34" charset="-120"/>
              </a:rPr>
              <a:t>Prepara: Marcos Arévalo, Gates de México (Industrial Replacement)</a:t>
            </a:r>
            <a:endParaRPr lang="en-US" sz="1400" dirty="0"/>
          </a:p>
        </p:txBody>
      </p:sp>
      <p:sp>
        <p:nvSpPr>
          <p:cNvPr id="5" name="circulo macro"/>
          <p:cNvSpPr/>
          <p:nvPr/>
        </p:nvSpPr>
        <p:spPr>
          <a:xfrm>
            <a:off x="9326880" y="1371600"/>
            <a:ext cx="2377440" cy="2377440"/>
          </a:xfrm>
          <a:prstGeom prst="ellipse">
            <a:avLst/>
          </a:prstGeom>
          <a:solidFill>
            <a:schemeClr val="accent1">
              <a:alpha val="90000"/>
            </a:schemeClr>
          </a:solidFill>
          <a:ln w="12700">
            <a:solidFill>
              <a:schemeClr val="accent1"/>
            </a:solidFill>
            <a:prstDash val="solid"/>
          </a:ln>
        </p:spPr>
      </p:sp>
      <p:sp>
        <p:nvSpPr>
          <p:cNvPr id="6" name="circulo micro"/>
          <p:cNvSpPr/>
          <p:nvPr/>
        </p:nvSpPr>
        <p:spPr>
          <a:xfrm>
            <a:off x="9875520" y="2103120"/>
            <a:ext cx="1371600" cy="1371600"/>
          </a:xfrm>
          <a:prstGeom prst="ellipse">
            <a:avLst/>
          </a:prstGeom>
          <a:solidFill>
            <a:schemeClr val="accent3">
              <a:alpha val="95000"/>
            </a:schemeClr>
          </a:solidFill>
          <a:ln w="12700">
            <a:solidFill>
              <a:schemeClr val="accent3"/>
            </a:solidFill>
            <a:prstDash val="solid"/>
          </a:ln>
        </p:spPr>
      </p:sp>
      <p:sp>
        <p:nvSpPr>
          <p:cNvPr id="7" name="circulo planta"/>
          <p:cNvSpPr/>
          <p:nvPr/>
        </p:nvSpPr>
        <p:spPr>
          <a:xfrm>
            <a:off x="10314432" y="2697480"/>
            <a:ext cx="502920" cy="502920"/>
          </a:xfrm>
          <a:prstGeom prst="ellipse">
            <a:avLst/>
          </a:prstGeom>
          <a:solidFill>
            <a:schemeClr val="bg1"/>
          </a:solidFill>
          <a:ln w="12700">
            <a:solidFill>
              <a:schemeClr val="bg1"/>
            </a:solidFill>
            <a:prstDash val="solid"/>
          </a:ln>
        </p:spPr>
      </p:sp>
      <p:sp>
        <p:nvSpPr>
          <p:cNvPr id="8" name="Text 6"/>
          <p:cNvSpPr txBox="1"/>
          <p:nvPr/>
        </p:nvSpPr>
        <p:spPr>
          <a:xfrm>
            <a:off x="9144000" y="388620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Alimentos y bebidas</a:t>
            </a:r>
            <a:endParaRPr lang="en-US" sz="1200" dirty="0"/>
          </a:p>
        </p:txBody>
      </p:sp>
      <p:sp>
        <p:nvSpPr>
          <p:cNvPr id="9" name="Text 7"/>
          <p:cNvSpPr txBox="1"/>
          <p:nvPr/>
        </p:nvSpPr>
        <p:spPr>
          <a:xfrm>
            <a:off x="9144000" y="4160520"/>
            <a:ext cx="2743200" cy="274320"/>
          </a:xfrm>
          <a:prstGeom prst="rect">
            <a:avLst/>
          </a:prstGeom>
          <a:noFill/>
          <a:ln/>
        </p:spPr>
        <p:txBody>
          <a:bodyPr wrap="square" lIns="0" tIns="0" rIns="0" bIns="0" rtlCol="0" anchor="ctr"/>
          <a:lstStyle/>
          <a:p>
            <a:pPr algn="ctr" indent="0" marL="0">
              <a:buNone/>
            </a:pPr>
            <a:r>
              <a:rPr lang="en-US" sz="1200" dirty="0">
                <a:solidFill>
                  <a:schemeClr val="accent6"/>
                </a:solidFill>
                <a:latin typeface="Calibri" pitchFamily="34" charset="0"/>
                <a:ea typeface="Calibri" pitchFamily="34" charset="-122"/>
                <a:cs typeface="Calibri" pitchFamily="34" charset="-120"/>
              </a:rPr>
              <a:t>Proteína animal → 4 grupos → plantas</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Seis réplicas evaluadas: 1 sí condicionada, 4 parciales, 1 no</a:t>
            </a:r>
            <a:endParaRPr lang="en-US" sz="2800" dirty="0"/>
          </a:p>
        </p:txBody>
      </p:sp>
      <p:sp>
        <p:nvSpPr>
          <p:cNvPr id="3" name="tarjeta 1"/>
          <p:cNvSpPr/>
          <p:nvPr/>
        </p:nvSpPr>
        <p:spPr>
          <a:xfrm>
            <a:off x="548640" y="1371600"/>
            <a:ext cx="2560320" cy="1828800"/>
          </a:xfrm>
          <a:prstGeom prst="rect">
            <a:avLst/>
          </a:prstGeom>
          <a:solidFill>
            <a:schemeClr val="bg2"/>
          </a:solidFill>
          <a:ln w="12700">
            <a:solidFill>
              <a:schemeClr val="bg2"/>
            </a:solidFill>
            <a:prstDash val="solid"/>
          </a:ln>
        </p:spPr>
      </p:sp>
      <p:sp>
        <p:nvSpPr>
          <p:cNvPr id="4" name="Text 2"/>
          <p:cNvSpPr txBox="1"/>
          <p:nvPr/>
        </p:nvSpPr>
        <p:spPr>
          <a:xfrm>
            <a:off x="731520" y="1417320"/>
            <a:ext cx="2194560" cy="822960"/>
          </a:xfrm>
          <a:prstGeom prst="rect">
            <a:avLst/>
          </a:prstGeom>
          <a:noFill/>
          <a:ln/>
        </p:spPr>
        <p:txBody>
          <a:bodyPr wrap="square" lIns="0" tIns="0" rIns="0" bIns="0" rtlCol="0" anchor="ctr"/>
          <a:lstStyle/>
          <a:p>
            <a:pPr indent="0" marL="0">
              <a:buNone/>
            </a:pPr>
            <a:r>
              <a:rPr lang="en-US" sz="5400" b="1" dirty="0">
                <a:solidFill>
                  <a:schemeClr val="tx1"/>
                </a:solidFill>
                <a:latin typeface="Cambria" pitchFamily="34" charset="0"/>
                <a:ea typeface="Cambria" pitchFamily="34" charset="-122"/>
                <a:cs typeface="Cambria" pitchFamily="34" charset="-120"/>
              </a:rPr>
              <a:t>6</a:t>
            </a:r>
            <a:endParaRPr lang="en-US" sz="5400" dirty="0"/>
          </a:p>
        </p:txBody>
      </p:sp>
      <p:sp>
        <p:nvSpPr>
          <p:cNvPr id="5" name="Text 3"/>
          <p:cNvSpPr txBox="1"/>
          <p:nvPr/>
        </p:nvSpPr>
        <p:spPr>
          <a:xfrm>
            <a:off x="7315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pares planta origen → destino evaluados técnicamente</a:t>
            </a:r>
            <a:endParaRPr lang="en-US" sz="1400" dirty="0"/>
          </a:p>
        </p:txBody>
      </p:sp>
      <p:sp>
        <p:nvSpPr>
          <p:cNvPr id="6" name="tarjeta 2"/>
          <p:cNvSpPr/>
          <p:nvPr/>
        </p:nvSpPr>
        <p:spPr>
          <a:xfrm>
            <a:off x="3291840" y="1371600"/>
            <a:ext cx="2560320" cy="1828800"/>
          </a:xfrm>
          <a:prstGeom prst="rect">
            <a:avLst/>
          </a:prstGeom>
          <a:solidFill>
            <a:schemeClr val="bg2"/>
          </a:solidFill>
          <a:ln w="12700">
            <a:solidFill>
              <a:schemeClr val="bg2"/>
            </a:solidFill>
            <a:prstDash val="solid"/>
          </a:ln>
        </p:spPr>
      </p:sp>
      <p:sp>
        <p:nvSpPr>
          <p:cNvPr id="7" name="Text 5"/>
          <p:cNvSpPr txBox="1"/>
          <p:nvPr/>
        </p:nvSpPr>
        <p:spPr>
          <a:xfrm>
            <a:off x="3474720" y="1417320"/>
            <a:ext cx="2194560" cy="82296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a:t>
            </a:r>
            <a:endParaRPr lang="en-US" sz="5400" dirty="0"/>
          </a:p>
        </p:txBody>
      </p:sp>
      <p:sp>
        <p:nvSpPr>
          <p:cNvPr id="8" name="Text 6"/>
          <p:cNvSpPr txBox="1"/>
          <p:nvPr/>
        </p:nvSpPr>
        <p:spPr>
          <a:xfrm>
            <a:off x="34747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réplica SÍ, condicionada a confirmar el sitio: Pilgrim's Tepeji</a:t>
            </a:r>
            <a:endParaRPr lang="en-US" sz="1400" dirty="0"/>
          </a:p>
        </p:txBody>
      </p:sp>
      <p:sp>
        <p:nvSpPr>
          <p:cNvPr id="9" name="tarjeta 3"/>
          <p:cNvSpPr/>
          <p:nvPr/>
        </p:nvSpPr>
        <p:spPr>
          <a:xfrm>
            <a:off x="6035040" y="1371600"/>
            <a:ext cx="2560320" cy="1828800"/>
          </a:xfrm>
          <a:prstGeom prst="rect">
            <a:avLst/>
          </a:prstGeom>
          <a:solidFill>
            <a:schemeClr val="bg2"/>
          </a:solidFill>
          <a:ln w="12700">
            <a:solidFill>
              <a:schemeClr val="bg2"/>
            </a:solidFill>
            <a:prstDash val="solid"/>
          </a:ln>
        </p:spPr>
      </p:sp>
      <p:sp>
        <p:nvSpPr>
          <p:cNvPr id="10" name="Text 8"/>
          <p:cNvSpPr txBox="1"/>
          <p:nvPr/>
        </p:nvSpPr>
        <p:spPr>
          <a:xfrm>
            <a:off x="6217920" y="1417320"/>
            <a:ext cx="2194560" cy="822960"/>
          </a:xfrm>
          <a:prstGeom prst="rect">
            <a:avLst/>
          </a:prstGeom>
          <a:noFill/>
          <a:ln/>
        </p:spPr>
        <p:txBody>
          <a:bodyPr wrap="square" lIns="0" tIns="0" rIns="0" bIns="0" rtlCol="0" anchor="ctr"/>
          <a:lstStyle/>
          <a:p>
            <a:pPr indent="0" marL="0">
              <a:buNone/>
            </a:pPr>
            <a:r>
              <a:rPr lang="en-US" sz="5400" b="1" dirty="0">
                <a:solidFill>
                  <a:schemeClr val="accent3"/>
                </a:solidFill>
                <a:latin typeface="Cambria" pitchFamily="34" charset="0"/>
                <a:ea typeface="Cambria" pitchFamily="34" charset="-122"/>
                <a:cs typeface="Cambria" pitchFamily="34" charset="-120"/>
              </a:rPr>
              <a:t>4</a:t>
            </a:r>
            <a:endParaRPr lang="en-US" sz="5400" dirty="0"/>
          </a:p>
        </p:txBody>
      </p:sp>
      <p:sp>
        <p:nvSpPr>
          <p:cNvPr id="11" name="Text 9"/>
          <p:cNvSpPr txBox="1"/>
          <p:nvPr/>
        </p:nvSpPr>
        <p:spPr>
          <a:xfrm>
            <a:off x="62179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PARCIAL: Bachoco Lagos, SuKarne TIF 718, Pilgrim's Toluca y Bafar Lerma</a:t>
            </a:r>
            <a:endParaRPr lang="en-US" sz="1400" dirty="0"/>
          </a:p>
        </p:txBody>
      </p:sp>
      <p:sp>
        <p:nvSpPr>
          <p:cNvPr id="12" name="tarjeta 4"/>
          <p:cNvSpPr/>
          <p:nvPr/>
        </p:nvSpPr>
        <p:spPr>
          <a:xfrm>
            <a:off x="8778240" y="1371600"/>
            <a:ext cx="2560320" cy="1828800"/>
          </a:xfrm>
          <a:prstGeom prst="rect">
            <a:avLst/>
          </a:prstGeom>
          <a:solidFill>
            <a:schemeClr val="bg2"/>
          </a:solidFill>
          <a:ln w="12700">
            <a:solidFill>
              <a:schemeClr val="bg2"/>
            </a:solidFill>
            <a:prstDash val="solid"/>
          </a:ln>
        </p:spPr>
      </p:sp>
      <p:sp>
        <p:nvSpPr>
          <p:cNvPr id="13" name="Text 11"/>
          <p:cNvSpPr txBox="1"/>
          <p:nvPr/>
        </p:nvSpPr>
        <p:spPr>
          <a:xfrm>
            <a:off x="8961120" y="1417320"/>
            <a:ext cx="2194560" cy="82296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a:t>
            </a:r>
            <a:endParaRPr lang="en-US" sz="5400" dirty="0"/>
          </a:p>
        </p:txBody>
      </p:sp>
      <p:sp>
        <p:nvSpPr>
          <p:cNvPr id="14" name="Text 12"/>
          <p:cNvSpPr txBox="1"/>
          <p:nvPr/>
        </p:nvSpPr>
        <p:spPr>
          <a:xfrm>
            <a:off x="8961120" y="2286000"/>
            <a:ext cx="2194560" cy="86868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NO se sostiene: SuKarne TIF 94 Zapopan (planta de cocción, sin sacrificio)</a:t>
            </a:r>
            <a:endParaRPr lang="en-US" sz="1400" dirty="0"/>
          </a:p>
        </p:txBody>
      </p:sp>
      <p:sp>
        <p:nvSpPr>
          <p:cNvPr id="15" name="Text 13"/>
          <p:cNvSpPr txBox="1"/>
          <p:nvPr/>
        </p:nvSpPr>
        <p:spPr>
          <a:xfrm>
            <a:off x="548640" y="3520440"/>
            <a:ext cx="11091672" cy="2377440"/>
          </a:xfrm>
          <a:prstGeom prst="rect">
            <a:avLst/>
          </a:prstGeom>
          <a:noFill/>
          <a:ln/>
        </p:spPr>
        <p:txBody>
          <a:bodyPr wrap="square" lIns="0" tIns="0" rIns="0" bIns="0" rtlCol="0" anchor="t"/>
          <a:lstStyle/>
          <a:p>
            <a:pPr indent="0" marL="0">
              <a:spcAft>
                <a:spcPts val="600"/>
              </a:spcAft>
              <a:buNone/>
            </a:pPr>
            <a:r>
              <a:rPr lang="en-US" sz="1800" b="1" dirty="0">
                <a:solidFill>
                  <a:schemeClr val="tx1"/>
                </a:solidFill>
                <a:latin typeface="Calibri" pitchFamily="34" charset="0"/>
                <a:ea typeface="Calibri" pitchFamily="34" charset="-122"/>
                <a:cs typeface="Calibri" pitchFamily="34" charset="-120"/>
              </a:rPr>
              <a:t>Lo que cambia el mensaje para Ricardo</a:t>
            </a:r>
            <a:endParaRPr lang="en-US" sz="1700" dirty="0"/>
          </a:p>
          <a:p>
            <a:pPr marL="342900" indent="-342900">
              <a:spcAft>
                <a:spcPts val="600"/>
              </a:spcAft>
              <a:buSzPct val="100000"/>
              <a:buChar char="•"/>
            </a:pPr>
            <a:r>
              <a:rPr lang="en-US" sz="1700" dirty="0">
                <a:solidFill>
                  <a:schemeClr val="tx1"/>
                </a:solidFill>
                <a:latin typeface="Calibri" pitchFamily="34" charset="0"/>
                <a:ea typeface="Calibri" pitchFamily="34" charset="-122"/>
                <a:cs typeface="Calibri" pitchFamily="34" charset="-120"/>
              </a:rPr>
              <a:t>Bachoco Lagos de Moreno no es prospección nueva: el CRM tiene la oportunidad perdida «7.1 PCC C2B-Bachoco Lagos- Bamac Guadalajara» (2020; motivo no disponible). Marcos informa que compañeros de otras regiones ya atienden la cuenta; falta confirmar si incluye Lagos.</a:t>
            </a:r>
            <a:endParaRPr lang="en-US" sz="1700" dirty="0"/>
          </a:p>
          <a:p>
            <a:pPr marL="342900" indent="-342900">
              <a:spcAft>
                <a:spcPts val="600"/>
              </a:spcAft>
              <a:buSzPct val="100000"/>
              <a:buChar char="•"/>
            </a:pPr>
            <a:r>
              <a:rPr lang="en-US" sz="1700" dirty="0">
                <a:solidFill>
                  <a:schemeClr val="tx1"/>
                </a:solidFill>
                <a:latin typeface="Calibri" pitchFamily="34" charset="0"/>
                <a:ea typeface="Calibri" pitchFamily="34" charset="-122"/>
                <a:cs typeface="Calibri" pitchFamily="34" charset="-120"/>
              </a:rPr>
              <a:t>Bafar tiene 0 ganadas en el CRM (corte 12-ago-2026). Marcos abrió dos oportunidades con La Piedad (Michoacán), n.º 813492 y 814010, por 650,220 y 265,000 MXN según él; aún fuera del corte del CRM. Gates no atendía a este usuario.</a:t>
            </a:r>
            <a:endParaRPr lang="en-US" sz="1700" dirty="0"/>
          </a:p>
          <a:p>
            <a:pPr marL="342900" indent="-342900">
              <a:buSzPct val="100000"/>
              <a:buChar char="•"/>
            </a:pPr>
            <a:r>
              <a:rPr lang="en-US" sz="1700" dirty="0">
                <a:solidFill>
                  <a:schemeClr val="tx1"/>
                </a:solidFill>
                <a:latin typeface="Calibri" pitchFamily="34" charset="0"/>
                <a:ea typeface="Calibri" pitchFamily="34" charset="-122"/>
                <a:cs typeface="Calibri" pitchFamily="34" charset="-120"/>
              </a:rPr>
              <a:t>Este borrador cubre UN mercado candidato (proteína animal). La selección de tres mercados y nueve usuarios sigue abierta.</a:t>
            </a:r>
            <a:endParaRPr lang="en-US" sz="1700" dirty="0"/>
          </a:p>
        </p:txBody>
      </p:sp>
      <p:sp>
        <p:nvSpPr>
          <p:cNvPr id="16" name="Text 14"/>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HIPOTESIS_REPLICA.csv (validación del 12-sep-2026) y declaraciones de campo de Marcos del 14-oct-2026. Todas las réplicas están en HIPÓTESIS hasta confirmar en visita.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Macro: el campo creció 4.0% en 2025; la industria cayó 1.1%</a:t>
            </a:r>
            <a:endParaRPr lang="en-US" sz="2800" dirty="0"/>
          </a:p>
        </p:txBody>
      </p:sp>
      <p:graphicFrame>
        <p:nvGraphicFramePr>
          <p:cNvPr id="3" name="Chart 0" descr=""/>
          <p:cNvGraphicFramePr/>
          <p:nvPr/>
        </p:nvGraphicFramePr>
        <p:xfrm>
          <a:off x="548640" y="1371600"/>
          <a:ext cx="6309360" cy="4206240"/>
        </p:xfrm>
        <a:graphic xmlns:a="http://schemas.openxmlformats.org/drawingml/2006/main">
          <a:graphicData uri="http://schemas.openxmlformats.org/drawingml/2006/chart">
            <c:chart xmlns:c="http://schemas.openxmlformats.org/drawingml/2006/chart" r:id="rId1"/>
          </a:graphicData>
        </a:graphic>
      </p:graphicFrame>
      <p:sp>
        <p:nvSpPr>
          <p:cNvPr id="4" name="panel lectura"/>
          <p:cNvSpPr/>
          <p:nvPr/>
        </p:nvSpPr>
        <p:spPr>
          <a:xfrm>
            <a:off x="7223760" y="1371600"/>
            <a:ext cx="4416552" cy="4206240"/>
          </a:xfrm>
          <a:prstGeom prst="rect">
            <a:avLst/>
          </a:prstGeom>
          <a:solidFill>
            <a:schemeClr val="bg2"/>
          </a:solidFill>
          <a:ln w="12700">
            <a:solidFill>
              <a:schemeClr val="bg2"/>
            </a:solidFill>
            <a:prstDash val="solid"/>
          </a:ln>
        </p:spPr>
      </p:sp>
      <p:sp>
        <p:nvSpPr>
          <p:cNvPr id="5" name="Text 2"/>
          <p:cNvSpPr txBox="1"/>
          <p:nvPr/>
        </p:nvSpPr>
        <p:spPr>
          <a:xfrm>
            <a:off x="7406640" y="1508760"/>
            <a:ext cx="4050792" cy="3931920"/>
          </a:xfrm>
          <a:prstGeom prst="rect">
            <a:avLst/>
          </a:prstGeom>
          <a:noFill/>
          <a:ln/>
        </p:spPr>
        <p:txBody>
          <a:bodyPr wrap="square" lIns="0" tIns="0" rIns="0" bIns="0" rtlCol="0" anchor="t"/>
          <a:lstStyle/>
          <a:p>
            <a:pPr indent="0" marL="0">
              <a:buNone/>
            </a:pPr>
            <a:r>
              <a:rPr lang="en-US" sz="1600" b="1" dirty="0">
                <a:solidFill>
                  <a:schemeClr val="tx1"/>
                </a:solidFill>
                <a:latin typeface="Calibri" pitchFamily="34" charset="0"/>
                <a:ea typeface="Calibri" pitchFamily="34" charset="-122"/>
                <a:cs typeface="Calibri" pitchFamily="34" charset="-120"/>
              </a:rPr>
              <a:t>Cómo leerlo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CONFIRMADO: el PIB primario tuvo su mejor desempeño en 13 años (SIAP/SADER con base en INEGI, publicado el 23-feb-2026).</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La fuente no desglosa cuánto del 4.0% es ganadería. No lo atribuimos a proteína animal.</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HIPÓTESIS: la industria alimentaria (subsector 311) se movió entre −0.4% y +2.2% anual en meses de 2026. Cifra de fuente secundaria; falta confirmarla contra el boletín INEGI.</a:t>
            </a:r>
            <a:endParaRPr lang="en-US" sz="1400" dirty="0"/>
          </a:p>
        </p:txBody>
      </p:sp>
      <p:sp>
        <p:nvSpPr>
          <p:cNvPr id="6" name="Text 3"/>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SIAP/SADER, «El PIB primario tiene su mejor desempeño en trece años al crecer 4.0% en 2025», 23-feb-2026, gob.mx/agricultura/dgsiap/articulos/el-pib-primario-tiene-su-mejor-desempeno-en-trece-anos-al-crecer-4-0-en-2025. Subsector 311: INEGI EMIM 2026 vía búsqueda (fecha de publicación ND).</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Carne: consumo +4.5% y producción +2.6% en 2025 (HIPÓTESIS)</a:t>
            </a:r>
            <a:endParaRPr lang="en-US" sz="2800" dirty="0"/>
          </a:p>
        </p:txBody>
      </p:sp>
      <p:graphicFrame>
        <p:nvGraphicFramePr>
          <p:cNvPr id="3" name="Chart 0" descr=""/>
          <p:cNvGraphicFramePr/>
          <p:nvPr/>
        </p:nvGraphicFramePr>
        <p:xfrm>
          <a:off x="548640" y="1371600"/>
          <a:ext cx="4206240" cy="31089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526280"/>
            <a:ext cx="4206240" cy="82296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HIPÓTESIS: cifras de Comecarne vía prensa; el compendio original no se revisó. Consumo total 11.3 millones de t, aparente: no implica más turnos en planta.</a:t>
            </a:r>
            <a:endParaRPr lang="en-US" sz="1400" dirty="0"/>
          </a:p>
        </p:txBody>
      </p:sp>
      <p:sp>
        <p:nvSpPr>
          <p:cNvPr id="5" name="tarjeta Pronóstico 2026"/>
          <p:cNvSpPr/>
          <p:nvPr/>
        </p:nvSpPr>
        <p:spPr>
          <a:xfrm>
            <a:off x="5074920" y="1371600"/>
            <a:ext cx="2194560" cy="3977640"/>
          </a:xfrm>
          <a:prstGeom prst="rect">
            <a:avLst/>
          </a:prstGeom>
          <a:solidFill>
            <a:schemeClr val="bg2"/>
          </a:solidFill>
          <a:ln w="12700">
            <a:solidFill>
              <a:schemeClr val="bg2"/>
            </a:solidFill>
            <a:prstDash val="solid"/>
          </a:ln>
        </p:spPr>
      </p:sp>
      <p:sp>
        <p:nvSpPr>
          <p:cNvPr id="6" name="Text 3"/>
          <p:cNvSpPr txBox="1"/>
          <p:nvPr/>
        </p:nvSpPr>
        <p:spPr>
          <a:xfrm>
            <a:off x="5212080"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2026</a:t>
            </a:r>
            <a:endParaRPr lang="en-US" sz="1700" dirty="0"/>
          </a:p>
        </p:txBody>
      </p:sp>
      <p:sp>
        <p:nvSpPr>
          <p:cNvPr id="7" name="etiqueta Pronóstico 2026"/>
          <p:cNvSpPr/>
          <p:nvPr/>
        </p:nvSpPr>
        <p:spPr>
          <a:xfrm>
            <a:off x="5212080" y="2194560"/>
            <a:ext cx="1920240" cy="274320"/>
          </a:xfrm>
          <a:prstGeom prst="roundRect">
            <a:avLst>
              <a:gd name="adj" fmla="val 50000"/>
            </a:avLst>
          </a:prstGeom>
          <a:solidFill>
            <a:schemeClr val="accent2"/>
          </a:solidFill>
          <a:ln w="12700">
            <a:solidFill>
              <a:schemeClr val="accent2"/>
            </a:solidFill>
            <a:prstDash val="solid"/>
          </a:ln>
        </p:spPr>
      </p:sp>
      <p:sp>
        <p:nvSpPr>
          <p:cNvPr id="8" name="Text 5"/>
          <p:cNvSpPr txBox="1"/>
          <p:nvPr/>
        </p:nvSpPr>
        <p:spPr>
          <a:xfrm>
            <a:off x="5212080"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HIPÓTESIS</a:t>
            </a:r>
            <a:endParaRPr lang="en-US" sz="1100" dirty="0"/>
          </a:p>
        </p:txBody>
      </p:sp>
      <p:sp>
        <p:nvSpPr>
          <p:cNvPr id="9" name="Text 6"/>
          <p:cNvSpPr txBox="1"/>
          <p:nvPr/>
        </p:nvSpPr>
        <p:spPr>
          <a:xfrm>
            <a:off x="5212080"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USDA: pie de cría porcino +2% (inventario, no producción; feb-2026); pollo +2% en producción (reporte 2025, fecha exacta ND). Bovino: sacrificio al alza, cifra ND.</a:t>
            </a:r>
            <a:endParaRPr lang="en-US" sz="1500" dirty="0"/>
          </a:p>
        </p:txBody>
      </p:sp>
      <p:sp>
        <p:nvSpPr>
          <p:cNvPr id="10" name="tarjeta Inversión anunciada"/>
          <p:cNvSpPr/>
          <p:nvPr/>
        </p:nvSpPr>
        <p:spPr>
          <a:xfrm>
            <a:off x="7415784" y="1371600"/>
            <a:ext cx="2194560" cy="3977640"/>
          </a:xfrm>
          <a:prstGeom prst="rect">
            <a:avLst/>
          </a:prstGeom>
          <a:solidFill>
            <a:schemeClr val="bg2"/>
          </a:solidFill>
          <a:ln w="12700">
            <a:solidFill>
              <a:schemeClr val="bg2"/>
            </a:solidFill>
            <a:prstDash val="solid"/>
          </a:ln>
        </p:spPr>
      </p:sp>
      <p:sp>
        <p:nvSpPr>
          <p:cNvPr id="11" name="Text 8"/>
          <p:cNvSpPr txBox="1"/>
          <p:nvPr/>
        </p:nvSpPr>
        <p:spPr>
          <a:xfrm>
            <a:off x="7552944"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Inversión anunciada</a:t>
            </a:r>
            <a:endParaRPr lang="en-US" sz="1700" dirty="0"/>
          </a:p>
        </p:txBody>
      </p:sp>
      <p:sp>
        <p:nvSpPr>
          <p:cNvPr id="12" name="etiqueta Inversión anunciada"/>
          <p:cNvSpPr/>
          <p:nvPr/>
        </p:nvSpPr>
        <p:spPr>
          <a:xfrm>
            <a:off x="7552944" y="2194560"/>
            <a:ext cx="1920240" cy="274320"/>
          </a:xfrm>
          <a:prstGeom prst="roundRect">
            <a:avLst>
              <a:gd name="adj" fmla="val 50000"/>
            </a:avLst>
          </a:prstGeom>
          <a:solidFill>
            <a:schemeClr val="accent3"/>
          </a:solidFill>
          <a:ln w="12700">
            <a:solidFill>
              <a:schemeClr val="accent3"/>
            </a:solidFill>
            <a:prstDash val="solid"/>
          </a:ln>
        </p:spPr>
      </p:sp>
      <p:sp>
        <p:nvSpPr>
          <p:cNvPr id="13" name="Text 10"/>
          <p:cNvSpPr txBox="1"/>
          <p:nvPr/>
        </p:nvSpPr>
        <p:spPr>
          <a:xfrm>
            <a:off x="7552944"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NO ES DEMANDA ACTUAL</a:t>
            </a:r>
            <a:endParaRPr lang="en-US" sz="1100" dirty="0"/>
          </a:p>
        </p:txBody>
      </p:sp>
      <p:sp>
        <p:nvSpPr>
          <p:cNvPr id="14" name="Text 11"/>
          <p:cNvSpPr txBox="1"/>
          <p:nvPr/>
        </p:nvSpPr>
        <p:spPr>
          <a:xfrm>
            <a:off x="7552944"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Pilgrim's: 1,300 millones de dólares en México 2026–2030, +38% de capacidad (Presidencia, 15-ene-2026). Bafar: parque agroindustrial de La Piedad, 650 mdd, en obra (Reporte Anual 2024).</a:t>
            </a:r>
            <a:endParaRPr lang="en-US" sz="1500" dirty="0"/>
          </a:p>
        </p:txBody>
      </p:sp>
      <p:sp>
        <p:nvSpPr>
          <p:cNvPr id="15" name="tarjeta Pronóstico 2027"/>
          <p:cNvSpPr/>
          <p:nvPr/>
        </p:nvSpPr>
        <p:spPr>
          <a:xfrm>
            <a:off x="9756648" y="1371600"/>
            <a:ext cx="2194560" cy="3977640"/>
          </a:xfrm>
          <a:prstGeom prst="rect">
            <a:avLst/>
          </a:prstGeom>
          <a:solidFill>
            <a:schemeClr val="bg2"/>
          </a:solidFill>
          <a:ln w="12700">
            <a:solidFill>
              <a:schemeClr val="bg2"/>
            </a:solidFill>
            <a:prstDash val="solid"/>
          </a:ln>
        </p:spPr>
      </p:sp>
      <p:sp>
        <p:nvSpPr>
          <p:cNvPr id="16" name="Text 13"/>
          <p:cNvSpPr txBox="1"/>
          <p:nvPr/>
        </p:nvSpPr>
        <p:spPr>
          <a:xfrm>
            <a:off x="9893808" y="1463040"/>
            <a:ext cx="1920240" cy="6400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Pronóstico 2027</a:t>
            </a:r>
            <a:endParaRPr lang="en-US" sz="1700" dirty="0"/>
          </a:p>
        </p:txBody>
      </p:sp>
      <p:sp>
        <p:nvSpPr>
          <p:cNvPr id="17" name="etiqueta Pronóstico 2027"/>
          <p:cNvSpPr/>
          <p:nvPr/>
        </p:nvSpPr>
        <p:spPr>
          <a:xfrm>
            <a:off x="9893808" y="2194560"/>
            <a:ext cx="1920240" cy="274320"/>
          </a:xfrm>
          <a:prstGeom prst="roundRect">
            <a:avLst>
              <a:gd name="adj" fmla="val 50000"/>
            </a:avLst>
          </a:prstGeom>
          <a:solidFill>
            <a:schemeClr val="accent4"/>
          </a:solidFill>
          <a:ln w="12700">
            <a:solidFill>
              <a:schemeClr val="accent4"/>
            </a:solidFill>
            <a:prstDash val="solid"/>
          </a:ln>
        </p:spPr>
      </p:sp>
      <p:sp>
        <p:nvSpPr>
          <p:cNvPr id="18" name="Text 15"/>
          <p:cNvSpPr txBox="1"/>
          <p:nvPr/>
        </p:nvSpPr>
        <p:spPr>
          <a:xfrm>
            <a:off x="9893808" y="2194560"/>
            <a:ext cx="1920240" cy="274320"/>
          </a:xfrm>
          <a:prstGeom prst="rect">
            <a:avLst/>
          </a:prstGeom>
          <a:noFill/>
          <a:ln/>
        </p:spPr>
        <p:txBody>
          <a:bodyPr wrap="square" lIns="0" tIns="0" rIns="0" bIns="0" rtlCol="0" anchor="ctr"/>
          <a:lstStyle/>
          <a:p>
            <a:pPr algn="ctr" indent="0" marL="0">
              <a:buNone/>
            </a:pPr>
            <a:r>
              <a:rPr lang="en-US" sz="1100" b="1" dirty="0">
                <a:solidFill>
                  <a:schemeClr val="bg1"/>
                </a:solidFill>
                <a:latin typeface="Calibri" pitchFamily="34" charset="0"/>
                <a:ea typeface="Calibri" pitchFamily="34" charset="-122"/>
                <a:cs typeface="Calibri" pitchFamily="34" charset="-120"/>
              </a:rPr>
              <a:t>PENDIENTE</a:t>
            </a:r>
            <a:endParaRPr lang="en-US" sz="1100" dirty="0"/>
          </a:p>
        </p:txBody>
      </p:sp>
      <p:sp>
        <p:nvSpPr>
          <p:cNvPr id="19" name="Text 16"/>
          <p:cNvSpPr txBox="1"/>
          <p:nvPr/>
        </p:nvSpPr>
        <p:spPr>
          <a:xfrm>
            <a:off x="9893808" y="2606040"/>
            <a:ext cx="1920240" cy="2651760"/>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hay cifra de crecimiento 2027 en las fuentes consultadas. No se rellena con una estimación.</a:t>
            </a:r>
            <a:endParaRPr lang="en-US" sz="1500" dirty="0"/>
          </a:p>
        </p:txBody>
      </p:sp>
      <p:sp>
        <p:nvSpPr>
          <p:cNvPr id="20" name="Text 17"/>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Comecarne, Compendio 2026, feb-2026 (comecarne.org/compendio26; fecha exacta no confirmada). USDA FAS GAIN, Mexico Livestock and Products Semi-annual, feb-2026. USDA GAIN Poultry Annual MX2025-0045. Presidencia/Plan México, 15-ene-2026. Reporte Anual 2024 de Bafar.</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Experiencia ganada que sirve de origen para cada grupo</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234440"/>
                <a:gridCol w="4846320"/>
                <a:gridCol w="1005840"/>
                <a:gridCol w="914400"/>
                <a:gridCol w="1737360"/>
                <a:gridCol w="135331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Oportunidad ganada (nomenclatura completa del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N.º CRM</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Año de cierre</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Potencial anual registrado, MXN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Familia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3.1 SuKarne Lucero - Planta TIF 645 - Durango FP-HYDRAULICS-653517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653517</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412,664.84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HID MXT Ganaderia Integral Monarca Su Karne Vista Hermosa, - Ryasa Morelia - 717533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717533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257,915.55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FP-HYDRAULICS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SuKarne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PCC SuKarne Lucero - Planta TIF 645 - Durango PT-PU BELTS-574398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7.1 V-B SuKarne Lucero - Planta TIF 645 - Durango PT-V-BELTS-656640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574398</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656640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2022</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262,738.95</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309,498.58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Bachoco</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V-Belts Bachoco, S.A. de C.V. - Planta procesadora de aves Guanajuato - Guanajuato PT-V-BELTS-643201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643201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2023</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538,004.45</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PT-V-BELTS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Pilgrim's Pride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7.1- TPU-Pilgrims Pride Gomez Palacio -Rybalsa-Torreón</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744810</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2024</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206,332.51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PT-PU BELTS</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b="1" dirty="0">
                          <a:solidFill>
                            <a:schemeClr val="tx1"/>
                          </a:solidFill>
                          <a:latin typeface="Calibri" pitchFamily="34" charset="0"/>
                          <a:ea typeface="Calibri" pitchFamily="34" charset="-122"/>
                          <a:cs typeface="Calibri" pitchFamily="34" charset="-120"/>
                        </a:rPr>
                        <a:t>Bafar</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Sin caso propio. Caso espejo de Qualtia: 2.2 QUALTIA ALIMENTOS MANGUERA Y INDS, E HIDRAULICA BANDAS MECTROL_</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O-00244438</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2021</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306,528.89</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PENDIENTE</a:t>
                      </a:r>
                      <a:endParaRPr lang="en-US" sz="1100" dirty="0">
                        <a:latin typeface="Calibri" charset="0"/>
                        <a:ea typeface="Calibri" charset="0"/>
                        <a:cs typeface="Calibri" charset="0"/>
                      </a:endParaRPr>
                    </a:p>
                  </a:txBody>
                  <a:tcPr marL="73152" marR="73152"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160520"/>
            <a:ext cx="11091672" cy="173736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Montos: potencial anual registrado en el CRM, no facturación. Ryasa y Rybalsa son distribuidores: canal, no usuario final.</a:t>
            </a:r>
            <a:endParaRPr lang="en-US" sz="1400" dirty="0"/>
          </a:p>
          <a:p>
            <a:pPr marL="342900" indent="-342900">
              <a:spcAft>
                <a:spcPts val="300"/>
              </a:spcAft>
              <a:buSzPct val="100000"/>
              <a:buChar char="•"/>
            </a:pPr>
            <a:r>
              <a:rPr lang="en-US" sz="1400" dirty="0">
                <a:solidFill>
                  <a:schemeClr val="tx1"/>
                </a:solidFill>
                <a:latin typeface="Calibri" pitchFamily="34" charset="0"/>
                <a:ea typeface="Calibri" pitchFamily="34" charset="-122"/>
                <a:cs typeface="Calibri" pitchFamily="34" charset="-120"/>
              </a:rPr>
              <a:t>La nomenclatura da solo la familia. Máquina, número de parte e intervalo de reemplazo: PENDIENTE. Si la banda TPU de Pilgrim's es de transmisión o de transporte, cuál de los TIF A-88, A-14 y 794 de Gómez Palacio es el origen de Pilgrim's, y el domicilio del origen de Bachoco: PENDIENTE.</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SuKarne: las bandas de Lucero sostienen la réplica en TIF 718; la manguera hidráulica ligada a sacrificio, rendimiento y taller no aplica allí (circuitos en andenes y frío: por validar). Bafar: réplica de perfil de negocio, evidencia más débil.</a:t>
            </a:r>
            <a:endParaRPr lang="en-US" sz="1400" dirty="0"/>
          </a:p>
        </p:txBody>
      </p:sp>
      <p:sp>
        <p:nvSpPr>
          <p:cNvPr id="5" name="Text 2"/>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 CRM Base_Simbiosis.xlsx (hoja DETALLE, Decisión = Elegible, actualización máxima 12-ago-2026); nomenclaturas verificadas contra el archivo el 14-oct-2026. Responsables históricos del CRM: confirmar el vigente antes de asignar trabajo.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Cuatro grupos, cuatro situaciones comerciales distintas</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1920240"/>
                <a:gridCol w="3017520"/>
                <a:gridCol w="3291840"/>
                <a:gridCol w="2862072"/>
              </a:tblGrid>
              <a:tr h="347472">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Grupo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Plantas documentadas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Historial en el CRM (solo Elegible)</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Contexto y alertas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10972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SuKarne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TIF en 9 domicilios (431 y 561 comparten; el 630 es almacén frigorífico). Varios están a nombre de otras razones sociales del grupo (Vizur, S.K., y Ganadería y Rastro de la Laguna para el 645) y se atribuyen por sukarne.com. Vista Hermosa y Lucero: modelos por regla de trabajo.</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de potenciales anuales registrados: 2.68 millones MXN. Monarca («TIF 43» en el CRM, «431» en SENASICA y sukarne.com) y Ganadería Integral SK se atribuyen por nombre: sin ellas, 8 ganadas y 2.23 millones.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venta del grupo por más de 2,000 millones de dólares (El Financiero, 4-ago-2026): proceso en curso, resultado ND.</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86868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Bachoco</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ATENDIDO POR OTRAS REGIONES</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64 plantas en 10 complejos (Informe Anual 2024).</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31 ganadas; suma 10.59 millones MXN. Lagos de Moreno: «7.1 PCC C2B-Bachoco Lagos- Bamac Guadalajara», perdida en 2020, motivo no disponible.</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Marcos: compañeros de otras regiones ya atienden la cuenta, pero sigue siendo buen prospecto. Confirmar si incluye la planta de Lagos.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Pilgrim's Pride</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CON HISTORIAL GANADO</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6 TIF en el padrón: 3 en Gómez Palacio, y 1 en Hidalgo, Querétaro y San Luis Potosí.</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10 ganadas; suma 2.15 millones MXN, de los cuales 1.89 millones en claves de Durango. Hidalgo y Estado de México: sin registros.</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Inversión anunciada de 1,300 mdd (2026–2030): expansión de +38% de capacidad; solo 150 mdd del centro del país son modernización. No es demanda actual.</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1005840">
                <a:tc>
                  <a:txBody>
                    <a:bodyPr/>
                    <a:lstStyle/>
                    <a:p>
                      <a:pPr indent="0" marL="0">
                        <a:buNone/>
                      </a:pPr>
                      <a:r>
                        <a:rPr lang="en-US" sz="1500" b="1" dirty="0">
                          <a:solidFill>
                            <a:schemeClr val="bg1"/>
                          </a:solidFill>
                          <a:latin typeface="Calibri" pitchFamily="34" charset="0"/>
                          <a:ea typeface="Calibri" pitchFamily="34" charset="-122"/>
                          <a:cs typeface="Calibri" pitchFamily="34" charset="-120"/>
                        </a:rPr>
                        <a:t>Grupo Bafar</a:t>
                      </a:r>
                      <a:endParaRPr lang="en-US" sz="1200" dirty="0">
                        <a:latin typeface="Calibri" charset="0"/>
                        <a:ea typeface="Calibri" charset="0"/>
                        <a:cs typeface="Calibri" charset="0"/>
                      </a:endParaRPr>
                    </a:p>
                    <a:p>
                      <a:pPr indent="0" marL="0">
                        <a:buNone/>
                      </a:pPr>
                      <a:r>
                        <a:rPr lang="en-US" sz="1100" b="1" dirty="0">
                          <a:solidFill>
                            <a:schemeClr val="bg1"/>
                          </a:solidFill>
                          <a:latin typeface="Calibri" pitchFamily="34" charset="0"/>
                          <a:ea typeface="Calibri" pitchFamily="34" charset="-122"/>
                          <a:cs typeface="Calibri" pitchFamily="34" charset="-120"/>
                        </a:rPr>
                        <a:t>0 GANADAS EN EL CRM</a:t>
                      </a:r>
                      <a:endParaRPr lang="en-US" sz="1200" dirty="0">
                        <a:latin typeface="Calibri" charset="0"/>
                        <a:ea typeface="Calibri" charset="0"/>
                        <a:cs typeface="Calibri" charset="0"/>
                      </a:endParaRPr>
                    </a:p>
                  </a:txBody>
                  <a:tcPr marL="91440" marR="91440" marT="45720" marB="45720"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4 complejos declarados: Chihuahua, La Piedad, Toluca y Gómez Palacio (Reporte Anual 2024). Compra la carne a terceros: no sacrifica.</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0 ganadas. Búsqueda por «Bafar» y «Strattega» (corte 12-ago-2026): solo 2 oportunidades, perdidas en 2023 (PT-PU BELTS, motivo no disponible). Subsidiarias con otro nombre: PENDIENTE. Marcos reporta 2 nuevas de La Piedad (813492, 814010).</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Ventas netas +14.8% en 2025 y +17.1% en 2T-2026, incluye tiendas propias. Marcos dice que Gates casi no tiene presencia en La Piedad.</a:t>
                      </a:r>
                      <a:endParaRPr lang="en-US" sz="1200" dirty="0">
                        <a:latin typeface="Calibri" charset="0"/>
                        <a:ea typeface="Calibri" charset="0"/>
                        <a:cs typeface="Calibri" charset="0"/>
                      </a:endParaRPr>
                    </a:p>
                  </a:txBody>
                  <a:tcPr marL="91440" marR="91440" marT="45720" marB="45720"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Sumas = potencial anual registrado de ganadas de varios años (2019–2026): no son monto anual ni facturación, y pueden repetir importes entre años. Fuera de Elegible hay 13 ganadas más de Bachoco y 3 de SuKarne, no contadas. Fuentes en el apéndice 2. Estados de Bachoco y Bafar: declaración de Marcos, 14-oct-2026. Grupos acordados en la junta con Ricardo, no ranking de mercado.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Siete plantas por estado y qué tan firme es cada réplica</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1188720"/>
                <a:gridCol w="3154680"/>
                <a:gridCol w="1188720"/>
                <a:gridCol w="5559552"/>
              </a:tblGrid>
              <a:tr h="0">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Estado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Planta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Calibri" pitchFamily="34" charset="0"/>
                          <a:ea typeface="Calibri" pitchFamily="34" charset="-122"/>
                          <a:cs typeface="Calibri" pitchFamily="34" charset="-120"/>
                        </a:rPr>
                        <a:t>Qué falta validar o decidir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Michoacán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Complejo productivo La Piedad (incluye el Complejo Agroindustrial de 650 mdd, en obra según el Reporte Anual 2024; avance actual ND)</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SIN CASO PROPIO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4"/>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Marcos reporta «3.1 MI Grupo bafar, sab de cv - La piedad FP-HYDRAULICS-813492» (650,220 MXN) y «7.1 PTI Grupo bafar, sab de cv - La piedad- Ryasa Morelia PT-IND SYNCH BELTS-814010» (265,000 MXN; Ryasa es canal); no están en el CRM del 12-ago. Domicilio y TIF: ND (¿TIF 126 de Strattega?). Lo que opera puede tener reposición (HIPÓTESIS); lo que está en obra no es demanda actual.</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Bachoco · Planta Procesadora de Aves, División Occidente, Lagos de Moreno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Oportunidad perdida «7.1 PCC C2B-Bachoco Lagos- Bamac Guadalajara» (O-00218689, 2020, 834,766.20 MXN registrado; Bamac es canal; motivo no disponible). Sin áreas verificadas en destino ni en origen; sube a SÍ si es el TIF A-183, pero la dirección difiere (km 12.5 contra 13.5, otro CP y municipio).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Hidalgo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Tepeji del Río (¿TIF A-239 «Ocampo»?)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SÍ, CONDICIONADO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2"/>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Confirmar con el domicilio que son el mismo sitio; si no, baja a PARCIAL. El TIF A-239 declara embutidos y pasta que el origen no tiene: aplicación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Pilgrim's ·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Solo aparece en un directorio telefónico y no está en el padrón TIF. Confirmar que existe y si sacrifica.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Estado de México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Bafar · Lerma de Villada (¿mismo sitio que Complejo Toluca?)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Posible duplicado: usar el Complejo Toluca (Reporte Anual 2024) como referencia principal. No contar dos plantas hasta aclarar.</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Tlaxcala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718 Villa de las Flores (SENASICA: Atlangatepec; Expansión 2023: Tlaxco)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PARCIAL</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Corte, deshuese, inyección porcina y frío. Capacidad reportada: 120 t/semana (Expansión, 12-abr-2023; vigencia ND; la meta de 840 no está confirmada). No proyectar el consumo del origen.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latin typeface="Calibri" pitchFamily="34" charset="0"/>
                          <a:ea typeface="Calibri" pitchFamily="34" charset="-122"/>
                          <a:cs typeface="Calibri" pitchFamily="34" charset="-120"/>
                        </a:rPr>
                        <a:t>Jalisco</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SuKarne · TIF 94 Zapopan</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algn="ctr" indent="0" marL="0">
                        <a:buNone/>
                      </a:pPr>
                      <a:r>
                        <a:rPr lang="en-US" sz="1100" b="1" dirty="0">
                          <a:solidFill>
                            <a:schemeClr val="bg1"/>
                          </a:solidFill>
                          <a:latin typeface="Calibri" pitchFamily="34" charset="0"/>
                          <a:ea typeface="Calibri" pitchFamily="34" charset="-122"/>
                          <a:cs typeface="Calibri" pitchFamily="34" charset="-120"/>
                        </a:rPr>
                        <a:t>NO</a:t>
                      </a:r>
                      <a:endParaRPr lang="en-US" sz="11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accent1"/>
                    </a:solidFill>
                  </a:tcPr>
                </a:tc>
                <a:tc>
                  <a:txBody>
                    <a:bodyPr/>
                    <a:lstStyle/>
                    <a:p>
                      <a:pPr indent="0" marL="0">
                        <a:buNone/>
                      </a:pPr>
                      <a:r>
                        <a:rPr lang="en-US" sz="1200" dirty="0">
                          <a:solidFill>
                            <a:schemeClr val="tx1"/>
                          </a:solidFill>
                          <a:latin typeface="Calibri" pitchFamily="34" charset="0"/>
                          <a:ea typeface="Calibri" pitchFamily="34" charset="-122"/>
                          <a:cs typeface="Calibri" pitchFamily="34" charset="-120"/>
                        </a:rPr>
                        <a:t>Planta de cocción sin sacrificio. Solo MRO genérico: sería prospección nueva, no réplica.</a:t>
                      </a:r>
                      <a:endParaRPr lang="en-US" sz="1200" dirty="0">
                        <a:latin typeface="Calibri" charset="0"/>
                        <a:ea typeface="Calibri" charset="0"/>
                        <a:cs typeface="Calibri" charset="0"/>
                      </a:endParaRPr>
                    </a:p>
                  </a:txBody>
                  <a:tcPr marL="73152" marR="73152"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Directorio TIF SENASICA, 7-sep-2026 · Reporte Anual 2024 de Bafar · Expansión, 12-abr-2023 · directorios comerciales para Tepeji, Toluca, Lerma y Lagos (apéndice) · CRM Base_Simbiosis. Todas las réplicas son HIPÓTESIS hasta visita. Oportunidades de La Piedad y GAO: datos tal como los dio Marcos el 14-oct-2026, sin verificar en el CRM.</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Hallazgos adicionales y lo que falta antes de cerrar</a:t>
            </a:r>
            <a:endParaRPr lang="en-US" sz="2800" dirty="0"/>
          </a:p>
        </p:txBody>
      </p:sp>
      <p:sp>
        <p:nvSpPr>
          <p:cNvPr id="3" name="panel hallazgos"/>
          <p:cNvSpPr/>
          <p:nvPr/>
        </p:nvSpPr>
        <p:spPr>
          <a:xfrm>
            <a:off x="548640" y="1280160"/>
            <a:ext cx="5440680" cy="4617720"/>
          </a:xfrm>
          <a:prstGeom prst="rect">
            <a:avLst/>
          </a:prstGeom>
          <a:solidFill>
            <a:schemeClr val="bg2"/>
          </a:solidFill>
          <a:ln w="12700">
            <a:solidFill>
              <a:schemeClr val="bg2"/>
            </a:solidFill>
            <a:prstDash val="solid"/>
          </a:ln>
        </p:spPr>
      </p:sp>
      <p:sp>
        <p:nvSpPr>
          <p:cNvPr id="4" name="Text 2"/>
          <p:cNvSpPr txBox="1"/>
          <p:nvPr/>
        </p:nvSpPr>
        <p:spPr>
          <a:xfrm>
            <a:off x="731520" y="1417320"/>
            <a:ext cx="5074920"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latin typeface="Calibri" pitchFamily="34" charset="0"/>
                <a:ea typeface="Calibri" pitchFamily="34" charset="-122"/>
                <a:cs typeface="Calibri" pitchFamily="34" charset="-120"/>
              </a:rPr>
              <a:t>Hallazgos adicionales (no reemplazan a los cuatro)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Qualtia y Sigma: carnes frías. Qualtia: 4 TIF y 1 ganada en el CRM. Sigma: 15 TIF en 8 estados (padrón de sep-2026) y 7 ganadas en el CRM, solo bajo razón social Sigma; con subsidiarias atribuidas habría más: PENDIENTE. Quedan documentados para ampliar si Ricardo lo decide.</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GAO Aluminio, Acatlán de Juárez, Jalisco: extrusión de aluminio (gaoaluminio.com, 14-oct-2026). Marcos reporta «7.1 HID EFG5K Grupo Occidente S.A. de C.V. Acatlan Jal - DBS Gdl» (DBS es canal) y muchas necesidades hidráulicas. N.º y monto: PENDIENTE; equipos y capacidad: ND. La misma Cliente clave ya tiene 2 oportunidades perdidas en 2025 (742222 y 782913): no es terreno virgen.</a:t>
            </a:r>
            <a:endParaRPr lang="en-US" sz="1400" dirty="0"/>
          </a:p>
          <a:p>
            <a:pPr marL="342900" indent="-342900">
              <a:buSzPct val="100000"/>
              <a:buChar char="•"/>
            </a:pPr>
            <a:r>
              <a:rPr lang="en-US" sz="1400" dirty="0">
                <a:solidFill>
                  <a:schemeClr val="tx1"/>
                </a:solidFill>
                <a:latin typeface="Calibri" pitchFamily="34" charset="0"/>
                <a:ea typeface="Calibri" pitchFamily="34" charset="-122"/>
                <a:cs typeface="Calibri" pitchFamily="34" charset="-120"/>
              </a:rPr>
              <a:t>GAO no es proteína animal: Ricardo decide si entra al programa como caso de campo nuevo.</a:t>
            </a:r>
            <a:endParaRPr lang="en-US" sz="1400" dirty="0"/>
          </a:p>
        </p:txBody>
      </p:sp>
      <p:sp>
        <p:nvSpPr>
          <p:cNvPr id="5" name="panel pendientes"/>
          <p:cNvSpPr/>
          <p:nvPr/>
        </p:nvSpPr>
        <p:spPr>
          <a:xfrm>
            <a:off x="6172200" y="1280160"/>
            <a:ext cx="5468112" cy="4617720"/>
          </a:xfrm>
          <a:prstGeom prst="rect">
            <a:avLst/>
          </a:prstGeom>
          <a:solidFill>
            <a:schemeClr val="bg2"/>
          </a:solidFill>
          <a:ln w="12700">
            <a:solidFill>
              <a:schemeClr val="bg2"/>
            </a:solidFill>
            <a:prstDash val="solid"/>
          </a:ln>
        </p:spPr>
      </p:sp>
      <p:sp>
        <p:nvSpPr>
          <p:cNvPr id="6" name="Text 4"/>
          <p:cNvSpPr txBox="1"/>
          <p:nvPr/>
        </p:nvSpPr>
        <p:spPr>
          <a:xfrm>
            <a:off x="6355080" y="1417320"/>
            <a:ext cx="5102352" cy="4389120"/>
          </a:xfrm>
          <a:prstGeom prst="rect">
            <a:avLst/>
          </a:prstGeom>
          <a:noFill/>
          <a:ln/>
        </p:spPr>
        <p:txBody>
          <a:bodyPr wrap="square" lIns="0" tIns="0" rIns="0" bIns="0" rtlCol="0" anchor="t"/>
          <a:lstStyle/>
          <a:p>
            <a:pPr indent="0" marL="0">
              <a:spcAft>
                <a:spcPts val="800"/>
              </a:spcAft>
              <a:buNone/>
            </a:pPr>
            <a:r>
              <a:rPr lang="en-US" sz="1700" b="1" dirty="0">
                <a:solidFill>
                  <a:schemeClr val="tx1"/>
                </a:solidFill>
                <a:latin typeface="Calibri" pitchFamily="34" charset="0"/>
                <a:ea typeface="Calibri" pitchFamily="34" charset="-122"/>
                <a:cs typeface="Calibri" pitchFamily="34" charset="-120"/>
              </a:rPr>
              <a:t>Pendientes</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Pasar el número y el monto de la oportunidad de GAO, y confirmar que GAO es «Grupo Occidente» (la web no usa ese nombre).</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confirmar con las otras regiones si atienden la planta de Lagos o solo el corporativo.</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Bachoco Guanajuato: el responsable histórico figura inactivo; designar quién recupera el expediente.</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Cerrar identidades: Tepeji = TIF A-239; Lagos = TIF A-183 (la dirección difiere); Lerma = Toluca; TIF de La Piedad.</a:t>
            </a:r>
            <a:endParaRPr lang="en-US" sz="1500" dirty="0"/>
          </a:p>
          <a:p>
            <a:pPr marL="342900" indent="-342900">
              <a:spcAft>
                <a:spcPts val="400"/>
              </a:spcAft>
              <a:buSzPct val="100000"/>
              <a:buChar char="•"/>
            </a:pPr>
            <a:r>
              <a:rPr lang="en-US" sz="1500" dirty="0">
                <a:solidFill>
                  <a:schemeClr val="tx1"/>
                </a:solidFill>
                <a:latin typeface="Calibri" pitchFamily="34" charset="0"/>
                <a:ea typeface="Calibri" pitchFamily="34" charset="-122"/>
                <a:cs typeface="Calibri" pitchFamily="34" charset="-120"/>
              </a:rPr>
              <a:t>Buscar en el CRM las subsidiarias de Bafar con otro nombre.</a:t>
            </a:r>
            <a:endParaRPr lang="en-US" sz="1500" dirty="0"/>
          </a:p>
          <a:p>
            <a:pPr marL="342900" indent="-342900">
              <a:buSzPct val="100000"/>
              <a:buChar char="•"/>
            </a:pPr>
            <a:r>
              <a:rPr lang="en-US" sz="1500" dirty="0">
                <a:solidFill>
                  <a:schemeClr val="tx1"/>
                </a:solidFill>
                <a:latin typeface="Calibri" pitchFamily="34" charset="0"/>
                <a:ea typeface="Calibri" pitchFamily="34" charset="-122"/>
                <a:cs typeface="Calibri" pitchFamily="34" charset="-120"/>
              </a:rPr>
              <a:t>Verificar las oportunidades 813492 y 814010 en el CRM; pronóstico 2027; confirmar subsector 311 y Comecarne con el original.</a:t>
            </a:r>
            <a:endParaRPr lang="en-US" sz="1500" dirty="0"/>
          </a:p>
        </p:txBody>
      </p:sp>
      <p:sp>
        <p:nvSpPr>
          <p:cNvPr id="7" name="Text 5"/>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Fuentes: gaoaluminio.com (consultado el 14-oct-2026; sin fecha de publicación) · Directorio TIF SENASICA, 7-sep-2026 · CRM Base_Simbiosis · declaraciones de campo de Marcos, 14-oct-2026. El CRM no tiene campo de motivo de pérdida: no se infiere la causa.</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1: fuentes de mercado con URL y fecha</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PIB primario +4.0%, nacional +0.8%, secundario −1.1%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SIAP/SADER con base en INEGI</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23-feb-2026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gob.mx/agricultura/dgsiap/articulos/el-pib-primario-tiene-su-mejor-desempeno-en-trece-anos-al-crecer-4-0-en-2025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Industria alimentaria (311): variación anual de −0.4% a +2.2% en meses de 2026 (HIPÓTESIS)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INEGI, EMIM, vía búsqueda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 (boletines mensuales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inegi.org.mx/contenidos/saladeprensa/boletines/2026/emim/emim2026_08.pdf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Consumo de carne +4.5%, producción +2.6% (2025) (HIPÓTESIS)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Consejo Mexicano de la Carne, Compendio 2026, vía prensa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 (día exacto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comecarne.org/compendio26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Pie de cría porcino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feb-2026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fas.usda.gov/data/gain/2026/02/mexico-livestock-and-products-semi-annual</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Pollo +2% (pronóstico 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USDA FAS GAIN, Poultry Annual MX2025-0045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2025 (día 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apps.fas.usda.gov/newgainapi/api/Report/DownloadReportByFileName?fileName=Poultry+and+Products+Annual_Mexico+City_Mexico_MX2025-0045.pdf</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Pilgrim's: 1,300 mdd 2026–2030, +38% de capacidad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Presidencia, Plan México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15-ene-2026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gob.mx/presidencia/prensa/plan-mexico-empresa-global-pilgrim-s-invertira-en-el-pais-mil-300-millones-de-dolares-para-2026-2030-generara-20-mil-empleos</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SuKarne: posible venta por más de 2,000 mdd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Financiero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4-ago-2026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elfinanciero.com.mx/empresas/2026/08/04/que-sabemos-de-la-posible-venta-de-sukarne-el-mayor-exportador-de-carne-de-mexico/</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+14.8% en 2025</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 Bafar</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ND</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grupobafar.com/grupo-bafar-incrementa-14-8-sus-ventas-en-2025-y-dispara-173-1-su-utilidad-neta/</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Bafar: ventas netas +17.1% en 2T-2026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El Heraldo de Chihuahua (OEM)</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28-jul-2026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latin typeface="Calibri" pitchFamily="34" charset="0"/>
                          <a:ea typeface="Calibri" pitchFamily="34" charset="-122"/>
                          <a:cs typeface="Calibri" pitchFamily="34" charset="-120"/>
                        </a:rPr>
                        <a:t>oem.com.mx/elheraldodechihuahua/finanzas/crecieron-un-17-las-ventas-netas-en-grupo-bafar-al-segundo-trimestre-de-2026-31348026</a:t>
                      </a:r>
                      <a:endParaRPr lang="en-US" sz="11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2: fuentes de plantas y oportunidades del CRM</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2834640"/>
                <a:gridCol w="2286000"/>
                <a:gridCol w="1554480"/>
                <a:gridCol w="441655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Dato</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Fecha de publicación</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URL</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TIF de SuKarne, Pilgrim's, Bachoco, Qualtia y Sigma; TIF 94 sin sacrificio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Directorio TIF, SENASICA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gob.mx/cms/uploads/attachment/file/1095992/DIRECTORIO_TIF_07-09-2026.pdf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64 plantas en 10 complejos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Informe Anual 2024, Bachoco (BMV)</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grupobachoco.com/wp-content/downloads/2025/Informe-Anual-2024-BMV.pdf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Bafar: 4 complejos productivos; La Piedad (Complejo Agroindustrial, 650 mdd); compra de carne a terceros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Reporte Anual 2024, Grupo Bafar (BIVA)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 (≈ 30-abr-2025, inferida del sello del archivo)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biva.mx/storage/information-send/RAN/BAFAR/ReporteAnual_2024_BAFAR_1746046978785.pdf</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645 (Lucero) atribuido al grupo</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 consultada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sukarne.com/plantas/</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SuKarne TIF 718: 120 t/semana, meta de 840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Expansión</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12-abr-2023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expansion.mx/empresas/2023/04/12/sukarne-adquiere-planta-procesadora-tlaxcala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Pilgrim's Tepeji; Toluca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 abctelefonos.com (directorios comerciales,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az-mexico.com/empresas/pilgrims_pride_tepeji_del_rio_de_ocampo_hgo_carretera_antga_mex_queretaro_sn_72_5 · abctelefonos.com/persona_mexico/pilgrim/pag_22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Bachoco Lagos de Moreno; Bafar Lerma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 manufactura-latam.com (consultados el 11-sep-2026)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desarrolloeconomicolagos.com/listing/bachoco/ · manufactura-latam.com/mexico/lerma-de-villada/fabricantes/grupo-bafar</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 Aluminio: extrusión de aluminio, Acatlán de Juárez</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gaoaluminio.com, consultada el 14-oct-2026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ND</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gaoaluminio.com</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4846320"/>
            <a:ext cx="11091672" cy="365760"/>
          </a:xfrm>
          <a:prstGeom prst="rect">
            <a:avLst/>
          </a:prstGeom>
          <a:noFill/>
          <a:ln/>
        </p:spPr>
        <p:txBody>
          <a:bodyPr wrap="square" lIns="0" tIns="0" rIns="0" bIns="0" rtlCol="0" anchor="ctr"/>
          <a:lstStyle/>
          <a:p>
            <a:pPr indent="0" marL="0">
              <a:buNone/>
            </a:pPr>
            <a:r>
              <a:rPr lang="en-US" sz="1200" dirty="0">
                <a:solidFill>
                  <a:schemeClr val="tx1"/>
                </a:solidFill>
                <a:latin typeface="Calibri" pitchFamily="34" charset="0"/>
                <a:ea typeface="Calibri" pitchFamily="34" charset="-122"/>
                <a:cs typeface="Calibri" pitchFamily="34" charset="-120"/>
              </a:rPr>
              <a:t>Oportunidades del CRM y declaradas por Marcos: ver apéndice 3.</a:t>
            </a:r>
            <a:endParaRPr lang="en-US" sz="12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1672" cy="822960"/>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Apéndice 3: oportunidades citadas fuera de la lámina 5</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1672" cy="914400"/>
        </p:xfrm>
        <a:graphic>
          <a:graphicData uri="http://schemas.openxmlformats.org/drawingml/2006/table">
            <a:tbl>
              <a:tblPr/>
              <a:tblGrid>
                <a:gridCol w="4754880"/>
                <a:gridCol w="1005840"/>
                <a:gridCol w="1188720"/>
                <a:gridCol w="1737360"/>
                <a:gridCol w="2404872"/>
              </a:tblGrid>
              <a:tr h="0">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Nomenclatura completa</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N.º</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Estado y año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MXN (potencial anual registrado)</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c>
                  <a:txBody>
                    <a:bodyPr/>
                    <a:lstStyle/>
                    <a:p>
                      <a:pPr indent="0" marL="0">
                        <a:buNone/>
                      </a:pPr>
                      <a:r>
                        <a:rPr lang="en-US" sz="1100" b="1" dirty="0">
                          <a:solidFill>
                            <a:schemeClr val="bg1"/>
                          </a:solidFill>
                          <a:latin typeface="Calibri" pitchFamily="34" charset="0"/>
                          <a:ea typeface="Calibri" pitchFamily="34" charset="-122"/>
                          <a:cs typeface="Calibri" pitchFamily="34" charset="-120"/>
                        </a:rPr>
                        <a:t>Canal / nota</a:t>
                      </a:r>
                      <a:endParaRPr lang="en-US" sz="1100" dirty="0">
                        <a:latin typeface="Calibri" charset="0"/>
                        <a:ea typeface="Calibri" charset="0"/>
                        <a:cs typeface="Calibri" charset="0"/>
                      </a:endParaRPr>
                    </a:p>
                  </a:txBody>
                  <a:tcPr marL="54864" marR="54864" marT="27432" marB="27432" anchor="ctr">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tx1"/>
                    </a:solidFill>
                  </a:tcPr>
                </a:tc>
              </a:tr>
              <a:tr h="0">
                <a:tc gridSpan="5">
                  <a:txBody>
                    <a:bodyPr/>
                    <a:lstStyle/>
                    <a:p>
                      <a:pPr indent="0" marL="0">
                        <a:buNone/>
                      </a:pPr>
                      <a:r>
                        <a:rPr lang="en-US" sz="1100" b="1" dirty="0">
                          <a:solidFill>
                            <a:schemeClr val="tx1"/>
                          </a:solidFill>
                          <a:latin typeface="Calibri" pitchFamily="34" charset="0"/>
                          <a:ea typeface="Calibri" pitchFamily="34" charset="-122"/>
                          <a:cs typeface="Calibri" pitchFamily="34" charset="-120"/>
                        </a:rPr>
                        <a:t>En Base_Simbiosis.xlsx (hoja DETALLE, Elegible), verificadas el 14-oct-2026; año = Año cierre</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2"/>
                    </a:solidFill>
                  </a:tcPr>
                </a:tc>
                <a:tc hMerge="1">
                  <a:tcPr/>
                </a:tc>
                <a:tc hMerge="1">
                  <a:tcPr/>
                </a:tc>
                <a:tc hMerge="1">
                  <a:tcPr/>
                </a:tc>
                <a:tc hMerge="1">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PCC C2B-Bachoco Lagos- Bamac Guadalajara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O-00218689</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834,766.20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Bamac: canal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TPU Grupo Bafar Chihuahua - Rorisa Chihuahua PT-PU BELTS-566392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566392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591,804.81</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Rorisa: canal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 TPU + LINATRIL - Grupo Bafar Chihuahua - Interbandas Chihuahua PT-PU BELTS-656090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656090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286,935.76</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Interbandas: canal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MXT Grupo Occidente Acatlan - Binasa Tlaquepaque -742222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742222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2025</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483,084.08</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Binasa: canal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MXT Grupo Occidente Acatlan - BRR Binasa -782913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782913</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Lost 2025</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258,795.07</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Binasa y BRR: canal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gridSpan="5">
                  <a:txBody>
                    <a:bodyPr/>
                    <a:lstStyle/>
                    <a:p>
                      <a:pPr indent="0" marL="0">
                        <a:buNone/>
                      </a:pPr>
                      <a:r>
                        <a:rPr lang="en-US" sz="1100" b="1" dirty="0">
                          <a:solidFill>
                            <a:schemeClr val="tx1"/>
                          </a:solidFill>
                          <a:latin typeface="Calibri" pitchFamily="34" charset="0"/>
                          <a:ea typeface="Calibri" pitchFamily="34" charset="-122"/>
                          <a:cs typeface="Calibri" pitchFamily="34" charset="-120"/>
                        </a:rPr>
                        <a:t>Declaradas por Marcos el 14-oct-2026; no están en el CRM del 12-ago-2026; sin verificar</a:t>
                      </a:r>
                      <a:endParaRPr lang="en-US" sz="1100" dirty="0">
                        <a:latin typeface="Calibri" charset="0"/>
                        <a:ea typeface="Calibri" charset="0"/>
                        <a:cs typeface="Calibri" charset="0"/>
                      </a:endParaRPr>
                    </a:p>
                  </a:txBody>
                  <a:tcPr marL="54864" marR="54864" marT="27432" marB="27432">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2"/>
                    </a:solidFill>
                  </a:tcPr>
                </a:tc>
                <a:tc hMerge="1">
                  <a:tcPr/>
                </a:tc>
                <a:tc hMerge="1">
                  <a:tcPr/>
                </a:tc>
                <a:tc hMerge="1">
                  <a:tcPr/>
                </a:tc>
                <a:tc hMerge="1">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3.1 MI Grupo bafar, sab de cv - La piedad FP-HYDRAULICS-813492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813492</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650,220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Familia según la nomenclatura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PTI Grupo bafar, sab de cv - La piedad- Ryasa Morelia PT-IND SYNCH BELTS-814010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814010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265,000</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Ryasa: canal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r h="0">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7.1 HID EFG5K Grupo Occidente S.A. de C.V. Acatlan Jal - DBS Gdl</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Abierta</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PENDIENTE</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c>
                  <a:txBody>
                    <a:bodyPr/>
                    <a:lstStyle/>
                    <a:p>
                      <a:pPr indent="0" marL="0">
                        <a:buNone/>
                      </a:pPr>
                      <a:r>
                        <a:rPr lang="en-US" sz="1000" dirty="0">
                          <a:solidFill>
                            <a:schemeClr val="tx1"/>
                          </a:solidFill>
                          <a:latin typeface="Calibri" pitchFamily="34" charset="0"/>
                          <a:ea typeface="Calibri" pitchFamily="34" charset="-122"/>
                          <a:cs typeface="Calibri" pitchFamily="34" charset="-120"/>
                        </a:rPr>
                        <a:t>DBS: canal. Máquina y número de parte: no se deducen</a:t>
                      </a:r>
                      <a:endParaRPr lang="en-US" sz="1000" dirty="0">
                        <a:latin typeface="Calibri" charset="0"/>
                        <a:ea typeface="Calibri" charset="0"/>
                        <a:cs typeface="Calibri" charset="0"/>
                      </a:endParaRPr>
                    </a:p>
                  </a:txBody>
                  <a:tcPr marL="54864" marR="54864" marT="27432" marB="27432" anchor="t">
                    <a:lnL w="6350" cap="flat" cmpd="sng" algn="ctr">
                      <a:solidFill>
                        <a:srgbClr val="D9DEE0"/>
                      </a:solidFill>
                      <a:prstDash val="solid"/>
                      <a:round/>
                      <a:headEnd type="none" w="med" len="med"/>
                      <a:tailEnd type="none" w="med" len="med"/>
                    </a:lnL>
                    <a:lnR w="6350" cap="flat" cmpd="sng" algn="ctr">
                      <a:solidFill>
                        <a:srgbClr val="D9DEE0"/>
                      </a:solidFill>
                      <a:prstDash val="solid"/>
                      <a:round/>
                      <a:headEnd type="none" w="med" len="med"/>
                      <a:tailEnd type="none" w="med" len="med"/>
                    </a:lnR>
                    <a:lnT w="6350" cap="flat" cmpd="sng" algn="ctr">
                      <a:solidFill>
                        <a:srgbClr val="D9DEE0"/>
                      </a:solidFill>
                      <a:prstDash val="solid"/>
                      <a:round/>
                      <a:headEnd type="none" w="med" len="med"/>
                      <a:tailEnd type="none" w="med" len="med"/>
                    </a:lnT>
                    <a:lnB w="6350" cap="flat" cmpd="sng" algn="ctr">
                      <a:solidFill>
                        <a:srgbClr val="D9DEE0"/>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989320"/>
            <a:ext cx="11091672" cy="411480"/>
          </a:xfrm>
          <a:prstGeom prst="rect">
            <a:avLst/>
          </a:prstGeom>
          <a:noFill/>
          <a:ln/>
        </p:spPr>
        <p:txBody>
          <a:bodyPr wrap="square" lIns="0" tIns="0" rIns="0" bIns="0" rtlCol="0" anchor="t"/>
          <a:lstStyle/>
          <a:p>
            <a:pPr indent="0" marL="0">
              <a:buNone/>
            </a:pPr>
            <a:r>
              <a:rPr lang="en-US" sz="1000" dirty="0">
                <a:solidFill>
                  <a:schemeClr val="accent4"/>
                </a:solidFill>
                <a:latin typeface="Calibri" pitchFamily="34" charset="0"/>
                <a:ea typeface="Calibri" pitchFamily="34" charset="-122"/>
                <a:cs typeface="Calibri" pitchFamily="34" charset="-120"/>
              </a:rPr>
              <a:t>Los montos son potencial anual registrado, no facturación. Los montos de las oportunidades declaradas son los que dio Marcos. Las dos de Grupo Occidente comparten la Cliente clave GRUPO OCCIDENTE S.A. DE C.V. ACATLAN JAL con la oportunidad de GAO; que esa cuenta sea la empresa de gaoaluminio.com lo afirma Marcos, la web no lo confirma. Responsables históricos del CRM: confirmar el vigente antes de asignar trabajo.</a:t>
            </a:r>
            <a:endParaRPr lang="en-US" sz="1000" dirty="0"/>
          </a:p>
        </p:txBody>
      </p:sp>
      <p:sp>
        <p:nvSpPr>
          <p:cNvPr id="25" name="Slide Number Placeholder 0"/>
          <p:cNvSpPr>
            <a:spLocks noGrp="1"/>
          </p:cNvSpPr>
          <p:nvPr>
            <p:ph type="sldNum" sz="quarter" idx="4294967295"/>
          </p:nvPr>
        </p:nvSpPr>
        <p:spPr>
          <a:xfrm>
            <a:off x="1133856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Simbiosis IR">
  <a:themeElements>
    <a:clrScheme name="Simbiosis IR">
      <a:dk1>
        <a:srgbClr val="1F2A2E"/>
      </a:dk1>
      <a:lt1>
        <a:srgbClr val="FFFFFF"/>
      </a:lt1>
      <a:dk2>
        <a:srgbClr val="3A4A50"/>
      </a:dk2>
      <a:lt2>
        <a:srgbClr val="F1F3F4"/>
      </a:lt2>
      <a:accent1>
        <a:srgbClr val="A63D2B"/>
      </a:accent1>
      <a:accent2>
        <a:srgbClr val="2F6F62"/>
      </a:accent2>
      <a:accent3>
        <a:srgbClr val="C98A1B"/>
      </a:accent3>
      <a:accent4>
        <a:srgbClr val="7C878C"/>
      </a:accent4>
      <a:accent5>
        <a:srgbClr val="5B7B8C"/>
      </a:accent5>
      <a:accent6>
        <a:srgbClr val="D9DEE0"/>
      </a:accent6>
      <a:hlink>
        <a:srgbClr val="2F6F62"/>
      </a:hlink>
      <a:folHlink>
        <a:srgbClr val="7C878C"/>
      </a:folHlink>
    </a:clrScheme>
    <a:fontScheme name="Simbiosis I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Simbiosis IR - Proteína animal - Entregable 1</dc:title>
  <dc:subject>PptxGenJS Presentation</dc:subject>
  <dc:creator>Programa Simbiosis IR</dc:creator>
  <cp:lastModifiedBy>Programa Simbiosis IR</cp:lastModifiedBy>
  <cp:revision>1</cp:revision>
  <dcterms:created xsi:type="dcterms:W3CDTF">2026-10-14T13:10:14Z</dcterms:created>
  <dcterms:modified xsi:type="dcterms:W3CDTF">2026-10-14T13:10:14Z</dcterms:modified>
</cp:coreProperties>
</file>
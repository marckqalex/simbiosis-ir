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sumen" id="{0a58abea-56f5-f4b0-5b53-e33c9177ae7a}">
          <p14:sldIdLst>
            <p14:sldId id="257"/>
          </p14:sldIdLst>
        </p14:section>
        <p14:section name="Mercado" id="{5a89a573-bc5f-b95f-9749-328139f134a3}">
          <p14:sldIdLst>
            <p14:sldId id="258"/>
            <p14:sldId id="259"/>
          </p14:sldIdLst>
        </p14:section>
        <p14:section name="Experiencia" id="{9864a090-c699-bc5f-3d5c-743027e79b5c}">
          <p14:sldIdLst>
            <p14:sldId id="260"/>
          </p14:sldIdLst>
        </p14:section>
        <p14:section name="Grupos" id="{1569b183-7338-e045-6cfc-597375451974}">
          <p14:sldIdLst>
            <p14:sldId id="261"/>
          </p14:sldIdLst>
        </p14:section>
        <p14:section name="Plantas" id="{1cbce440-0105-265f-a854-7d3681c2abab}">
          <p14:sldIdLst>
            <p14:sldId id="262"/>
          </p14:sldIdLst>
        </p14:section>
        <p14:section name="Cierre" id="{ce50e38d-98fe-7805-8735-0bd3c3925855}">
          <p14:sldIdLst>
            <p14:sldId id="263"/>
            <p14:sldId id="264"/>
            <p14:sldId id="265"/>
            <p14:sldId id="266"/>
          </p14:sldIdLst>
        </p14:section>
        <p14:section name="Default-1" id="{c83a232a-38bb-d8a8-216b-cb4c51729f01}">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2E"/>
                </a:solidFill>
                <a:latin typeface="+mn-lt"/>
              </a:defRPr>
            </a:pPr>
            <a:r>
              <a:rPr sz="1400" b="0" i="0" u="none" strike="noStrike">
                <a:solidFill>
                  <a:srgbClr val="1F2A2E"/>
                </a:solidFill>
                <a:latin typeface="+mn-lt"/>
              </a:rPr>
              <a:t>Crecimiento real anual 2025, %</a:t>
            </a:r>
          </a:p>
        </c:rich>
      </c:tx>
      <c:layout/>
      <c:overlay val="0"/>
    </c:title>
    <c:autoTitleDeleted val="0"/>
    <c:plotArea>
      <c:layout/>
      <c:barChart>
        <c:barDir val="bar"/>
        <c:grouping val="clustered"/>
        <c:varyColors val="0"/>
        <c:ser>
          <c:idx val="0"/>
          <c:order val="0"/>
          <c:tx>
            <c:strRef>
              <c:f>Sheet1!$B$1</c:f>
              <c:strCache>
                <c:ptCount val="1"/>
                <c:pt idx="0">
                  <c:v>Crecimiento real anual 2025 (%)</c:v>
                </c:pt>
              </c:strCache>
            </c:strRef>
          </c:tx>
          <c:spPr>
            <a:solidFill>
              <a:srgbClr val="A63D2B"/>
            </a:solidFill>
            <a:effectLst/>
          </c:spPr>
          <c:invertIfNegative val="0"/>
          <c:dLbls>
            <c:numFmt formatCode="0.0" sourceLinked="0"/>
            <c:txPr>
              <a:bodyPr/>
              <a:lstStyle/>
              <a:p>
                <a:pPr>
                  <a:defRPr b="0" i="0" strike="noStrike" sz="1400" u="none">
                    <a:solidFill>
                      <a:srgbClr val="1F2A2E"/>
                    </a:solidFill>
                    <a:latin typeface="+mn-lt"/>
                  </a:defRPr>
                </a:pPr>
              </a:p>
            </c:txPr>
            <c:showLegendKey val="0"/>
            <c:showVal val="1"/>
            <c:showCatName val="0"/>
            <c:showSerName val="0"/>
            <c:showPercent val="0"/>
            <c:showBubbleSize val="0"/>
            <c:showLeaderLines val="0"/>
          </c:dLbls>
          <c:dPt>
            <c:idx val="0"/>
            <c:invertIfNegative val="0"/>
            <c:bubble3D val="0"/>
            <c:spPr>
              <a:solidFill>
                <a:srgbClr val="A63D2B"/>
              </a:solidFill>
              <a:effectLst/>
            </c:spPr>
          </c:dPt>
          <c:dPt>
            <c:idx val="1"/>
            <c:invertIfNegative val="0"/>
            <c:bubble3D val="0"/>
            <c:spPr>
              <a:solidFill>
                <a:srgbClr val="7C878C"/>
              </a:solidFill>
              <a:effectLst/>
            </c:spPr>
          </c:dPt>
          <c:dPt>
            <c:idx val="2"/>
            <c:invertIfNegative val="0"/>
            <c:bubble3D val="0"/>
            <c:spPr>
              <a:solidFill>
                <a:srgbClr val="2F6F62"/>
              </a:solidFill>
              <a:effectLst/>
            </c:spPr>
          </c:dPt>
          <c:cat>
            <c:multiLvlStrRef>
              <c:f>Sheet1!$A$2:$A$4</c:f>
              <c:multiLvlStrCache>
                <c:ptCount val="3"/>
                <c:lvl>
                  <c:pt idx="0">
                    <c:v>Sector secundario (industria)</c:v>
                  </c:pt>
                  <c:pt idx="1">
                    <c:v>PIB nacional</c:v>
                  </c:pt>
                  <c:pt idx="2">
                    <c:v>PIB primario (agro, ganadería, pesca)</c:v>
                  </c:pt>
                </c:lvl>
              </c:multiLvlStrCache>
            </c:multiLvlStrRef>
          </c:cat>
          <c:val>
            <c:numRef>
              <c:f>Sheet1!$B$2:$B$4</c:f>
              <c:numCache>
                <c:formatCode>General</c:formatCode>
                <c:ptCount val="3"/>
                <c:pt idx="0">
                  <c:v>-1.1</c:v>
                </c:pt>
                <c:pt idx="1">
                  <c:v>0.8</c:v>
                </c:pt>
                <c:pt idx="2">
                  <c:v>4</c:v>
                </c:pt>
              </c:numCache>
            </c:numRef>
          </c:val>
        </c:ser>
        <c:dLbls>
          <c:numFmt formatCode="0.0" sourceLinked="0"/>
          <c:txPr>
            <a:bodyPr/>
            <a:lstStyle/>
            <a:p>
              <a:pPr>
                <a:defRPr b="0" i="0" strike="noStrike" sz="1400" u="none">
                  <a:solidFill>
                    <a:srgbClr val="1F2A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A2E"/>
                </a:solidFill>
                <a:latin typeface="+mn-lt"/>
              </a:defRPr>
            </a:pPr>
            <a:endParaRPr lang="en-US"/>
          </a:p>
        </c:txPr>
        <c:crossAx val="2094734552"/>
        <c:crosses val="autoZero"/>
        <c:auto val="1"/>
        <c:lblAlgn val="ctr"/>
        <c:noMultiLvlLbl val="1"/>
      </c:catAx>
      <c:valAx>
        <c:axId val="2094734552"/>
        <c:scaling>
          <c:orientation val="minMax"/>
          <c:max val="5"/>
          <c:min val="-2"/>
        </c:scaling>
        <c:delete val="0"/>
        <c:axPos val="b"/>
        <c:majorGridlines>
          <c:spPr>
            <a:ln w="6350" cap="flat">
              <a:solidFill>
                <a:srgbClr val="D9DEE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7C878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2E"/>
                </a:solidFill>
                <a:latin typeface="+mn-lt"/>
              </a:defRPr>
            </a:pPr>
            <a:r>
              <a:rPr sz="1400" b="0" i="0" u="none" strike="noStrike">
                <a:solidFill>
                  <a:srgbClr val="1F2A2E"/>
                </a:solidFill>
                <a:latin typeface="+mn-lt"/>
              </a:rPr>
              <a:t>Crecimiento 2025, % anual</a:t>
            </a:r>
          </a:p>
        </c:rich>
      </c:tx>
      <c:layout/>
      <c:overlay val="0"/>
    </c:title>
    <c:autoTitleDeleted val="0"/>
    <c:plotArea>
      <c:layout/>
      <c:barChart>
        <c:barDir val="col"/>
        <c:grouping val="clustered"/>
        <c:varyColors val="0"/>
        <c:ser>
          <c:idx val="0"/>
          <c:order val="0"/>
          <c:tx>
            <c:strRef>
              <c:f>Sheet1!$B$1</c:f>
              <c:strCache>
                <c:ptCount val="1"/>
                <c:pt idx="0">
                  <c:v>2025</c:v>
                </c:pt>
              </c:strCache>
            </c:strRef>
          </c:tx>
          <c:spPr>
            <a:solidFill>
              <a:srgbClr val="A63D2B"/>
            </a:solidFill>
            <a:effectLst/>
          </c:spPr>
          <c:invertIfNegative val="0"/>
          <c:dLbls>
            <c:numFmt formatCode="0.0" sourceLinked="0"/>
            <c:txPr>
              <a:bodyPr/>
              <a:lstStyle/>
              <a:p>
                <a:pPr>
                  <a:defRPr b="0" i="0" strike="noStrike" sz="1400" u="none">
                    <a:solidFill>
                      <a:srgbClr val="1F2A2E"/>
                    </a:solidFill>
                    <a:latin typeface="+mn-lt"/>
                  </a:defRPr>
                </a:pPr>
              </a:p>
            </c:txPr>
            <c:showLegendKey val="0"/>
            <c:showVal val="1"/>
            <c:showCatName val="0"/>
            <c:showSerName val="0"/>
            <c:showPercent val="0"/>
            <c:showBubbleSize val="0"/>
            <c:showLeaderLines val="0"/>
          </c:dLbls>
          <c:dPt>
            <c:idx val="0"/>
            <c:invertIfNegative val="0"/>
            <c:bubble3D val="0"/>
            <c:spPr>
              <a:solidFill>
                <a:srgbClr val="A63D2B"/>
              </a:solidFill>
              <a:effectLst/>
            </c:spPr>
          </c:dPt>
          <c:dPt>
            <c:idx val="1"/>
            <c:invertIfNegative val="0"/>
            <c:bubble3D val="0"/>
            <c:spPr>
              <a:solidFill>
                <a:srgbClr val="5B7B8C"/>
              </a:solidFill>
              <a:effectLst/>
            </c:spPr>
          </c:dPt>
          <c:cat>
            <c:multiLvlStrRef>
              <c:f>Sheet1!$A$2:$A$3</c:f>
              <c:multiLvlStrCache>
                <c:ptCount val="2"/>
                <c:lvl>
                  <c:pt idx="0">
                    <c:v>Consumo de carne</c:v>
                  </c:pt>
                  <c:pt idx="1">
                    <c:v>Producción de carne</c:v>
                  </c:pt>
                </c:lvl>
              </c:multiLvlStrCache>
            </c:multiLvlStrRef>
          </c:cat>
          <c:val>
            <c:numRef>
              <c:f>Sheet1!$B$2:$B$3</c:f>
              <c:numCache>
                <c:formatCode>General</c:formatCode>
                <c:ptCount val="2"/>
                <c:pt idx="0">
                  <c:v>4.5</c:v>
                </c:pt>
                <c:pt idx="1">
                  <c:v>2.6</c:v>
                </c:pt>
              </c:numCache>
            </c:numRef>
          </c:val>
        </c:ser>
        <c:dLbls>
          <c:numFmt formatCode="0.0" sourceLinked="0"/>
          <c:txPr>
            <a:bodyPr/>
            <a:lstStyle/>
            <a:p>
              <a:pPr>
                <a:defRPr b="0" i="0" strike="noStrike" sz="1400" u="none">
                  <a:solidFill>
                    <a:srgbClr val="1F2A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A2E"/>
                </a:solidFill>
                <a:latin typeface="+mn-lt"/>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6350" cap="flat">
              <a:solidFill>
                <a:srgbClr val="D9DE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C878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El entregable va de lo macro (alimentos y bebidas) a lo micro (proteína animal), a los cuatro grupos que Marcos indicó para esta lámina (no es un ranking de mercado; sin acta, por confirmar con Ricardo), y termina en plantas concretas por estado.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cifras salen de la validación técnica del 12 de septiembre, ajustada el 14 de octubre (Lagos baja a PARCIAL). La parte de Bachoco (atendido por otras regiones) y Bafar (oportunidades abiertas en La Piedad) son declaraciones de Marcos del 14 de octubre; las oportunidades de La Piedad traen número y monto dados por Marcos, fuera del corte del 12-ago-2026: PENDIENTE de verificar en el CRM; la de GAO no trae número ni monto.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contraste agro vs industria explica por qué la proteína animal es candidata, pero no prueba demanda de reposición de bandas ni mangueras. Ese vínculo se prueba por planta, no por macro.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Regla del programa: un proyecto anunciado no es demanda actual. El consumo de reposición llega después del arranque, no durante la obra. Pronóstico 2027 queda PENDIENTE: Ricardo lo pidió y no hay dato publicado que lo sustente en lo que se consultó.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Nomenclatura copiada del campo Nombre de oportunidad del archivo original. El número va solo como referencia secundaria. Para Pilgrim's y SuKarne el CRM acumula más ganadas en la misma clave (3 en El Porvenir; 6 en Lucero); aquí se citan los casos más cercanos a cada réplica.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etiquetas describen historial en el CRM, no compra vigente. SuKarne: Monarca (clave con «TIF 43») y Ganadería Integral SK (TIF 105) están en HIPÓTESIS de pertenencia en el cruce del CRM; sukarne.com las atribuye al grupo. Pilgrim's: 1.89 de 2.15 millones en claves de Durango (Gómez Palacio, La Popular, El Porvenir).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Siete plantas; seis tienen veredicto de réplica. La Piedad no lo tiene porque Bafar no tiene caso ganado propio. El SÍ de Tepeji queda condicionado a confirmar la identidad del sitio. Lagos baja a PARCIAL con el mismo criterio que Toluca: sin áreas verificadas en el destino. Ninguna fila asigna trabajo a una persona.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GAO: la web solo muestra una dirección (Acatlán de Juárez, Jalisco) y extrusión como servicio principal. Razón social, procesos como anodizado, capacidad y equipos son ND. Las necesidades hidráulicas son lo que Marcos vio en campo, no un dato público.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ULO">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4"/>
                </a:solidFill>
              </a:rPr>
              <a:t>Programa Simbiosis IR · Gates de México · Industrial Replacement</a:t>
            </a:r>
            <a:endParaRPr lang="en-US" sz="10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4"/>
                </a:solidFill>
              </a:rPr>
              <a:t>Programa Simbiosis IR · Proteína animal · Borrador del 14-oct-2026</a:t>
            </a:r>
            <a:endParaRPr lang="en-US" sz="1000" dirty="0"/>
          </a:p>
        </p:txBody>
      </p:sp>
      <p:sp>
        <p:nvSpPr>
          <p:cNvPr id="3" name="Text 1"/>
          <p:cNvSpPr/>
          <p:nvPr>
            <p:ph idx="101" type="title" hasCustomPrompt="1"/>
          </p:nvPr>
        </p:nvSpPr>
        <p:spPr>
          <a:xfrm>
            <a:off x="548640" y="365760"/>
            <a:ext cx="11091672" cy="822960"/>
          </a:xfrm>
          <a:prstGeom prst="rect">
            <a:avLst/>
          </a:prstGeom>
          <a:noFill/>
          <a:ln/>
        </p:spPr>
        <p:txBody>
          <a:bodyPr wrap="square" rtlCol="0"/>
          <a:lstStyle>
            <a:lvl1pPr algn="l" indent="0" marL="0">
              <a:buNone/>
              <a:defRPr lang="en-US" sz="28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463040"/>
            <a:ext cx="8778240" cy="182880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Proteína animal: de los casos ganados a cuatro grupos prospecto</a:t>
            </a:r>
            <a:endParaRPr lang="en-US" sz="4400" dirty="0"/>
          </a:p>
        </p:txBody>
      </p:sp>
      <p:sp>
        <p:nvSpPr>
          <p:cNvPr id="3" name="Text 1"/>
          <p:cNvSpPr txBox="1"/>
          <p:nvPr/>
        </p:nvSpPr>
        <p:spPr>
          <a:xfrm>
            <a:off x="548640" y="3474720"/>
            <a:ext cx="8778240" cy="457200"/>
          </a:xfrm>
          <a:prstGeom prst="rect">
            <a:avLst/>
          </a:prstGeom>
          <a:noFill/>
          <a:ln/>
        </p:spPr>
        <p:txBody>
          <a:bodyPr wrap="square" lIns="0" tIns="0" rIns="0" bIns="0" rtlCol="0" anchor="ctr"/>
          <a:lstStyle/>
          <a:p>
            <a:pPr indent="0" marL="0">
              <a:buNone/>
            </a:pPr>
            <a:r>
              <a:rPr lang="en-US" sz="2200" dirty="0">
                <a:solidFill>
                  <a:schemeClr val="accent6"/>
                </a:solidFill>
                <a:latin typeface="Calibri" pitchFamily="34" charset="0"/>
                <a:ea typeface="Calibri" pitchFamily="34" charset="-122"/>
                <a:cs typeface="Calibri" pitchFamily="34" charset="-120"/>
              </a:rPr>
              <a:t>SuKarne · Bachoco · Pilgrim's Pride · Grupo Bafar</a:t>
            </a:r>
            <a:endParaRPr lang="en-US" sz="2200" dirty="0"/>
          </a:p>
        </p:txBody>
      </p:sp>
      <p:sp>
        <p:nvSpPr>
          <p:cNvPr id="4" name="Text 2"/>
          <p:cNvSpPr txBox="1"/>
          <p:nvPr/>
        </p:nvSpPr>
        <p:spPr>
          <a:xfrm>
            <a:off x="548640" y="4846320"/>
            <a:ext cx="8229600" cy="731520"/>
          </a:xfrm>
          <a:prstGeom prst="rect">
            <a:avLst/>
          </a:prstGeom>
          <a:noFill/>
          <a:ln/>
        </p:spPr>
        <p:txBody>
          <a:bodyPr wrap="square" lIns="0" tIns="0" rIns="0" bIns="0" rtlCol="0" anchor="ctr"/>
          <a:lstStyle/>
          <a:p>
            <a:pPr indent="0" marL="0">
              <a:buNone/>
            </a:pPr>
            <a:r>
              <a:rPr lang="en-US" sz="1400" dirty="0">
                <a:solidFill>
                  <a:schemeClr val="accent6"/>
                </a:solidFill>
                <a:latin typeface="Calibri" pitchFamily="34" charset="0"/>
                <a:ea typeface="Calibri" pitchFamily="34" charset="-122"/>
                <a:cs typeface="Calibri" pitchFamily="34" charset="-120"/>
              </a:rPr>
              <a:t>Entregable 1 · Borrador para Ricardo Narváez · 14 de octubre de 2026</a:t>
            </a:r>
            <a:endParaRPr lang="en-US" sz="1400" dirty="0"/>
          </a:p>
          <a:p>
            <a:pPr indent="0" marL="0">
              <a:buNone/>
            </a:pPr>
            <a:r>
              <a:rPr lang="en-US" sz="1400" dirty="0">
                <a:solidFill>
                  <a:schemeClr val="accent6"/>
                </a:solidFill>
                <a:latin typeface="Calibri" pitchFamily="34" charset="0"/>
                <a:ea typeface="Calibri" pitchFamily="34" charset="-122"/>
                <a:cs typeface="Calibri" pitchFamily="34" charset="-120"/>
              </a:rPr>
              <a:t>Prepara: Marcos Arévalo, Gates de México (Industrial Replacement)</a:t>
            </a:r>
            <a:endParaRPr lang="en-US" sz="1400" dirty="0"/>
          </a:p>
        </p:txBody>
      </p:sp>
      <p:sp>
        <p:nvSpPr>
          <p:cNvPr id="5" name="circulo macro"/>
          <p:cNvSpPr/>
          <p:nvPr/>
        </p:nvSpPr>
        <p:spPr>
          <a:xfrm>
            <a:off x="9326880" y="1371600"/>
            <a:ext cx="2377440" cy="2377440"/>
          </a:xfrm>
          <a:prstGeom prst="ellipse">
            <a:avLst/>
          </a:prstGeom>
          <a:solidFill>
            <a:schemeClr val="accent1">
              <a:alpha val="90000"/>
            </a:schemeClr>
          </a:solidFill>
          <a:ln w="12700">
            <a:solidFill>
              <a:schemeClr val="accent1"/>
            </a:solidFill>
            <a:prstDash val="solid"/>
          </a:ln>
        </p:spPr>
      </p:sp>
      <p:sp>
        <p:nvSpPr>
          <p:cNvPr id="6" name="circulo micro"/>
          <p:cNvSpPr/>
          <p:nvPr/>
        </p:nvSpPr>
        <p:spPr>
          <a:xfrm>
            <a:off x="9875520" y="2103120"/>
            <a:ext cx="1371600" cy="1371600"/>
          </a:xfrm>
          <a:prstGeom prst="ellipse">
            <a:avLst/>
          </a:prstGeom>
          <a:solidFill>
            <a:schemeClr val="accent3">
              <a:alpha val="95000"/>
            </a:schemeClr>
          </a:solidFill>
          <a:ln w="12700">
            <a:solidFill>
              <a:schemeClr val="accent3"/>
            </a:solidFill>
            <a:prstDash val="solid"/>
          </a:ln>
        </p:spPr>
      </p:sp>
      <p:sp>
        <p:nvSpPr>
          <p:cNvPr id="7" name="circulo planta"/>
          <p:cNvSpPr/>
          <p:nvPr/>
        </p:nvSpPr>
        <p:spPr>
          <a:xfrm>
            <a:off x="10314432" y="2697480"/>
            <a:ext cx="502920" cy="502920"/>
          </a:xfrm>
          <a:prstGeom prst="ellipse">
            <a:avLst/>
          </a:prstGeom>
          <a:solidFill>
            <a:schemeClr val="bg1"/>
          </a:solidFill>
          <a:ln w="12700">
            <a:solidFill>
              <a:schemeClr val="bg1"/>
            </a:solidFill>
            <a:prstDash val="solid"/>
          </a:ln>
        </p:spPr>
      </p:sp>
      <p:sp>
        <p:nvSpPr>
          <p:cNvPr id="8" name="Text 6"/>
          <p:cNvSpPr txBox="1"/>
          <p:nvPr/>
        </p:nvSpPr>
        <p:spPr>
          <a:xfrm>
            <a:off x="9144000" y="3886200"/>
            <a:ext cx="2743200" cy="274320"/>
          </a:xfrm>
          <a:prstGeom prst="rect">
            <a:avLst/>
          </a:prstGeom>
          <a:noFill/>
          <a:ln/>
        </p:spPr>
        <p:txBody>
          <a:bodyPr wrap="square" lIns="0" tIns="0" rIns="0" bIns="0" rtlCol="0" anchor="ctr"/>
          <a:lstStyle/>
          <a:p>
            <a:pPr algn="ctr" indent="0" marL="0">
              <a:buNone/>
            </a:pPr>
            <a:r>
              <a:rPr lang="en-US" sz="1200" dirty="0">
                <a:solidFill>
                  <a:schemeClr val="accent6"/>
                </a:solidFill>
                <a:latin typeface="Calibri" pitchFamily="34" charset="0"/>
                <a:ea typeface="Calibri" pitchFamily="34" charset="-122"/>
                <a:cs typeface="Calibri" pitchFamily="34" charset="-120"/>
              </a:rPr>
              <a:t>Alimentos y bebidas</a:t>
            </a:r>
            <a:endParaRPr lang="en-US" sz="1200" dirty="0"/>
          </a:p>
        </p:txBody>
      </p:sp>
      <p:sp>
        <p:nvSpPr>
          <p:cNvPr id="9" name="Text 7"/>
          <p:cNvSpPr txBox="1"/>
          <p:nvPr/>
        </p:nvSpPr>
        <p:spPr>
          <a:xfrm>
            <a:off x="9144000" y="4160520"/>
            <a:ext cx="2743200" cy="274320"/>
          </a:xfrm>
          <a:prstGeom prst="rect">
            <a:avLst/>
          </a:prstGeom>
          <a:noFill/>
          <a:ln/>
        </p:spPr>
        <p:txBody>
          <a:bodyPr wrap="square" lIns="0" tIns="0" rIns="0" bIns="0" rtlCol="0" anchor="ctr"/>
          <a:lstStyle/>
          <a:p>
            <a:pPr algn="ctr" indent="0" marL="0">
              <a:buNone/>
            </a:pPr>
            <a:r>
              <a:rPr lang="en-US" sz="1200" dirty="0">
                <a:solidFill>
                  <a:schemeClr val="accent6"/>
                </a:solidFill>
                <a:latin typeface="Calibri" pitchFamily="34" charset="0"/>
                <a:ea typeface="Calibri" pitchFamily="34" charset="-122"/>
                <a:cs typeface="Calibri" pitchFamily="34" charset="-120"/>
              </a:rPr>
              <a:t>Proteína animal → 4 grupos → plantas</a:t>
            </a:r>
            <a:endParaRPr lang="en-US" sz="12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Seis réplicas evaluadas: 1 sí condicionada, 4 parciales, 1 no</a:t>
            </a:r>
            <a:endParaRPr lang="en-US" sz="2800" dirty="0"/>
          </a:p>
        </p:txBody>
      </p:sp>
      <p:sp>
        <p:nvSpPr>
          <p:cNvPr id="3" name="tarjeta 1"/>
          <p:cNvSpPr/>
          <p:nvPr/>
        </p:nvSpPr>
        <p:spPr>
          <a:xfrm>
            <a:off x="548640" y="1371600"/>
            <a:ext cx="2560320" cy="1828800"/>
          </a:xfrm>
          <a:prstGeom prst="rect">
            <a:avLst/>
          </a:prstGeom>
          <a:solidFill>
            <a:schemeClr val="bg2"/>
          </a:solidFill>
          <a:ln w="12700">
            <a:solidFill>
              <a:schemeClr val="bg2"/>
            </a:solidFill>
            <a:prstDash val="solid"/>
          </a:ln>
        </p:spPr>
      </p:sp>
      <p:sp>
        <p:nvSpPr>
          <p:cNvPr id="4" name="Text 2"/>
          <p:cNvSpPr txBox="1"/>
          <p:nvPr/>
        </p:nvSpPr>
        <p:spPr>
          <a:xfrm>
            <a:off x="731520" y="1417320"/>
            <a:ext cx="2194560" cy="822960"/>
          </a:xfrm>
          <a:prstGeom prst="rect">
            <a:avLst/>
          </a:prstGeom>
          <a:noFill/>
          <a:ln/>
        </p:spPr>
        <p:txBody>
          <a:bodyPr wrap="square" lIns="0" tIns="0" rIns="0" bIns="0" rtlCol="0" anchor="ctr"/>
          <a:lstStyle/>
          <a:p>
            <a:pPr indent="0" marL="0">
              <a:buNone/>
            </a:pPr>
            <a:r>
              <a:rPr lang="en-US" sz="5400" b="1" dirty="0">
                <a:solidFill>
                  <a:schemeClr val="tx1"/>
                </a:solidFill>
                <a:latin typeface="Cambria" pitchFamily="34" charset="0"/>
                <a:ea typeface="Cambria" pitchFamily="34" charset="-122"/>
                <a:cs typeface="Cambria" pitchFamily="34" charset="-120"/>
              </a:rPr>
              <a:t>6</a:t>
            </a:r>
            <a:endParaRPr lang="en-US" sz="5400" dirty="0"/>
          </a:p>
        </p:txBody>
      </p:sp>
      <p:sp>
        <p:nvSpPr>
          <p:cNvPr id="5" name="Text 3"/>
          <p:cNvSpPr txBox="1"/>
          <p:nvPr/>
        </p:nvSpPr>
        <p:spPr>
          <a:xfrm>
            <a:off x="731520" y="2286000"/>
            <a:ext cx="2194560" cy="8686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pares planta origen → destino evaluados técnicamente</a:t>
            </a:r>
            <a:endParaRPr lang="en-US" sz="1400" dirty="0"/>
          </a:p>
        </p:txBody>
      </p:sp>
      <p:sp>
        <p:nvSpPr>
          <p:cNvPr id="6" name="tarjeta 2"/>
          <p:cNvSpPr/>
          <p:nvPr/>
        </p:nvSpPr>
        <p:spPr>
          <a:xfrm>
            <a:off x="3291840" y="1371600"/>
            <a:ext cx="2560320" cy="1828800"/>
          </a:xfrm>
          <a:prstGeom prst="rect">
            <a:avLst/>
          </a:prstGeom>
          <a:solidFill>
            <a:schemeClr val="bg2"/>
          </a:solidFill>
          <a:ln w="12700">
            <a:solidFill>
              <a:schemeClr val="bg2"/>
            </a:solidFill>
            <a:prstDash val="solid"/>
          </a:ln>
        </p:spPr>
      </p:sp>
      <p:sp>
        <p:nvSpPr>
          <p:cNvPr id="7" name="Text 5"/>
          <p:cNvSpPr txBox="1"/>
          <p:nvPr/>
        </p:nvSpPr>
        <p:spPr>
          <a:xfrm>
            <a:off x="3474720" y="1417320"/>
            <a:ext cx="2194560" cy="82296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1</a:t>
            </a:r>
            <a:endParaRPr lang="en-US" sz="5400" dirty="0"/>
          </a:p>
        </p:txBody>
      </p:sp>
      <p:sp>
        <p:nvSpPr>
          <p:cNvPr id="8" name="Text 6"/>
          <p:cNvSpPr txBox="1"/>
          <p:nvPr/>
        </p:nvSpPr>
        <p:spPr>
          <a:xfrm>
            <a:off x="3474720" y="2286000"/>
            <a:ext cx="2194560" cy="8686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réplica SÍ, condicionada a confirmar el sitio: Pilgrim's Tepeji</a:t>
            </a:r>
            <a:endParaRPr lang="en-US" sz="1400" dirty="0"/>
          </a:p>
        </p:txBody>
      </p:sp>
      <p:sp>
        <p:nvSpPr>
          <p:cNvPr id="9" name="tarjeta 3"/>
          <p:cNvSpPr/>
          <p:nvPr/>
        </p:nvSpPr>
        <p:spPr>
          <a:xfrm>
            <a:off x="6035040" y="1371600"/>
            <a:ext cx="2560320" cy="1828800"/>
          </a:xfrm>
          <a:prstGeom prst="rect">
            <a:avLst/>
          </a:prstGeom>
          <a:solidFill>
            <a:schemeClr val="bg2"/>
          </a:solidFill>
          <a:ln w="12700">
            <a:solidFill>
              <a:schemeClr val="bg2"/>
            </a:solidFill>
            <a:prstDash val="solid"/>
          </a:ln>
        </p:spPr>
      </p:sp>
      <p:sp>
        <p:nvSpPr>
          <p:cNvPr id="10" name="Text 8"/>
          <p:cNvSpPr txBox="1"/>
          <p:nvPr/>
        </p:nvSpPr>
        <p:spPr>
          <a:xfrm>
            <a:off x="6217920" y="1417320"/>
            <a:ext cx="2194560" cy="822960"/>
          </a:xfrm>
          <a:prstGeom prst="rect">
            <a:avLst/>
          </a:prstGeom>
          <a:noFill/>
          <a:ln/>
        </p:spPr>
        <p:txBody>
          <a:bodyPr wrap="square" lIns="0" tIns="0" rIns="0" bIns="0" rtlCol="0" anchor="ctr"/>
          <a:lstStyle/>
          <a:p>
            <a:pPr indent="0" marL="0">
              <a:buNone/>
            </a:pPr>
            <a:r>
              <a:rPr lang="en-US" sz="5400" b="1" dirty="0">
                <a:solidFill>
                  <a:schemeClr val="accent3"/>
                </a:solidFill>
                <a:latin typeface="Cambria" pitchFamily="34" charset="0"/>
                <a:ea typeface="Cambria" pitchFamily="34" charset="-122"/>
                <a:cs typeface="Cambria" pitchFamily="34" charset="-120"/>
              </a:rPr>
              <a:t>4</a:t>
            </a:r>
            <a:endParaRPr lang="en-US" sz="5400" dirty="0"/>
          </a:p>
        </p:txBody>
      </p:sp>
      <p:sp>
        <p:nvSpPr>
          <p:cNvPr id="11" name="Text 9"/>
          <p:cNvSpPr txBox="1"/>
          <p:nvPr/>
        </p:nvSpPr>
        <p:spPr>
          <a:xfrm>
            <a:off x="6217920" y="2286000"/>
            <a:ext cx="2194560" cy="8686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PARCIAL: Bachoco Lagos, SuKarne TIF 718, Pilgrim's Toluca y Bafar Lerma</a:t>
            </a:r>
            <a:endParaRPr lang="en-US" sz="1400" dirty="0"/>
          </a:p>
        </p:txBody>
      </p:sp>
      <p:sp>
        <p:nvSpPr>
          <p:cNvPr id="12" name="tarjeta 4"/>
          <p:cNvSpPr/>
          <p:nvPr/>
        </p:nvSpPr>
        <p:spPr>
          <a:xfrm>
            <a:off x="8778240" y="1371600"/>
            <a:ext cx="2560320" cy="1828800"/>
          </a:xfrm>
          <a:prstGeom prst="rect">
            <a:avLst/>
          </a:prstGeom>
          <a:solidFill>
            <a:schemeClr val="bg2"/>
          </a:solidFill>
          <a:ln w="12700">
            <a:solidFill>
              <a:schemeClr val="bg2"/>
            </a:solidFill>
            <a:prstDash val="solid"/>
          </a:ln>
        </p:spPr>
      </p:sp>
      <p:sp>
        <p:nvSpPr>
          <p:cNvPr id="13" name="Text 11"/>
          <p:cNvSpPr txBox="1"/>
          <p:nvPr/>
        </p:nvSpPr>
        <p:spPr>
          <a:xfrm>
            <a:off x="8961120" y="1417320"/>
            <a:ext cx="2194560" cy="82296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1</a:t>
            </a:r>
            <a:endParaRPr lang="en-US" sz="5400" dirty="0"/>
          </a:p>
        </p:txBody>
      </p:sp>
      <p:sp>
        <p:nvSpPr>
          <p:cNvPr id="14" name="Text 12"/>
          <p:cNvSpPr txBox="1"/>
          <p:nvPr/>
        </p:nvSpPr>
        <p:spPr>
          <a:xfrm>
            <a:off x="8961120" y="2286000"/>
            <a:ext cx="2194560" cy="8686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NO se sostiene: SuKarne TIF 94 Zapopan (planta de cocción, sin sacrificio)</a:t>
            </a:r>
            <a:endParaRPr lang="en-US" sz="1400" dirty="0"/>
          </a:p>
        </p:txBody>
      </p:sp>
      <p:sp>
        <p:nvSpPr>
          <p:cNvPr id="15" name="Text 13"/>
          <p:cNvSpPr txBox="1"/>
          <p:nvPr/>
        </p:nvSpPr>
        <p:spPr>
          <a:xfrm>
            <a:off x="548640" y="3520440"/>
            <a:ext cx="11091672" cy="237744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latin typeface="Calibri" pitchFamily="34" charset="0"/>
                <a:ea typeface="Calibri" pitchFamily="34" charset="-122"/>
                <a:cs typeface="Calibri" pitchFamily="34" charset="-120"/>
              </a:rPr>
              <a:t>Lo que cambia el mensaje para Ricardo</a:t>
            </a:r>
            <a:endParaRPr lang="en-US" sz="1600" dirty="0"/>
          </a:p>
          <a:p>
            <a:pPr marL="342900" indent="-3429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Bachoco Lagos de Moreno no es prospección nueva: el CRM tiene la oportunidad perdida «7.1 PCC C2B-Bachoco Lagos- Bamac Guadalajara» (2020; motivo no disponible). Marcos informa que compañeros de otras regiones ya atienden la cuenta; falta confirmar si incluye Lagos.</a:t>
            </a:r>
            <a:endParaRPr lang="en-US" sz="1600" dirty="0"/>
          </a:p>
          <a:p>
            <a:pPr marL="342900" indent="-3429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Bafar tiene 0 ganadas en el CRM (corte 12-ago-2026). Marcos abrió dos oportunidades con La Piedad (lámina 7): potencial anual según él de 650,220 y 265,000 MXN, no facturación; fuera del corte del CRM. Según Marcos, Gates no atendía a este usuario.</a:t>
            </a:r>
            <a:endParaRPr lang="en-US" sz="1600" dirty="0"/>
          </a:p>
          <a:p>
            <a:pPr marL="342900" indent="-342900">
              <a:buSzPct val="100000"/>
              <a:buChar char="•"/>
            </a:pPr>
            <a:r>
              <a:rPr lang="en-US" sz="1600" dirty="0">
                <a:solidFill>
                  <a:schemeClr val="tx1"/>
                </a:solidFill>
                <a:latin typeface="Calibri" pitchFamily="34" charset="0"/>
                <a:ea typeface="Calibri" pitchFamily="34" charset="-122"/>
                <a:cs typeface="Calibri" pitchFamily="34" charset="-120"/>
              </a:rPr>
              <a:t>Este borrador cubre UN mercado candidato (proteína animal). La selección de tres mercados y nueve usuarios sigue abierta.</a:t>
            </a:r>
            <a:endParaRPr lang="en-US" sz="1600" dirty="0"/>
          </a:p>
        </p:txBody>
      </p:sp>
      <p:sp>
        <p:nvSpPr>
          <p:cNvPr id="16" name="Text 14"/>
          <p:cNvSpPr txBox="1"/>
          <p:nvPr/>
        </p:nvSpPr>
        <p:spPr>
          <a:xfrm>
            <a:off x="548640" y="5989320"/>
            <a:ext cx="11091672" cy="411480"/>
          </a:xfrm>
          <a:prstGeom prst="rect">
            <a:avLst/>
          </a:prstGeom>
          <a:noFill/>
          <a:ln/>
        </p:spPr>
        <p:txBody>
          <a:bodyPr wrap="square" lIns="0" tIns="0" rIns="0" bIns="0" rtlCol="0" anchor="t"/>
          <a:lstStyle/>
          <a:p>
            <a:pPr indent="0" marL="0">
              <a:buNone/>
            </a:pPr>
            <a:r>
              <a:rPr lang="en-US" sz="1000" dirty="0">
                <a:solidFill>
                  <a:schemeClr val="accent4"/>
                </a:solidFill>
                <a:latin typeface="Calibri" pitchFamily="34" charset="0"/>
                <a:ea typeface="Calibri" pitchFamily="34" charset="-122"/>
                <a:cs typeface="Calibri" pitchFamily="34" charset="-120"/>
              </a:rPr>
              <a:t>Fuente: HIPOTESIS_REPLICA.csv (validación del 12-sep-2026, ajustada el 14-oct-2026: Lagos baja a PARCIAL) y declaraciones de campo de Marcos del 14-oct-2026. Todas las réplicas están en HIPÓTESIS hasta confirmar en visita.</a:t>
            </a:r>
            <a:endParaRPr lang="en-US" sz="10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Macro: el campo creció 4.0% en 2025; la industria cayó 1.1%</a:t>
            </a:r>
            <a:endParaRPr lang="en-US" sz="2800" dirty="0"/>
          </a:p>
        </p:txBody>
      </p:sp>
      <p:graphicFrame>
        <p:nvGraphicFramePr>
          <p:cNvPr id="3" name="Chart 0" descr=""/>
          <p:cNvGraphicFramePr/>
          <p:nvPr/>
        </p:nvGraphicFramePr>
        <p:xfrm>
          <a:off x="548640" y="1371600"/>
          <a:ext cx="6309360" cy="4206240"/>
        </p:xfrm>
        <a:graphic xmlns:a="http://schemas.openxmlformats.org/drawingml/2006/main">
          <a:graphicData uri="http://schemas.openxmlformats.org/drawingml/2006/chart">
            <c:chart xmlns:c="http://schemas.openxmlformats.org/drawingml/2006/chart" r:id="rId1"/>
          </a:graphicData>
        </a:graphic>
      </p:graphicFrame>
      <p:sp>
        <p:nvSpPr>
          <p:cNvPr id="4" name="panel lectura"/>
          <p:cNvSpPr/>
          <p:nvPr/>
        </p:nvSpPr>
        <p:spPr>
          <a:xfrm>
            <a:off x="7223760" y="1371600"/>
            <a:ext cx="4416552" cy="4206240"/>
          </a:xfrm>
          <a:prstGeom prst="rect">
            <a:avLst/>
          </a:prstGeom>
          <a:solidFill>
            <a:schemeClr val="bg2"/>
          </a:solidFill>
          <a:ln w="12700">
            <a:solidFill>
              <a:schemeClr val="bg2"/>
            </a:solidFill>
            <a:prstDash val="solid"/>
          </a:ln>
        </p:spPr>
      </p:sp>
      <p:sp>
        <p:nvSpPr>
          <p:cNvPr id="5" name="Text 2"/>
          <p:cNvSpPr txBox="1"/>
          <p:nvPr/>
        </p:nvSpPr>
        <p:spPr>
          <a:xfrm>
            <a:off x="7406640" y="1508760"/>
            <a:ext cx="4050792" cy="393192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Cómo leerlo</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CONFIRMADO: el PIB primario tuvo su mejor desempeño en 13 años (SIAP/SADER con base en INEGI, publicado el 23-feb-2026).</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La fuente no desglosa cuánto del 4.0% es ganadería. No lo atribuimos a proteína animal.</a:t>
            </a:r>
            <a:endParaRPr lang="en-US" sz="1400" dirty="0"/>
          </a:p>
          <a:p>
            <a:pPr marL="342900" indent="-342900">
              <a:buSzPct val="100000"/>
              <a:buChar char="•"/>
            </a:pPr>
            <a:r>
              <a:rPr lang="en-US" sz="1400" dirty="0">
                <a:solidFill>
                  <a:schemeClr val="tx1"/>
                </a:solidFill>
                <a:latin typeface="Calibri" pitchFamily="34" charset="0"/>
                <a:ea typeface="Calibri" pitchFamily="34" charset="-122"/>
                <a:cs typeface="Calibri" pitchFamily="34" charset="-120"/>
              </a:rPr>
              <a:t>HIPÓTESIS: la industria alimentaria (subsector 311) se movió entre −0.4% y +2.2% anual en meses de 2026. Cifra de fuente secundaria; falta confirmarla contra el boletín INEGI.</a:t>
            </a:r>
            <a:endParaRPr lang="en-US" sz="1400" dirty="0"/>
          </a:p>
        </p:txBody>
      </p:sp>
      <p:sp>
        <p:nvSpPr>
          <p:cNvPr id="6" name="Text 3"/>
          <p:cNvSpPr txBox="1"/>
          <p:nvPr/>
        </p:nvSpPr>
        <p:spPr>
          <a:xfrm>
            <a:off x="548640" y="5989320"/>
            <a:ext cx="11091672" cy="411480"/>
          </a:xfrm>
          <a:prstGeom prst="rect">
            <a:avLst/>
          </a:prstGeom>
          <a:noFill/>
          <a:ln/>
        </p:spPr>
        <p:txBody>
          <a:bodyPr wrap="square" lIns="0" tIns="0" rIns="0" bIns="0" rtlCol="0" anchor="t"/>
          <a:lstStyle/>
          <a:p>
            <a:pPr indent="0" marL="0">
              <a:buNone/>
            </a:pPr>
            <a:r>
              <a:rPr lang="en-US" sz="1000" dirty="0">
                <a:solidFill>
                  <a:schemeClr val="accent4"/>
                </a:solidFill>
                <a:latin typeface="Calibri" pitchFamily="34" charset="0"/>
                <a:ea typeface="Calibri" pitchFamily="34" charset="-122"/>
                <a:cs typeface="Calibri" pitchFamily="34" charset="-120"/>
              </a:rPr>
              <a:t>Fuente: SIAP/SADER, «El PIB primario tiene su mejor desempeño en trece años al crecer 4.0% en 2025», 23-feb-2026, gob.mx/agricultura/dgsiap/articulos/el-pib-primario-tiene-su-mejor-desempeno-en-trece-anos-al-crecer-4-0-en-2025. Subsector 311: INEGI EMIM 2026 vía búsqueda (fecha de publicación ND).</a:t>
            </a:r>
            <a:endParaRPr lang="en-US" sz="10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Carne: consumo +4.5% y producción +2.6% en 2025 (HIPÓTESIS)</a:t>
            </a:r>
            <a:endParaRPr lang="en-US" sz="2800" dirty="0"/>
          </a:p>
        </p:txBody>
      </p:sp>
      <p:graphicFrame>
        <p:nvGraphicFramePr>
          <p:cNvPr id="3" name="Chart 0" descr=""/>
          <p:cNvGraphicFramePr/>
          <p:nvPr/>
        </p:nvGraphicFramePr>
        <p:xfrm>
          <a:off x="548640" y="1371600"/>
          <a:ext cx="4206240" cy="31089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4526280"/>
            <a:ext cx="420624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HIPÓTESIS: cifras de Comecarne vía prensa; el compendio original no se revisó. Consumo total 11.3 millones de t, aparente: no implica más turnos en planta.</a:t>
            </a:r>
            <a:endParaRPr lang="en-US" sz="1400" dirty="0"/>
          </a:p>
        </p:txBody>
      </p:sp>
      <p:sp>
        <p:nvSpPr>
          <p:cNvPr id="5" name="tarjeta Pronóstico 2026"/>
          <p:cNvSpPr/>
          <p:nvPr/>
        </p:nvSpPr>
        <p:spPr>
          <a:xfrm>
            <a:off x="5074920" y="1371600"/>
            <a:ext cx="2194560" cy="3977640"/>
          </a:xfrm>
          <a:prstGeom prst="rect">
            <a:avLst/>
          </a:prstGeom>
          <a:solidFill>
            <a:schemeClr val="bg2"/>
          </a:solidFill>
          <a:ln w="12700">
            <a:solidFill>
              <a:schemeClr val="bg2"/>
            </a:solidFill>
            <a:prstDash val="solid"/>
          </a:ln>
        </p:spPr>
      </p:sp>
      <p:sp>
        <p:nvSpPr>
          <p:cNvPr id="6" name="Text 3"/>
          <p:cNvSpPr txBox="1"/>
          <p:nvPr/>
        </p:nvSpPr>
        <p:spPr>
          <a:xfrm>
            <a:off x="5212080" y="1463040"/>
            <a:ext cx="1920240" cy="64008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Pronóstico 2026</a:t>
            </a:r>
            <a:endParaRPr lang="en-US" sz="1700" dirty="0"/>
          </a:p>
        </p:txBody>
      </p:sp>
      <p:sp>
        <p:nvSpPr>
          <p:cNvPr id="7" name="etiqueta Pronóstico 2026"/>
          <p:cNvSpPr/>
          <p:nvPr/>
        </p:nvSpPr>
        <p:spPr>
          <a:xfrm>
            <a:off x="5212080" y="2194560"/>
            <a:ext cx="1920240" cy="274320"/>
          </a:xfrm>
          <a:prstGeom prst="roundRect">
            <a:avLst>
              <a:gd name="adj" fmla="val 50000"/>
            </a:avLst>
          </a:prstGeom>
          <a:solidFill>
            <a:schemeClr val="accent2"/>
          </a:solidFill>
          <a:ln w="12700">
            <a:solidFill>
              <a:schemeClr val="accent2"/>
            </a:solidFill>
            <a:prstDash val="solid"/>
          </a:ln>
        </p:spPr>
      </p:sp>
      <p:sp>
        <p:nvSpPr>
          <p:cNvPr id="8" name="Text 5"/>
          <p:cNvSpPr txBox="1"/>
          <p:nvPr/>
        </p:nvSpPr>
        <p:spPr>
          <a:xfrm>
            <a:off x="5212080" y="2194560"/>
            <a:ext cx="1920240" cy="274320"/>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HIPÓTESIS</a:t>
            </a:r>
            <a:endParaRPr lang="en-US" sz="1100" dirty="0"/>
          </a:p>
        </p:txBody>
      </p:sp>
      <p:sp>
        <p:nvSpPr>
          <p:cNvPr id="9" name="Text 6"/>
          <p:cNvSpPr txBox="1"/>
          <p:nvPr/>
        </p:nvSpPr>
        <p:spPr>
          <a:xfrm>
            <a:off x="5212080" y="2606040"/>
            <a:ext cx="1920240" cy="26517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USDA: pie de cría porcino +2% (inventario, no producción; feb-2026); pollo +2% en producción (reporte 2025, fecha exacta ND). Bovino: sacrificio al alza, cifra ND.</a:t>
            </a:r>
            <a:endParaRPr lang="en-US" sz="1500" dirty="0"/>
          </a:p>
        </p:txBody>
      </p:sp>
      <p:sp>
        <p:nvSpPr>
          <p:cNvPr id="10" name="tarjeta Inversión anunciada"/>
          <p:cNvSpPr/>
          <p:nvPr/>
        </p:nvSpPr>
        <p:spPr>
          <a:xfrm>
            <a:off x="7415784" y="1371600"/>
            <a:ext cx="2194560" cy="3977640"/>
          </a:xfrm>
          <a:prstGeom prst="rect">
            <a:avLst/>
          </a:prstGeom>
          <a:solidFill>
            <a:schemeClr val="bg2"/>
          </a:solidFill>
          <a:ln w="12700">
            <a:solidFill>
              <a:schemeClr val="bg2"/>
            </a:solidFill>
            <a:prstDash val="solid"/>
          </a:ln>
        </p:spPr>
      </p:sp>
      <p:sp>
        <p:nvSpPr>
          <p:cNvPr id="11" name="Text 8"/>
          <p:cNvSpPr txBox="1"/>
          <p:nvPr/>
        </p:nvSpPr>
        <p:spPr>
          <a:xfrm>
            <a:off x="7552944" y="1463040"/>
            <a:ext cx="1920240" cy="64008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Inversión anunciada</a:t>
            </a:r>
            <a:endParaRPr lang="en-US" sz="1700" dirty="0"/>
          </a:p>
        </p:txBody>
      </p:sp>
      <p:sp>
        <p:nvSpPr>
          <p:cNvPr id="12" name="etiqueta Inversión anunciada"/>
          <p:cNvSpPr/>
          <p:nvPr/>
        </p:nvSpPr>
        <p:spPr>
          <a:xfrm>
            <a:off x="7552944" y="2194560"/>
            <a:ext cx="1920240" cy="274320"/>
          </a:xfrm>
          <a:prstGeom prst="roundRect">
            <a:avLst>
              <a:gd name="adj" fmla="val 50000"/>
            </a:avLst>
          </a:prstGeom>
          <a:solidFill>
            <a:schemeClr val="accent3"/>
          </a:solidFill>
          <a:ln w="12700">
            <a:solidFill>
              <a:schemeClr val="accent3"/>
            </a:solidFill>
            <a:prstDash val="solid"/>
          </a:ln>
        </p:spPr>
      </p:sp>
      <p:sp>
        <p:nvSpPr>
          <p:cNvPr id="13" name="Text 10"/>
          <p:cNvSpPr txBox="1"/>
          <p:nvPr/>
        </p:nvSpPr>
        <p:spPr>
          <a:xfrm>
            <a:off x="7552944" y="2194560"/>
            <a:ext cx="1920240" cy="274320"/>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NO ES DEMANDA ACTUAL</a:t>
            </a:r>
            <a:endParaRPr lang="en-US" sz="1100" dirty="0"/>
          </a:p>
        </p:txBody>
      </p:sp>
      <p:sp>
        <p:nvSpPr>
          <p:cNvPr id="14" name="Text 11"/>
          <p:cNvSpPr txBox="1"/>
          <p:nvPr/>
        </p:nvSpPr>
        <p:spPr>
          <a:xfrm>
            <a:off x="7552944" y="2606040"/>
            <a:ext cx="1920240" cy="26517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Pilgrim's: 1,300 millones de dólares en México 2026–2030, +38% de capacidad (Presidencia, 15-ene-2026). Bafar: parque agroindustrial de La Piedad, 650 mdd, en obra (Reporte Anual 2024).</a:t>
            </a:r>
            <a:endParaRPr lang="en-US" sz="1500" dirty="0"/>
          </a:p>
        </p:txBody>
      </p:sp>
      <p:sp>
        <p:nvSpPr>
          <p:cNvPr id="15" name="tarjeta Pronóstico 2027"/>
          <p:cNvSpPr/>
          <p:nvPr/>
        </p:nvSpPr>
        <p:spPr>
          <a:xfrm>
            <a:off x="9756648" y="1371600"/>
            <a:ext cx="2194560" cy="3977640"/>
          </a:xfrm>
          <a:prstGeom prst="rect">
            <a:avLst/>
          </a:prstGeom>
          <a:solidFill>
            <a:schemeClr val="bg2"/>
          </a:solidFill>
          <a:ln w="12700">
            <a:solidFill>
              <a:schemeClr val="bg2"/>
            </a:solidFill>
            <a:prstDash val="solid"/>
          </a:ln>
        </p:spPr>
      </p:sp>
      <p:sp>
        <p:nvSpPr>
          <p:cNvPr id="16" name="Text 13"/>
          <p:cNvSpPr txBox="1"/>
          <p:nvPr/>
        </p:nvSpPr>
        <p:spPr>
          <a:xfrm>
            <a:off x="9893808" y="1463040"/>
            <a:ext cx="1920240" cy="64008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Pronóstico 2027</a:t>
            </a:r>
            <a:endParaRPr lang="en-US" sz="1700" dirty="0"/>
          </a:p>
        </p:txBody>
      </p:sp>
      <p:sp>
        <p:nvSpPr>
          <p:cNvPr id="17" name="etiqueta Pronóstico 2027"/>
          <p:cNvSpPr/>
          <p:nvPr/>
        </p:nvSpPr>
        <p:spPr>
          <a:xfrm>
            <a:off x="9893808" y="2194560"/>
            <a:ext cx="1920240" cy="274320"/>
          </a:xfrm>
          <a:prstGeom prst="roundRect">
            <a:avLst>
              <a:gd name="adj" fmla="val 50000"/>
            </a:avLst>
          </a:prstGeom>
          <a:solidFill>
            <a:schemeClr val="accent4"/>
          </a:solidFill>
          <a:ln w="12700">
            <a:solidFill>
              <a:schemeClr val="accent4"/>
            </a:solidFill>
            <a:prstDash val="solid"/>
          </a:ln>
        </p:spPr>
      </p:sp>
      <p:sp>
        <p:nvSpPr>
          <p:cNvPr id="18" name="Text 15"/>
          <p:cNvSpPr txBox="1"/>
          <p:nvPr/>
        </p:nvSpPr>
        <p:spPr>
          <a:xfrm>
            <a:off x="9893808" y="2194560"/>
            <a:ext cx="1920240" cy="274320"/>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PENDIENTE</a:t>
            </a:r>
            <a:endParaRPr lang="en-US" sz="1100" dirty="0"/>
          </a:p>
        </p:txBody>
      </p:sp>
      <p:sp>
        <p:nvSpPr>
          <p:cNvPr id="19" name="Text 16"/>
          <p:cNvSpPr txBox="1"/>
          <p:nvPr/>
        </p:nvSpPr>
        <p:spPr>
          <a:xfrm>
            <a:off x="9893808" y="2606040"/>
            <a:ext cx="1920240" cy="26517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No hay cifra de crecimiento 2027 en las fuentes consultadas. No se rellena con una estimación.</a:t>
            </a:r>
            <a:endParaRPr lang="en-US" sz="1500" dirty="0"/>
          </a:p>
        </p:txBody>
      </p:sp>
      <p:sp>
        <p:nvSpPr>
          <p:cNvPr id="20" name="Text 17"/>
          <p:cNvSpPr txBox="1"/>
          <p:nvPr/>
        </p:nvSpPr>
        <p:spPr>
          <a:xfrm>
            <a:off x="548640" y="5989320"/>
            <a:ext cx="11091672" cy="411480"/>
          </a:xfrm>
          <a:prstGeom prst="rect">
            <a:avLst/>
          </a:prstGeom>
          <a:noFill/>
          <a:ln/>
        </p:spPr>
        <p:txBody>
          <a:bodyPr wrap="square" lIns="0" tIns="0" rIns="0" bIns="0" rtlCol="0" anchor="t"/>
          <a:lstStyle/>
          <a:p>
            <a:pPr indent="0" marL="0">
              <a:buNone/>
            </a:pPr>
            <a:r>
              <a:rPr lang="en-US" sz="1000" dirty="0">
                <a:solidFill>
                  <a:schemeClr val="accent4"/>
                </a:solidFill>
                <a:latin typeface="Calibri" pitchFamily="34" charset="0"/>
                <a:ea typeface="Calibri" pitchFamily="34" charset="-122"/>
                <a:cs typeface="Calibri" pitchFamily="34" charset="-120"/>
              </a:rPr>
              <a:t>Fuentes: Comecarne, Compendio 2026, feb-2026 (comecarne.org/compendio26; fecha exacta no confirmada). USDA FAS GAIN, Mexico Livestock and Products Semi-annual, feb-2026. USDA GAIN Poultry Annual MX2025-0045. Presidencia/Plan México, 15-ene-2026. Reporte Anual 2024 de Bafar.</a:t>
            </a:r>
            <a:endParaRPr lang="en-US" sz="10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Experiencia ganada que sirve de origen para cada grupo</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1234440"/>
                <a:gridCol w="4846320"/>
                <a:gridCol w="1005840"/>
                <a:gridCol w="914400"/>
                <a:gridCol w="1737360"/>
                <a:gridCol w="1353312"/>
              </a:tblGrid>
              <a:tr h="0">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Grupo</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Oportunidad ganada (nomenclatura completa del CRM)</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N.º CRM</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Año de cierre</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Potencial anual registrado, MXN</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Familia</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tx1"/>
                    </a:solidFill>
                  </a:tcPr>
                </a:tc>
              </a:tr>
              <a:tr h="0">
                <a:tc>
                  <a:txBody>
                    <a:bodyPr/>
                    <a:lstStyle/>
                    <a:p>
                      <a:pPr indent="0" marL="0">
                        <a:buNone/>
                      </a:pPr>
                      <a:r>
                        <a:rPr lang="en-US" sz="1100" b="1" dirty="0">
                          <a:solidFill>
                            <a:schemeClr val="tx1"/>
                          </a:solidFill>
                          <a:latin typeface="Calibri" pitchFamily="34" charset="0"/>
                          <a:ea typeface="Calibri" pitchFamily="34" charset="-122"/>
                          <a:cs typeface="Calibri" pitchFamily="34" charset="-120"/>
                        </a:rPr>
                        <a:t>SuKarne</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3.1 SuKarne Lucero - Planta TIF 645 - Durango FP-HYDRAULICS-653517</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653517</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2024</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412,664.84</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FP-HYDRAULICS</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100" b="1" dirty="0">
                          <a:solidFill>
                            <a:schemeClr val="tx1"/>
                          </a:solidFill>
                          <a:latin typeface="Calibri" pitchFamily="34" charset="0"/>
                          <a:ea typeface="Calibri" pitchFamily="34" charset="-122"/>
                          <a:cs typeface="Calibri" pitchFamily="34" charset="-120"/>
                        </a:rPr>
                        <a:t>SuKarne</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7.1 HID MXT Ganaderia Integral Monarca Su Karne Vista Hermosa, - Ryasa Morelia - 717533</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717533</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2024</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257,915.55</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FP-HYDRAULICS</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100" b="1" dirty="0">
                          <a:solidFill>
                            <a:schemeClr val="tx1"/>
                          </a:solidFill>
                          <a:latin typeface="Calibri" pitchFamily="34" charset="0"/>
                          <a:ea typeface="Calibri" pitchFamily="34" charset="-122"/>
                          <a:cs typeface="Calibri" pitchFamily="34" charset="-120"/>
                        </a:rPr>
                        <a:t>SuKarne</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7.1 PCC SuKarne Lucero - Planta TIF 645 - Durango PT-PU BELTS-574398</a:t>
                      </a:r>
                      <a:endParaRPr lang="en-US" sz="1100" dirty="0">
                        <a:latin typeface="Calibri" charset="0"/>
                        <a:ea typeface="Calibri" charset="0"/>
                        <a:cs typeface="Calibri" charset="0"/>
                      </a:endParaRPr>
                    </a:p>
                    <a:p>
                      <a:pPr indent="0" marL="0">
                        <a:buNone/>
                      </a:pPr>
                      <a:r>
                        <a:rPr lang="en-US" sz="1100" dirty="0">
                          <a:solidFill>
                            <a:schemeClr val="tx1"/>
                          </a:solidFill>
                          <a:latin typeface="Calibri" pitchFamily="34" charset="0"/>
                          <a:ea typeface="Calibri" pitchFamily="34" charset="-122"/>
                          <a:cs typeface="Calibri" pitchFamily="34" charset="-120"/>
                        </a:rPr>
                        <a:t>7.1 V-B SuKarne Lucero - Planta TIF 645 - Durango PT-V-BELTS-656640</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574398</a:t>
                      </a:r>
                      <a:endParaRPr lang="en-US" sz="1100" dirty="0">
                        <a:latin typeface="Calibri" charset="0"/>
                        <a:ea typeface="Calibri" charset="0"/>
                        <a:cs typeface="Calibri" charset="0"/>
                      </a:endParaRPr>
                    </a:p>
                    <a:p>
                      <a:pPr indent="0" marL="0">
                        <a:buNone/>
                      </a:pPr>
                      <a:r>
                        <a:rPr lang="en-US" sz="1100" dirty="0">
                          <a:solidFill>
                            <a:schemeClr val="tx1"/>
                          </a:solidFill>
                          <a:latin typeface="Calibri" pitchFamily="34" charset="0"/>
                          <a:ea typeface="Calibri" pitchFamily="34" charset="-122"/>
                          <a:cs typeface="Calibri" pitchFamily="34" charset="-120"/>
                        </a:rPr>
                        <a:t>656640</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2022</a:t>
                      </a:r>
                      <a:endParaRPr lang="en-US" sz="1100" dirty="0">
                        <a:latin typeface="Calibri" charset="0"/>
                        <a:ea typeface="Calibri" charset="0"/>
                        <a:cs typeface="Calibri" charset="0"/>
                      </a:endParaRPr>
                    </a:p>
                    <a:p>
                      <a:pPr indent="0" marL="0">
                        <a:buNone/>
                      </a:pPr>
                      <a:r>
                        <a:rPr lang="en-US" sz="1100" dirty="0">
                          <a:solidFill>
                            <a:schemeClr val="tx1"/>
                          </a:solidFill>
                          <a:latin typeface="Calibri" pitchFamily="34" charset="0"/>
                          <a:ea typeface="Calibri" pitchFamily="34" charset="-122"/>
                          <a:cs typeface="Calibri" pitchFamily="34" charset="-120"/>
                        </a:rPr>
                        <a:t>2024</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262,738.95</a:t>
                      </a:r>
                      <a:endParaRPr lang="en-US" sz="1100" dirty="0">
                        <a:latin typeface="Calibri" charset="0"/>
                        <a:ea typeface="Calibri" charset="0"/>
                        <a:cs typeface="Calibri" charset="0"/>
                      </a:endParaRPr>
                    </a:p>
                    <a:p>
                      <a:pPr indent="0" marL="0">
                        <a:buNone/>
                      </a:pPr>
                      <a:r>
                        <a:rPr lang="en-US" sz="1100" dirty="0">
                          <a:solidFill>
                            <a:schemeClr val="tx1"/>
                          </a:solidFill>
                          <a:latin typeface="Calibri" pitchFamily="34" charset="0"/>
                          <a:ea typeface="Calibri" pitchFamily="34" charset="-122"/>
                          <a:cs typeface="Calibri" pitchFamily="34" charset="-120"/>
                        </a:rPr>
                        <a:t>309,498.58</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PT-PU BELTS</a:t>
                      </a:r>
                      <a:endParaRPr lang="en-US" sz="1100" dirty="0">
                        <a:latin typeface="Calibri" charset="0"/>
                        <a:ea typeface="Calibri" charset="0"/>
                        <a:cs typeface="Calibri" charset="0"/>
                      </a:endParaRPr>
                    </a:p>
                    <a:p>
                      <a:pPr indent="0" marL="0">
                        <a:buNone/>
                      </a:pPr>
                      <a:r>
                        <a:rPr lang="en-US" sz="1100" dirty="0">
                          <a:solidFill>
                            <a:schemeClr val="tx1"/>
                          </a:solidFill>
                          <a:latin typeface="Calibri" pitchFamily="34" charset="0"/>
                          <a:ea typeface="Calibri" pitchFamily="34" charset="-122"/>
                          <a:cs typeface="Calibri" pitchFamily="34" charset="-120"/>
                        </a:rPr>
                        <a:t>PT-V-BELTS</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100" b="1" dirty="0">
                          <a:solidFill>
                            <a:schemeClr val="tx1"/>
                          </a:solidFill>
                          <a:latin typeface="Calibri" pitchFamily="34" charset="0"/>
                          <a:ea typeface="Calibri" pitchFamily="34" charset="-122"/>
                          <a:cs typeface="Calibri" pitchFamily="34" charset="-120"/>
                        </a:rPr>
                        <a:t>Bachoco</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7.1 V-Belts Bachoco, S.A. de C.V. - Planta procesadora de aves Guanajuato - Guanajuato PT-V-BELTS-643201</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643201</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2023</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538,004.45</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PT-V-BELTS</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100" b="1" dirty="0">
                          <a:solidFill>
                            <a:schemeClr val="tx1"/>
                          </a:solidFill>
                          <a:latin typeface="Calibri" pitchFamily="34" charset="0"/>
                          <a:ea typeface="Calibri" pitchFamily="34" charset="-122"/>
                          <a:cs typeface="Calibri" pitchFamily="34" charset="-120"/>
                        </a:rPr>
                        <a:t>Pilgrim's Pride</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7.1- TPU-Pilgrims Pride Gomez Palacio -Rybalsa-Torreón</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744810</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2024</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206,332.51</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PT-PU BELTS</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100" b="1" dirty="0">
                          <a:solidFill>
                            <a:schemeClr val="tx1"/>
                          </a:solidFill>
                          <a:latin typeface="Calibri" pitchFamily="34" charset="0"/>
                          <a:ea typeface="Calibri" pitchFamily="34" charset="-122"/>
                          <a:cs typeface="Calibri" pitchFamily="34" charset="-120"/>
                        </a:rPr>
                        <a:t>Bafar</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Sin caso propio. Caso espejo de Qualtia: 2.2 QUALTIA ALIMENTOS MANGUERA Y INDS, E HIDRAULICA BANDAS MECTROL_</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O-00244438</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2021</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306,528.89</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PENDIENTE</a:t>
                      </a:r>
                      <a:endParaRPr lang="en-US" sz="1100" dirty="0">
                        <a:latin typeface="Calibri" charset="0"/>
                        <a:ea typeface="Calibri" charset="0"/>
                        <a:cs typeface="Calibri" charset="0"/>
                      </a:endParaRPr>
                    </a:p>
                  </a:txBody>
                  <a:tcPr marL="73152" marR="73152"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4160520"/>
            <a:ext cx="11091672" cy="17373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Montos: potencial anual registrado en el CRM, no facturación. Ryasa y Rybalsa son distribuidores: canal, no usuario final.</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La nomenclatura da solo la familia. Máquina, número de parte e intervalo de reemplazo: PENDIENTE. Si la banda TPU de Pilgrim's es de transmisión o de transporte, cuál de los TIF A-88, A-14 y 794 de Gómez Palacio es el origen de Pilgrim's, y el domicilio del origen de Bachoco: PENDIENTE.</a:t>
            </a:r>
            <a:endParaRPr lang="en-US" sz="1400" dirty="0"/>
          </a:p>
          <a:p>
            <a:pPr marL="342900" indent="-342900">
              <a:buSzPct val="100000"/>
              <a:buChar char="•"/>
            </a:pPr>
            <a:r>
              <a:rPr lang="en-US" sz="1400" dirty="0">
                <a:solidFill>
                  <a:schemeClr val="tx1"/>
                </a:solidFill>
                <a:latin typeface="Calibri" pitchFamily="34" charset="0"/>
                <a:ea typeface="Calibri" pitchFamily="34" charset="-122"/>
                <a:cs typeface="Calibri" pitchFamily="34" charset="-120"/>
              </a:rPr>
              <a:t>SuKarne: las bandas de Lucero sostienen la réplica en TIF 718; la manguera hidráulica ligada a sacrificio, rendimiento y taller no aplica allí (circuitos en andenes y frío: por validar). Bafar: réplica de perfil de negocio, evidencia más débil.</a:t>
            </a:r>
            <a:endParaRPr lang="en-US" sz="1400" dirty="0"/>
          </a:p>
        </p:txBody>
      </p:sp>
      <p:sp>
        <p:nvSpPr>
          <p:cNvPr id="5" name="Text 2"/>
          <p:cNvSpPr txBox="1"/>
          <p:nvPr/>
        </p:nvSpPr>
        <p:spPr>
          <a:xfrm>
            <a:off x="548640" y="5989320"/>
            <a:ext cx="11091672" cy="411480"/>
          </a:xfrm>
          <a:prstGeom prst="rect">
            <a:avLst/>
          </a:prstGeom>
          <a:noFill/>
          <a:ln/>
        </p:spPr>
        <p:txBody>
          <a:bodyPr wrap="square" lIns="0" tIns="0" rIns="0" bIns="0" rtlCol="0" anchor="t"/>
          <a:lstStyle/>
          <a:p>
            <a:pPr indent="0" marL="0">
              <a:buNone/>
            </a:pPr>
            <a:r>
              <a:rPr lang="en-US" sz="1000" dirty="0">
                <a:solidFill>
                  <a:schemeClr val="accent4"/>
                </a:solidFill>
                <a:latin typeface="Calibri" pitchFamily="34" charset="0"/>
                <a:ea typeface="Calibri" pitchFamily="34" charset="-122"/>
                <a:cs typeface="Calibri" pitchFamily="34" charset="-120"/>
              </a:rPr>
              <a:t>Fuente: CRM Base_Simbiosis.xlsx (hoja DETALLE, Decisión = Elegible, actualización máxima 12-ago-2026); nomenclaturas verificadas contra el archivo el 14-oct-2026. Responsables históricos del CRM: confirmar el vigente antes de asignar trabajo.</a:t>
            </a:r>
            <a:endParaRPr lang="en-US" sz="10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Cuatro grupos, cuatro situaciones comerciales distintas</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1920240"/>
                <a:gridCol w="3017520"/>
                <a:gridCol w="3291840"/>
                <a:gridCol w="2862072"/>
              </a:tblGrid>
              <a:tr h="347472">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Grupo</a:t>
                      </a:r>
                      <a:endParaRPr lang="en-US" sz="1200" dirty="0">
                        <a:latin typeface="Calibri" charset="0"/>
                        <a:ea typeface="Calibri" charset="0"/>
                        <a:cs typeface="Calibri" charset="0"/>
                      </a:endParaRPr>
                    </a:p>
                  </a:txBody>
                  <a:tcPr marL="91440" marR="91440" marT="45720" marB="45720"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Plantas documentadas</a:t>
                      </a:r>
                      <a:endParaRPr lang="en-US" sz="1200" dirty="0">
                        <a:latin typeface="Calibri" charset="0"/>
                        <a:ea typeface="Calibri" charset="0"/>
                        <a:cs typeface="Calibri" charset="0"/>
                      </a:endParaRPr>
                    </a:p>
                  </a:txBody>
                  <a:tcPr marL="91440" marR="91440" marT="45720" marB="45720"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Historial en el CRM (solo Elegible)</a:t>
                      </a:r>
                      <a:endParaRPr lang="en-US" sz="1200" dirty="0">
                        <a:latin typeface="Calibri" charset="0"/>
                        <a:ea typeface="Calibri" charset="0"/>
                        <a:cs typeface="Calibri" charset="0"/>
                      </a:endParaRPr>
                    </a:p>
                  </a:txBody>
                  <a:tcPr marL="91440" marR="91440" marT="45720" marB="45720"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Contexto y alertas</a:t>
                      </a:r>
                      <a:endParaRPr lang="en-US" sz="1200" dirty="0">
                        <a:latin typeface="Calibri" charset="0"/>
                        <a:ea typeface="Calibri" charset="0"/>
                        <a:cs typeface="Calibri" charset="0"/>
                      </a:endParaRPr>
                    </a:p>
                  </a:txBody>
                  <a:tcPr marL="91440" marR="91440" marT="45720" marB="45720"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tx1"/>
                    </a:solidFill>
                  </a:tcPr>
                </a:tc>
              </a:tr>
              <a:tr h="1097280">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SuKarne</a:t>
                      </a:r>
                      <a:endParaRPr lang="en-US" sz="1200" dirty="0">
                        <a:latin typeface="Calibri" charset="0"/>
                        <a:ea typeface="Calibri" charset="0"/>
                        <a:cs typeface="Calibri" charset="0"/>
                      </a:endParaRPr>
                    </a:p>
                    <a:p>
                      <a:pPr indent="0" marL="0">
                        <a:buNone/>
                      </a:pPr>
                      <a:r>
                        <a:rPr lang="en-US" sz="1100" b="1" dirty="0">
                          <a:solidFill>
                            <a:schemeClr val="bg1"/>
                          </a:solidFill>
                          <a:latin typeface="Calibri" pitchFamily="34" charset="0"/>
                          <a:ea typeface="Calibri" pitchFamily="34" charset="-122"/>
                          <a:cs typeface="Calibri" pitchFamily="34" charset="-120"/>
                        </a:rPr>
                        <a:t>CON HISTORIAL GANADO</a:t>
                      </a:r>
                      <a:endParaRPr lang="en-US" sz="1200" dirty="0">
                        <a:latin typeface="Calibri" charset="0"/>
                        <a:ea typeface="Calibri" charset="0"/>
                        <a:cs typeface="Calibri" charset="0"/>
                      </a:endParaRPr>
                    </a:p>
                  </a:txBody>
                  <a:tcPr marL="91440" marR="91440" marT="45720" marB="45720"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accent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10 TIF en 9 domicilios (431 y 561 comparten; el 630 es almacén frigorífico). Varios están a nombre de otras razones sociales del grupo (Vizur, S.K., y Ganadería y Rastro de la Laguna para el 645) y se atribuyen por sukarne.com.</a:t>
                      </a:r>
                      <a:endParaRPr lang="en-US" sz="1200" dirty="0">
                        <a:latin typeface="Calibri" charset="0"/>
                        <a:ea typeface="Calibri" charset="0"/>
                        <a:cs typeface="Calibri" charset="0"/>
                      </a:endParaRPr>
                    </a:p>
                  </a:txBody>
                  <a:tcPr marL="91440" marR="91440" marT="45720" marB="45720"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10 ganadas; suma de potenciales anuales registrados: 2.68 millones MXN. Monarca («TIF 43» en el CRM, «431» en SENASICA y sukarne.com) y Ganadería Integral SK se atribuyen por nombre: sin ellas, 8 ganadas y 2.23 millones.</a:t>
                      </a:r>
                      <a:endParaRPr lang="en-US" sz="1200" dirty="0">
                        <a:latin typeface="Calibri" charset="0"/>
                        <a:ea typeface="Calibri" charset="0"/>
                        <a:cs typeface="Calibri" charset="0"/>
                      </a:endParaRPr>
                    </a:p>
                  </a:txBody>
                  <a:tcPr marL="91440" marR="91440" marT="45720" marB="45720"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Posible venta del grupo por más de 2,000 millones de dólares (El Financiero, 4-ago-2026): proceso en curso, resultado ND.</a:t>
                      </a:r>
                      <a:endParaRPr lang="en-US" sz="1200" dirty="0">
                        <a:latin typeface="Calibri" charset="0"/>
                        <a:ea typeface="Calibri" charset="0"/>
                        <a:cs typeface="Calibri" charset="0"/>
                      </a:endParaRPr>
                    </a:p>
                  </a:txBody>
                  <a:tcPr marL="91440" marR="91440" marT="45720" marB="45720"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868680">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Bachoco</a:t>
                      </a:r>
                      <a:endParaRPr lang="en-US" sz="1200" dirty="0">
                        <a:latin typeface="Calibri" charset="0"/>
                        <a:ea typeface="Calibri" charset="0"/>
                        <a:cs typeface="Calibri" charset="0"/>
                      </a:endParaRPr>
                    </a:p>
                    <a:p>
                      <a:pPr indent="0" marL="0">
                        <a:buNone/>
                      </a:pPr>
                      <a:r>
                        <a:rPr lang="en-US" sz="1100" b="1" dirty="0">
                          <a:solidFill>
                            <a:schemeClr val="bg1"/>
                          </a:solidFill>
                          <a:latin typeface="Calibri" pitchFamily="34" charset="0"/>
                          <a:ea typeface="Calibri" pitchFamily="34" charset="-122"/>
                          <a:cs typeface="Calibri" pitchFamily="34" charset="-120"/>
                        </a:rPr>
                        <a:t>ATENDIDO POR OTRAS REGIONES</a:t>
                      </a:r>
                      <a:endParaRPr lang="en-US" sz="1200" dirty="0">
                        <a:latin typeface="Calibri" charset="0"/>
                        <a:ea typeface="Calibri" charset="0"/>
                        <a:cs typeface="Calibri" charset="0"/>
                      </a:endParaRPr>
                    </a:p>
                  </a:txBody>
                  <a:tcPr marL="91440" marR="91440" marT="45720" marB="45720"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accent3"/>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64 plantas en 10 complejos (Informe Anual 2024).</a:t>
                      </a:r>
                      <a:endParaRPr lang="en-US" sz="1200" dirty="0">
                        <a:latin typeface="Calibri" charset="0"/>
                        <a:ea typeface="Calibri" charset="0"/>
                        <a:cs typeface="Calibri" charset="0"/>
                      </a:endParaRPr>
                    </a:p>
                  </a:txBody>
                  <a:tcPr marL="91440" marR="91440" marT="45720" marB="45720"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31 ganadas; suma 10.59 millones MXN. Lagos de Moreno: «7.1 PCC C2B-Bachoco Lagos- Bamac Guadalajara», perdida en 2020, motivo no disponible.</a:t>
                      </a:r>
                      <a:endParaRPr lang="en-US" sz="1200" dirty="0">
                        <a:latin typeface="Calibri" charset="0"/>
                        <a:ea typeface="Calibri" charset="0"/>
                        <a:cs typeface="Calibri" charset="0"/>
                      </a:endParaRPr>
                    </a:p>
                  </a:txBody>
                  <a:tcPr marL="91440" marR="91440" marT="45720" marB="45720"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Marcos: compañeros de otras regiones ya atienden la cuenta, pero sigue siendo buen prospecto. Confirmar si incluye la planta de Lagos.</a:t>
                      </a:r>
                      <a:endParaRPr lang="en-US" sz="1200" dirty="0">
                        <a:latin typeface="Calibri" charset="0"/>
                        <a:ea typeface="Calibri" charset="0"/>
                        <a:cs typeface="Calibri" charset="0"/>
                      </a:endParaRPr>
                    </a:p>
                  </a:txBody>
                  <a:tcPr marL="91440" marR="91440" marT="45720" marB="45720"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1005840">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Pilgrim's Pride</a:t>
                      </a:r>
                      <a:endParaRPr lang="en-US" sz="1200" dirty="0">
                        <a:latin typeface="Calibri" charset="0"/>
                        <a:ea typeface="Calibri" charset="0"/>
                        <a:cs typeface="Calibri" charset="0"/>
                      </a:endParaRPr>
                    </a:p>
                    <a:p>
                      <a:pPr indent="0" marL="0">
                        <a:buNone/>
                      </a:pPr>
                      <a:r>
                        <a:rPr lang="en-US" sz="1100" b="1" dirty="0">
                          <a:solidFill>
                            <a:schemeClr val="bg1"/>
                          </a:solidFill>
                          <a:latin typeface="Calibri" pitchFamily="34" charset="0"/>
                          <a:ea typeface="Calibri" pitchFamily="34" charset="-122"/>
                          <a:cs typeface="Calibri" pitchFamily="34" charset="-120"/>
                        </a:rPr>
                        <a:t>CON HISTORIAL GANADO</a:t>
                      </a:r>
                      <a:endParaRPr lang="en-US" sz="1200" dirty="0">
                        <a:latin typeface="Calibri" charset="0"/>
                        <a:ea typeface="Calibri" charset="0"/>
                        <a:cs typeface="Calibri" charset="0"/>
                      </a:endParaRPr>
                    </a:p>
                  </a:txBody>
                  <a:tcPr marL="91440" marR="91440" marT="45720" marB="45720"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accent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6 TIF en el padrón: 3 en Gómez Palacio, y 1 en Hidalgo, Querétaro y San Luis Potosí.</a:t>
                      </a:r>
                      <a:endParaRPr lang="en-US" sz="1200" dirty="0">
                        <a:latin typeface="Calibri" charset="0"/>
                        <a:ea typeface="Calibri" charset="0"/>
                        <a:cs typeface="Calibri" charset="0"/>
                      </a:endParaRPr>
                    </a:p>
                  </a:txBody>
                  <a:tcPr marL="91440" marR="91440" marT="45720" marB="45720"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10 ganadas; suma 2.15 millones MXN, de los cuales 1.89 millones en claves de Durango. Hidalgo y Estado de México: sin registros.</a:t>
                      </a:r>
                      <a:endParaRPr lang="en-US" sz="1200" dirty="0">
                        <a:latin typeface="Calibri" charset="0"/>
                        <a:ea typeface="Calibri" charset="0"/>
                        <a:cs typeface="Calibri" charset="0"/>
                      </a:endParaRPr>
                    </a:p>
                  </a:txBody>
                  <a:tcPr marL="91440" marR="91440" marT="45720" marB="45720"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Inversión anunciada de 1,300 mdd (2026–2030): expansión de +38% de capacidad; solo 150 mdd del centro del país son modernización. No es demanda actual.</a:t>
                      </a:r>
                      <a:endParaRPr lang="en-US" sz="1200" dirty="0">
                        <a:latin typeface="Calibri" charset="0"/>
                        <a:ea typeface="Calibri" charset="0"/>
                        <a:cs typeface="Calibri" charset="0"/>
                      </a:endParaRPr>
                    </a:p>
                  </a:txBody>
                  <a:tcPr marL="91440" marR="91440" marT="45720" marB="45720"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1005840">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Grupo Bafar</a:t>
                      </a:r>
                      <a:endParaRPr lang="en-US" sz="1200" dirty="0">
                        <a:latin typeface="Calibri" charset="0"/>
                        <a:ea typeface="Calibri" charset="0"/>
                        <a:cs typeface="Calibri" charset="0"/>
                      </a:endParaRPr>
                    </a:p>
                    <a:p>
                      <a:pPr indent="0" marL="0">
                        <a:buNone/>
                      </a:pPr>
                      <a:r>
                        <a:rPr lang="en-US" sz="1100" b="1" dirty="0">
                          <a:solidFill>
                            <a:schemeClr val="bg1"/>
                          </a:solidFill>
                          <a:latin typeface="Calibri" pitchFamily="34" charset="0"/>
                          <a:ea typeface="Calibri" pitchFamily="34" charset="-122"/>
                          <a:cs typeface="Calibri" pitchFamily="34" charset="-120"/>
                        </a:rPr>
                        <a:t>0 GANADAS EN EL CRM</a:t>
                      </a:r>
                      <a:endParaRPr lang="en-US" sz="1200" dirty="0">
                        <a:latin typeface="Calibri" charset="0"/>
                        <a:ea typeface="Calibri" charset="0"/>
                        <a:cs typeface="Calibri" charset="0"/>
                      </a:endParaRPr>
                    </a:p>
                  </a:txBody>
                  <a:tcPr marL="91440" marR="91440" marT="45720" marB="45720"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accent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4 complejos declarados: Chihuahua, La Piedad, Toluca y Gómez Palacio (Reporte Anual 2024). Compra la carne a terceros: no sacrifica.</a:t>
                      </a:r>
                      <a:endParaRPr lang="en-US" sz="1200" dirty="0">
                        <a:latin typeface="Calibri" charset="0"/>
                        <a:ea typeface="Calibri" charset="0"/>
                        <a:cs typeface="Calibri" charset="0"/>
                      </a:endParaRPr>
                    </a:p>
                  </a:txBody>
                  <a:tcPr marL="91440" marR="91440" marT="45720" marB="45720"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0 ganadas. Búsqueda «Bafar» y «Strattega» (corte 12-ago-2026): solo 2 perdidas en 2023 (PT-PU BELTS, motivo no disponible). Subsidiarias con otro nombre: PENDIENTE.</a:t>
                      </a:r>
                      <a:endParaRPr lang="en-US" sz="1200" dirty="0">
                        <a:latin typeface="Calibri" charset="0"/>
                        <a:ea typeface="Calibri" charset="0"/>
                        <a:cs typeface="Calibri" charset="0"/>
                      </a:endParaRPr>
                    </a:p>
                  </a:txBody>
                  <a:tcPr marL="91440" marR="91440" marT="45720" marB="45720"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Ventas netas +14.8% en 2025 y +17.1% en 2T-2026, incluye tiendas propias. Marcos dice que Gates casi no tiene presencia en La Piedad.</a:t>
                      </a:r>
                      <a:endParaRPr lang="en-US" sz="1200" dirty="0">
                        <a:latin typeface="Calibri" charset="0"/>
                        <a:ea typeface="Calibri" charset="0"/>
                        <a:cs typeface="Calibri" charset="0"/>
                      </a:endParaRPr>
                    </a:p>
                  </a:txBody>
                  <a:tcPr marL="91440" marR="91440" marT="45720" marB="45720"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989320"/>
            <a:ext cx="11091672" cy="411480"/>
          </a:xfrm>
          <a:prstGeom prst="rect">
            <a:avLst/>
          </a:prstGeom>
          <a:noFill/>
          <a:ln/>
        </p:spPr>
        <p:txBody>
          <a:bodyPr wrap="square" lIns="0" tIns="0" rIns="0" bIns="0" rtlCol="0" anchor="t"/>
          <a:lstStyle/>
          <a:p>
            <a:pPr indent="0" marL="0">
              <a:buNone/>
            </a:pPr>
            <a:r>
              <a:rPr lang="en-US" sz="1000" dirty="0">
                <a:solidFill>
                  <a:schemeClr val="accent4"/>
                </a:solidFill>
                <a:latin typeface="Calibri" pitchFamily="34" charset="0"/>
                <a:ea typeface="Calibri" pitchFamily="34" charset="-122"/>
                <a:cs typeface="Calibri" pitchFamily="34" charset="-120"/>
              </a:rPr>
              <a:t>Sumas = potencial anual registrado de ganadas de varios años (2019–2026), no monto anual ni facturación; pueden repetir importes. Fuera de Elegible: 13 ganadas más de Bachoco y 3 de SuKarne. Declaraciones de Marcos (14-oct-2026): «atendido por otras regiones» y las oportunidades de La Piedad. Selección de los cuatro grupos: indicada por Marcos como la de la junta con Ricardo; sin acta, PENDIENTE de confirmar. No es un ranking de mercado.</a:t>
            </a:r>
            <a:endParaRPr lang="en-US" sz="10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Siete plantas por estado y qué tan firme es cada réplica</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1672" cy="914400"/>
        </p:xfrm>
        <a:graphic>
          <a:graphicData uri="http://schemas.openxmlformats.org/drawingml/2006/table">
            <a:tbl>
              <a:tblPr/>
              <a:tblGrid>
                <a:gridCol w="1188720"/>
                <a:gridCol w="3154680"/>
                <a:gridCol w="1188720"/>
                <a:gridCol w="5559552"/>
              </a:tblGrid>
              <a:tr h="0">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Estado</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Planta</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Réplica</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Qué falta validar o decidir</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tx1"/>
                    </a:solidFill>
                  </a:tcPr>
                </a:tc>
              </a:tr>
              <a:tr h="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Michoacán</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Bafar · Complejo productivo La Piedad (incluye el Complejo Agroindustrial de 650 mdd, en obra según el Reporte Anual 2024; avance actual ND)</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SIN CASO PROPIO</a:t>
                      </a:r>
                      <a:endParaRPr lang="en-US" sz="11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Marcos reporta «3.1 MI Grupo bafar, sab de cv - La piedad FP-HYDRAULICS-813492» (potencial anual según Marcos: 650,220 MXN) y «7.1 PTI Grupo bafar, sab de cv - La piedad- Ryasa Morelia PT-IND SYNCH BELTS-814010» (265,000 MXN según Marcos; Ryasa es canal); no están en el CRM del 12-ago. Domicilio y TIF: ND (¿TIF 126 de Strattega?). Lo que opera puede tener reposición (HIPÓTESIS); lo que está en obra no es demanda actual.</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Jalisco</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Bachoco · Planta Procesadora de Aves, División Occidente, Lagos de Moreno</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PARCIAL</a:t>
                      </a:r>
                      <a:endParaRPr lang="en-US" sz="11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accent3"/>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Oportunidad perdida «7.1 PCC C2B-Bachoco Lagos- Bamac Guadalajara» (O-00218689, 2020, 834,766.20 MXN registrado; Bamac es canal; motivo no disponible). Sin áreas verificadas en destino ni en origen; sube a SÍ si es el TIF A-183 (la dirección difiere: km 12.5 contra 13.5, otro CP y municipio) y se confirman domicilio y áreas del origen Guanajuato.</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Hidalgo</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Pilgrim's · Tepeji del Río (¿TIF A-239 «Ocampo»?)</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SÍ, CONDICIONADO</a:t>
                      </a:r>
                      <a:endParaRPr lang="en-US" sz="11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accent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Confirmar con el domicilio que son el mismo sitio; si no, baja a PARCIAL. El TIF A-239 declara embutidos y pasta que el origen no tiene: aplicación nueva, no réplica.</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Estado de México</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Pilgrim's · Toluca</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PARCIAL</a:t>
                      </a:r>
                      <a:endParaRPr lang="en-US" sz="11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accent3"/>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Solo aparece en un directorio telefónico y no está en el padrón TIF. Confirmar que existe y si sacrifica.</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Estado de México</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Bafar · Lerma de Villada (¿mismo sitio que Complejo Toluca?)</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PARCIAL</a:t>
                      </a:r>
                      <a:endParaRPr lang="en-US" sz="11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accent3"/>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Posible duplicado: usar el Complejo Toluca (Reporte Anual 2024) como referencia principal. No contar dos plantas hasta aclarar.</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Tlaxcala</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SuKarne · TIF 718 Villa de las Flores (SENASICA: Atlangatepec; Expansión 2023: Tlaxco)</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PARCIAL</a:t>
                      </a:r>
                      <a:endParaRPr lang="en-US" sz="11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accent3"/>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Corte, deshuese, inyección porcina y frío. Capacidad reportada: 120 t/semana (Expansión, 12-abr-2023; vigencia ND; la meta de 840 no está confirmada). No proyectar el consumo del origen.</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Jalisco</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SuKarne · TIF 94 Zapopan</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accent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Planta de cocción sin sacrificio. Solo MRO genérico: sería prospección nueva, no réplica.</a:t>
                      </a:r>
                      <a:endParaRPr lang="en-US" sz="1200" dirty="0">
                        <a:latin typeface="Calibri" charset="0"/>
                        <a:ea typeface="Calibri" charset="0"/>
                        <a:cs typeface="Calibri" charset="0"/>
                      </a:endParaRPr>
                    </a:p>
                  </a:txBody>
                  <a:tcPr marL="73152" marR="73152"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989320"/>
            <a:ext cx="11091672" cy="411480"/>
          </a:xfrm>
          <a:prstGeom prst="rect">
            <a:avLst/>
          </a:prstGeom>
          <a:noFill/>
          <a:ln/>
        </p:spPr>
        <p:txBody>
          <a:bodyPr wrap="square" lIns="0" tIns="0" rIns="0" bIns="0" rtlCol="0" anchor="t"/>
          <a:lstStyle/>
          <a:p>
            <a:pPr indent="0" marL="0">
              <a:buNone/>
            </a:pPr>
            <a:r>
              <a:rPr lang="en-US" sz="1000" dirty="0">
                <a:solidFill>
                  <a:schemeClr val="accent4"/>
                </a:solidFill>
                <a:latin typeface="Calibri" pitchFamily="34" charset="0"/>
                <a:ea typeface="Calibri" pitchFamily="34" charset="-122"/>
                <a:cs typeface="Calibri" pitchFamily="34" charset="-120"/>
              </a:rPr>
              <a:t>Fuentes: Directorio TIF SENASICA, 7-sep-2026 · Reporte Anual 2024 de Bafar · Expansión, 12-abr-2023 · directorios comerciales para Tepeji, Toluca, Lerma y Lagos (apéndice) · CRM Base_Simbiosis. Todas las réplicas son HIPÓTESIS hasta visita. Oportunidades de La Piedad: datos tal como los dio Marcos el 14-oct-2026, sin verificar en el CRM.</a:t>
            </a:r>
            <a:endParaRPr lang="en-US" sz="10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Hallazgos adicionales y lo que falta antes de cerrar</a:t>
            </a:r>
            <a:endParaRPr lang="en-US" sz="2800" dirty="0"/>
          </a:p>
        </p:txBody>
      </p:sp>
      <p:sp>
        <p:nvSpPr>
          <p:cNvPr id="3" name="panel hallazgos"/>
          <p:cNvSpPr/>
          <p:nvPr/>
        </p:nvSpPr>
        <p:spPr>
          <a:xfrm>
            <a:off x="548640" y="1280160"/>
            <a:ext cx="5440680" cy="4617720"/>
          </a:xfrm>
          <a:prstGeom prst="rect">
            <a:avLst/>
          </a:prstGeom>
          <a:solidFill>
            <a:schemeClr val="bg2"/>
          </a:solidFill>
          <a:ln w="12700">
            <a:solidFill>
              <a:schemeClr val="bg2"/>
            </a:solidFill>
            <a:prstDash val="solid"/>
          </a:ln>
        </p:spPr>
      </p:sp>
      <p:sp>
        <p:nvSpPr>
          <p:cNvPr id="4" name="Text 2"/>
          <p:cNvSpPr txBox="1"/>
          <p:nvPr/>
        </p:nvSpPr>
        <p:spPr>
          <a:xfrm>
            <a:off x="731520" y="1417320"/>
            <a:ext cx="5074920" cy="4389120"/>
          </a:xfrm>
          <a:prstGeom prst="rect">
            <a:avLst/>
          </a:prstGeom>
          <a:noFill/>
          <a:ln/>
        </p:spPr>
        <p:txBody>
          <a:bodyPr wrap="square" lIns="0" tIns="0" rIns="0" bIns="0" rtlCol="0" anchor="t"/>
          <a:lstStyle/>
          <a:p>
            <a:pPr indent="0" marL="0">
              <a:spcAft>
                <a:spcPts val="800"/>
              </a:spcAft>
              <a:buNone/>
            </a:pPr>
            <a:r>
              <a:rPr lang="en-US" sz="1700" b="1" dirty="0">
                <a:solidFill>
                  <a:schemeClr val="tx1"/>
                </a:solidFill>
                <a:latin typeface="Calibri" pitchFamily="34" charset="0"/>
                <a:ea typeface="Calibri" pitchFamily="34" charset="-122"/>
                <a:cs typeface="Calibri" pitchFamily="34" charset="-120"/>
              </a:rPr>
              <a:t>Hallazgos adicionales (no reemplazan a los cuatro)</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Qualtia y Sigma: carnes frías. Qualtia: 4 TIF y 1 ganada en el CRM. Sigma: 15 TIF en 8 estados (padrón de sep-2026) y 7 ganadas en el CRM, solo bajo razón social Sigma (una de las 7 es una base de mantenimiento, no una planta); subsidiarias con otro nombre: PENDIENTE. Quedan documentados para ampliar si Ricardo lo decide.</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GAO Aluminio, Acatlán de Juárez, Jalisco: extrusión de aluminio (gaoaluminio.com, 14-oct-2026). Marcos reporta «7.1 HID EFG5K Grupo Occidente S.A. de C.V. Acatlan Jal - DBS Gdl» (DBS es canal) y muchas necesidades hidráulicas. N.º y monto: PENDIENTE; equipos y capacidad: ND. La nomenclatura coincide con la Cliente clave GRUPO OCCIDENTE S.A. DE C.V. ACATLAN JAL, con «7.1 HID MXT Grupo Occidente Acatlan - BRR Binasa -782913» perdida en 2025 (n.º 782913) y otra excluida por ser de distribución. Si GAO es esa cuenta (según Marcos; PENDIENTE), no es terreno virgen.</a:t>
            </a:r>
            <a:endParaRPr lang="en-US" sz="1400" dirty="0"/>
          </a:p>
          <a:p>
            <a:pPr marL="342900" indent="-342900">
              <a:buSzPct val="100000"/>
              <a:buChar char="•"/>
            </a:pPr>
            <a:r>
              <a:rPr lang="en-US" sz="1400" dirty="0">
                <a:solidFill>
                  <a:schemeClr val="tx1"/>
                </a:solidFill>
                <a:latin typeface="Calibri" pitchFamily="34" charset="0"/>
                <a:ea typeface="Calibri" pitchFamily="34" charset="-122"/>
                <a:cs typeface="Calibri" pitchFamily="34" charset="-120"/>
              </a:rPr>
              <a:t>GAO no es proteína animal: Ricardo decide si entra al programa como caso de campo nuevo.</a:t>
            </a:r>
            <a:endParaRPr lang="en-US" sz="1400" dirty="0"/>
          </a:p>
        </p:txBody>
      </p:sp>
      <p:sp>
        <p:nvSpPr>
          <p:cNvPr id="5" name="panel pendientes"/>
          <p:cNvSpPr/>
          <p:nvPr/>
        </p:nvSpPr>
        <p:spPr>
          <a:xfrm>
            <a:off x="6172200" y="1280160"/>
            <a:ext cx="5468112" cy="4617720"/>
          </a:xfrm>
          <a:prstGeom prst="rect">
            <a:avLst/>
          </a:prstGeom>
          <a:solidFill>
            <a:schemeClr val="bg2"/>
          </a:solidFill>
          <a:ln w="12700">
            <a:solidFill>
              <a:schemeClr val="bg2"/>
            </a:solidFill>
            <a:prstDash val="solid"/>
          </a:ln>
        </p:spPr>
      </p:sp>
      <p:sp>
        <p:nvSpPr>
          <p:cNvPr id="6" name="Text 4"/>
          <p:cNvSpPr txBox="1"/>
          <p:nvPr/>
        </p:nvSpPr>
        <p:spPr>
          <a:xfrm>
            <a:off x="6355080" y="1417320"/>
            <a:ext cx="5102352" cy="4389120"/>
          </a:xfrm>
          <a:prstGeom prst="rect">
            <a:avLst/>
          </a:prstGeom>
          <a:noFill/>
          <a:ln/>
        </p:spPr>
        <p:txBody>
          <a:bodyPr wrap="square" lIns="0" tIns="0" rIns="0" bIns="0" rtlCol="0" anchor="t"/>
          <a:lstStyle/>
          <a:p>
            <a:pPr indent="0" marL="0">
              <a:spcAft>
                <a:spcPts val="800"/>
              </a:spcAft>
              <a:buNone/>
            </a:pPr>
            <a:r>
              <a:rPr lang="en-US" sz="1700" b="1" dirty="0">
                <a:solidFill>
                  <a:schemeClr val="tx1"/>
                </a:solidFill>
                <a:latin typeface="Calibri" pitchFamily="34" charset="0"/>
                <a:ea typeface="Calibri" pitchFamily="34" charset="-122"/>
                <a:cs typeface="Calibri" pitchFamily="34" charset="-120"/>
              </a:rPr>
              <a:t>Pendientes</a:t>
            </a:r>
            <a:endParaRPr lang="en-US" sz="1500" dirty="0"/>
          </a:p>
          <a:p>
            <a:pPr marL="342900" indent="-3429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Pasar el número y el monto de la oportunidad de GAO, y confirmar que GAO es «Grupo Occidente» (la web no usa ese nombre).</a:t>
            </a:r>
            <a:endParaRPr lang="en-US" sz="1500" dirty="0"/>
          </a:p>
          <a:p>
            <a:pPr marL="342900" indent="-3429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Bachoco: confirmar con las otras regiones si atienden la planta de Lagos o solo el corporativo.</a:t>
            </a:r>
            <a:endParaRPr lang="en-US" sz="1500" dirty="0"/>
          </a:p>
          <a:p>
            <a:pPr marL="342900" indent="-3429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Bachoco Guanajuato: el responsable histórico figura inactivo; designar quién recupera el expediente.</a:t>
            </a:r>
            <a:endParaRPr lang="en-US" sz="1500" dirty="0"/>
          </a:p>
          <a:p>
            <a:pPr marL="342900" indent="-3429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Cerrar identidades: Tepeji = TIF A-239; Lagos = TIF A-183 (la dirección difiere); domicilio y áreas del origen Bachoco Guanajuato; Lerma = Toluca; TIF de La Piedad.</a:t>
            </a:r>
            <a:endParaRPr lang="en-US" sz="1500" dirty="0"/>
          </a:p>
          <a:p>
            <a:pPr marL="342900" indent="-3429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Buscar en el CRM las subsidiarias de Bafar con otro nombre, y confirmar quién lleva hoy la cuenta Grupo Occidente Acatlán.</a:t>
            </a:r>
            <a:endParaRPr lang="en-US" sz="1500" dirty="0"/>
          </a:p>
          <a:p>
            <a:pPr marL="342900" indent="-342900">
              <a:buSzPct val="100000"/>
              <a:buChar char="•"/>
            </a:pPr>
            <a:r>
              <a:rPr lang="en-US" sz="1500" dirty="0">
                <a:solidFill>
                  <a:schemeClr val="tx1"/>
                </a:solidFill>
                <a:latin typeface="Calibri" pitchFamily="34" charset="0"/>
                <a:ea typeface="Calibri" pitchFamily="34" charset="-122"/>
                <a:cs typeface="Calibri" pitchFamily="34" charset="-120"/>
              </a:rPr>
              <a:t>Verificar las oportunidades 813492 y 814010 en el CRM; pronóstico 2027; confirmar subsector 311 y Comecarne con el original.</a:t>
            </a:r>
            <a:endParaRPr lang="en-US" sz="1500" dirty="0"/>
          </a:p>
        </p:txBody>
      </p:sp>
      <p:sp>
        <p:nvSpPr>
          <p:cNvPr id="7" name="Text 5"/>
          <p:cNvSpPr txBox="1"/>
          <p:nvPr/>
        </p:nvSpPr>
        <p:spPr>
          <a:xfrm>
            <a:off x="548640" y="5989320"/>
            <a:ext cx="11091672" cy="411480"/>
          </a:xfrm>
          <a:prstGeom prst="rect">
            <a:avLst/>
          </a:prstGeom>
          <a:noFill/>
          <a:ln/>
        </p:spPr>
        <p:txBody>
          <a:bodyPr wrap="square" lIns="0" tIns="0" rIns="0" bIns="0" rtlCol="0" anchor="t"/>
          <a:lstStyle/>
          <a:p>
            <a:pPr indent="0" marL="0">
              <a:buNone/>
            </a:pPr>
            <a:r>
              <a:rPr lang="en-US" sz="1000" dirty="0">
                <a:solidFill>
                  <a:schemeClr val="accent4"/>
                </a:solidFill>
                <a:latin typeface="Calibri" pitchFamily="34" charset="0"/>
                <a:ea typeface="Calibri" pitchFamily="34" charset="-122"/>
                <a:cs typeface="Calibri" pitchFamily="34" charset="-120"/>
              </a:rPr>
              <a:t>Fuentes: gaoaluminio.com (consultado el 14-oct-2026; sin fecha de publicación) · Directorio TIF SENASICA, 7-sep-2026 · CRM Base_Simbiosis · declaraciones de campo de Marcos, 14-oct-2026. El CRM no tiene campo de motivo de pérdida: no se infiere la causa.</a:t>
            </a:r>
            <a:endParaRPr lang="en-US" sz="10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Apéndice 1: fuentes de mercado con URL y fecha</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1672" cy="914400"/>
        </p:xfrm>
        <a:graphic>
          <a:graphicData uri="http://schemas.openxmlformats.org/drawingml/2006/table">
            <a:tbl>
              <a:tblPr/>
              <a:tblGrid>
                <a:gridCol w="2834640"/>
                <a:gridCol w="2286000"/>
                <a:gridCol w="1554480"/>
                <a:gridCol w="4416552"/>
              </a:tblGrid>
              <a:tr h="0">
                <a:tc>
                  <a:txBody>
                    <a:bodyPr/>
                    <a:lstStyle/>
                    <a:p>
                      <a:pPr indent="0" marL="0">
                        <a:buNone/>
                      </a:pPr>
                      <a:r>
                        <a:rPr lang="en-US" sz="1100" b="1" dirty="0">
                          <a:solidFill>
                            <a:schemeClr val="bg1"/>
                          </a:solidFill>
                          <a:latin typeface="Calibri" pitchFamily="34" charset="0"/>
                          <a:ea typeface="Calibri" pitchFamily="34" charset="-122"/>
                          <a:cs typeface="Calibri" pitchFamily="34" charset="-120"/>
                        </a:rPr>
                        <a:t>Dato</a:t>
                      </a:r>
                      <a:endParaRPr lang="en-US" sz="1100" dirty="0">
                        <a:latin typeface="Calibri" charset="0"/>
                        <a:ea typeface="Calibri" charset="0"/>
                        <a:cs typeface="Calibri" charset="0"/>
                      </a:endParaRPr>
                    </a:p>
                  </a:txBody>
                  <a:tcPr marL="54864" marR="54864" marT="27432" marB="27432">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latin typeface="Calibri" pitchFamily="34" charset="0"/>
                          <a:ea typeface="Calibri" pitchFamily="34" charset="-122"/>
                          <a:cs typeface="Calibri" pitchFamily="34" charset="-120"/>
                        </a:rPr>
                        <a:t>Fuente</a:t>
                      </a:r>
                      <a:endParaRPr lang="en-US" sz="1100" dirty="0">
                        <a:latin typeface="Calibri" charset="0"/>
                        <a:ea typeface="Calibri" charset="0"/>
                        <a:cs typeface="Calibri" charset="0"/>
                      </a:endParaRPr>
                    </a:p>
                  </a:txBody>
                  <a:tcPr marL="54864" marR="54864" marT="27432" marB="27432">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latin typeface="Calibri" pitchFamily="34" charset="0"/>
                          <a:ea typeface="Calibri" pitchFamily="34" charset="-122"/>
                          <a:cs typeface="Calibri" pitchFamily="34" charset="-120"/>
                        </a:rPr>
                        <a:t>Fecha de publicación</a:t>
                      </a:r>
                      <a:endParaRPr lang="en-US" sz="1100" dirty="0">
                        <a:latin typeface="Calibri" charset="0"/>
                        <a:ea typeface="Calibri" charset="0"/>
                        <a:cs typeface="Calibri" charset="0"/>
                      </a:endParaRPr>
                    </a:p>
                  </a:txBody>
                  <a:tcPr marL="54864" marR="54864" marT="27432" marB="27432">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latin typeface="Calibri" pitchFamily="34" charset="0"/>
                          <a:ea typeface="Calibri" pitchFamily="34" charset="-122"/>
                          <a:cs typeface="Calibri" pitchFamily="34" charset="-120"/>
                        </a:rPr>
                        <a:t>URL</a:t>
                      </a:r>
                      <a:endParaRPr lang="en-US" sz="1100" dirty="0">
                        <a:latin typeface="Calibri" charset="0"/>
                        <a:ea typeface="Calibri" charset="0"/>
                        <a:cs typeface="Calibri" charset="0"/>
                      </a:endParaRPr>
                    </a:p>
                  </a:txBody>
                  <a:tcPr marL="54864" marR="54864" marT="27432" marB="27432">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tx1"/>
                    </a:solidFill>
                  </a:tcPr>
                </a:tc>
              </a:tr>
              <a:tr h="0">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PIB primario +4.0%, nacional +0.8%, secundario −1.1% (2025)</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SIAP/SADER con base en INEGI</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23-feb-2026</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gob.mx/agricultura/dgsiap/articulos/el-pib-primario-tiene-su-mejor-desempeno-en-trece-anos-al-crecer-4-0-en-2025</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Industria alimentaria (311): variación anual de −0.4% a +2.2% en meses de 2026 (HIPÓTESIS)</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INEGI, EMIM, vía búsqueda</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ND (boletines mensuales 2026)</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inegi.org.mx/contenidos/saladeprensa/boletines/2026/emim/emim2026_08.pdf</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Consumo de carne +4.5%, producción +2.6% (2025) (HIPÓTESIS)</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Consejo Mexicano de la Carne, Compendio 2026, vía prensa</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feb-2026 (día exacto ND)</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comecarne.org/compendio26</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Pie de cría porcino +2% (pronóstico 2026)</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USDA FAS GAIN</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feb-2026</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fas.usda.gov/data/gain/2026/02/mexico-livestock-and-products-semi-annual</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Pollo +2% (pronóstico 2026)</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USDA FAS GAIN, Poultry Annual MX2025-0045</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2025 (día ND)</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apps.fas.usda.gov/newgainapi/api/Report/DownloadReportByFileName?fileName=Poultry+and+Products+Annual_Mexico+City_Mexico_MX2025-0045.pdf</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Pilgrim's: 1,300 mdd 2026–2030, +38% de capacidad</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Presidencia, Plan México</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15-ene-2026</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gob.mx/presidencia/prensa/plan-mexico-empresa-global-pilgrim-s-invertira-en-el-pais-mil-300-millones-de-dolares-para-2026-2030-generara-20-mil-empleos</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SuKarne: posible venta por más de 2,000 mdd</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El Financiero</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4-ago-2026</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elfinanciero.com.mx/empresas/2026/08/04/que-sabemos-de-la-posible-venta-de-sukarne-el-mayor-exportador-de-carne-de-mexico/</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Bafar: ventas netas +14.8% en 2025</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Grupo Bafar</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ND</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grupobafar.com/grupo-bafar-incrementa-14-8-sus-ventas-en-2025-y-dispara-173-1-su-utilidad-neta/</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Bafar: ventas netas +17.1% en 2T-2026</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El Heraldo de Chihuahua (OEM)</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28-jul-2026</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oem.com.mx/elheraldodechihuahua/finanzas/crecieron-un-17-las-ventas-netas-en-grupo-bafar-al-segundo-trimestre-de-2026-31348026</a:t>
                      </a:r>
                      <a:endParaRPr lang="en-US" sz="11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Apéndice 2: fuentes de plantas y oportunidades del CRM</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1672" cy="914400"/>
        </p:xfrm>
        <a:graphic>
          <a:graphicData uri="http://schemas.openxmlformats.org/drawingml/2006/table">
            <a:tbl>
              <a:tblPr/>
              <a:tblGrid>
                <a:gridCol w="2834640"/>
                <a:gridCol w="2286000"/>
                <a:gridCol w="1554480"/>
                <a:gridCol w="4416552"/>
              </a:tblGrid>
              <a:tr h="0">
                <a:tc>
                  <a:txBody>
                    <a:bodyPr/>
                    <a:lstStyle/>
                    <a:p>
                      <a:pPr indent="0" marL="0">
                        <a:buNone/>
                      </a:pPr>
                      <a:r>
                        <a:rPr lang="en-US" sz="1100" b="1" dirty="0">
                          <a:solidFill>
                            <a:schemeClr val="bg1"/>
                          </a:solidFill>
                          <a:latin typeface="Calibri" pitchFamily="34" charset="0"/>
                          <a:ea typeface="Calibri" pitchFamily="34" charset="-122"/>
                          <a:cs typeface="Calibri" pitchFamily="34" charset="-120"/>
                        </a:rPr>
                        <a:t>Dato</a:t>
                      </a:r>
                      <a:endParaRPr lang="en-US" sz="1100" dirty="0">
                        <a:latin typeface="Calibri" charset="0"/>
                        <a:ea typeface="Calibri" charset="0"/>
                        <a:cs typeface="Calibri" charset="0"/>
                      </a:endParaRPr>
                    </a:p>
                  </a:txBody>
                  <a:tcPr marL="54864" marR="54864" marT="27432" marB="27432">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latin typeface="Calibri" pitchFamily="34" charset="0"/>
                          <a:ea typeface="Calibri" pitchFamily="34" charset="-122"/>
                          <a:cs typeface="Calibri" pitchFamily="34" charset="-120"/>
                        </a:rPr>
                        <a:t>Fuente</a:t>
                      </a:r>
                      <a:endParaRPr lang="en-US" sz="1100" dirty="0">
                        <a:latin typeface="Calibri" charset="0"/>
                        <a:ea typeface="Calibri" charset="0"/>
                        <a:cs typeface="Calibri" charset="0"/>
                      </a:endParaRPr>
                    </a:p>
                  </a:txBody>
                  <a:tcPr marL="54864" marR="54864" marT="27432" marB="27432">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latin typeface="Calibri" pitchFamily="34" charset="0"/>
                          <a:ea typeface="Calibri" pitchFamily="34" charset="-122"/>
                          <a:cs typeface="Calibri" pitchFamily="34" charset="-120"/>
                        </a:rPr>
                        <a:t>Fecha de publicación</a:t>
                      </a:r>
                      <a:endParaRPr lang="en-US" sz="1100" dirty="0">
                        <a:latin typeface="Calibri" charset="0"/>
                        <a:ea typeface="Calibri" charset="0"/>
                        <a:cs typeface="Calibri" charset="0"/>
                      </a:endParaRPr>
                    </a:p>
                  </a:txBody>
                  <a:tcPr marL="54864" marR="54864" marT="27432" marB="27432">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latin typeface="Calibri" pitchFamily="34" charset="0"/>
                          <a:ea typeface="Calibri" pitchFamily="34" charset="-122"/>
                          <a:cs typeface="Calibri" pitchFamily="34" charset="-120"/>
                        </a:rPr>
                        <a:t>URL</a:t>
                      </a:r>
                      <a:endParaRPr lang="en-US" sz="1100" dirty="0">
                        <a:latin typeface="Calibri" charset="0"/>
                        <a:ea typeface="Calibri" charset="0"/>
                        <a:cs typeface="Calibri" charset="0"/>
                      </a:endParaRPr>
                    </a:p>
                  </a:txBody>
                  <a:tcPr marL="54864" marR="54864" marT="27432" marB="27432">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tx1"/>
                    </a:solidFill>
                  </a:tcPr>
                </a:tc>
              </a:tr>
              <a:tr h="0">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TIF de SuKarne, Pilgrim's, Bachoco, Qualtia y Sigma; TIF 94 sin sacrificio; TIF 126 de Strattega, subsidiaria de Bafar según los archivos de trabajo, en Michoacán (¿La Piedad?, no confirmado)</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Directorio TIF, SENASICA</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7-sep-2026</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gob.mx/cms/uploads/attachment/file/1095992/DIRECTORIO_TIF_07-09-2026.pdf</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Bachoco: 64 plantas en 10 complejos (una fuente de 2009 hablaba de siete; se usa la más reciente)</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Informe Anual 2024, Bachoco (BMV)</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ND</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grupobachoco.com/wp-content/downloads/2025/Informe-Anual-2024-BMV.pdf</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Bafar: 4 complejos productivos; La Piedad (Complejo Agroindustrial, 650 mdd); compra de carne a terceros</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Reporte Anual 2024, Grupo Bafar (BIVA)</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ND (≈ 30-abr-2025, inferida del sello del archivo)</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biva.mx/storage/information-send/RAN/BAFAR/ReporteAnual_2024_BAFAR_1746046978785.pdf</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SuKarne: TIF 645 (Lucero), 111 (Vizur) y 105 (S.K.) atribuidos al grupo</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sukarne.com, consultada el 11-sep-2026</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ND</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sukarne.com/plantas/</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SuKarne TIF 718: 120 t/semana, meta de 840</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Expansión</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12-abr-2023</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expansion.mx/empresas/2023/04/12/sukarne-adquiere-planta-procesadora-tlaxcala</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Pilgrim's Tepeji; Toluca</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az-mexico.com; abctelefonos.com (directorios comerciales, consultados el 11-sep-2026)</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ND</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az-mexico.com/empresas/pilgrims_pride_tepeji_del_rio_de_ocampo_hgo_carretera_antga_mex_queretaro_sn_72_5 · abctelefonos.com/persona_mexico/pilgrim/pag_22</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Bachoco Lagos de Moreno; Bafar Lerma</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desarrolloeconomicolagos.com; manufactura-latam.com (consultados el 11-sep-2026)</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ND</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desarrolloeconomicolagos.com/listing/bachoco/ · manufactura-latam.com/mexico/lerma-de-villada/fabricantes/grupo-bafar</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GAO Aluminio: extrusión de aluminio, Acatlán de Juárez</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gaoaluminio.com, consultada el 14-oct-2026</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ND</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gaoaluminio.com</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166360"/>
            <a:ext cx="11091672" cy="36576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Oportunidades del CRM y declaradas por Marcos: ver apéndice 3.</a:t>
            </a:r>
            <a:endParaRPr lang="en-US" sz="12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229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Apéndice 3: oportunidades citadas fuera de la lámina 5</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1672" cy="914400"/>
        </p:xfrm>
        <a:graphic>
          <a:graphicData uri="http://schemas.openxmlformats.org/drawingml/2006/table">
            <a:tbl>
              <a:tblPr/>
              <a:tblGrid>
                <a:gridCol w="3931920"/>
                <a:gridCol w="1005840"/>
                <a:gridCol w="1005840"/>
                <a:gridCol w="1371600"/>
                <a:gridCol w="3776472"/>
              </a:tblGrid>
              <a:tr h="0">
                <a:tc>
                  <a:txBody>
                    <a:bodyPr/>
                    <a:lstStyle/>
                    <a:p>
                      <a:pPr indent="0" marL="0">
                        <a:buNone/>
                      </a:pPr>
                      <a:r>
                        <a:rPr lang="en-US" sz="1100" b="1" dirty="0">
                          <a:solidFill>
                            <a:schemeClr val="bg1"/>
                          </a:solidFill>
                          <a:latin typeface="Calibri" pitchFamily="34" charset="0"/>
                          <a:ea typeface="Calibri" pitchFamily="34" charset="-122"/>
                          <a:cs typeface="Calibri" pitchFamily="34" charset="-120"/>
                        </a:rPr>
                        <a:t>Nomenclatura completa</a:t>
                      </a:r>
                      <a:endParaRPr lang="en-US" sz="1100" dirty="0">
                        <a:latin typeface="Calibri" charset="0"/>
                        <a:ea typeface="Calibri" charset="0"/>
                        <a:cs typeface="Calibri" charset="0"/>
                      </a:endParaRPr>
                    </a:p>
                  </a:txBody>
                  <a:tcPr marL="54864" marR="54864"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latin typeface="Calibri" pitchFamily="34" charset="0"/>
                          <a:ea typeface="Calibri" pitchFamily="34" charset="-122"/>
                          <a:cs typeface="Calibri" pitchFamily="34" charset="-120"/>
                        </a:rPr>
                        <a:t>N.º</a:t>
                      </a:r>
                      <a:endParaRPr lang="en-US" sz="1100" dirty="0">
                        <a:latin typeface="Calibri" charset="0"/>
                        <a:ea typeface="Calibri" charset="0"/>
                        <a:cs typeface="Calibri" charset="0"/>
                      </a:endParaRPr>
                    </a:p>
                  </a:txBody>
                  <a:tcPr marL="54864" marR="54864"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latin typeface="Calibri" pitchFamily="34" charset="0"/>
                          <a:ea typeface="Calibri" pitchFamily="34" charset="-122"/>
                          <a:cs typeface="Calibri" pitchFamily="34" charset="-120"/>
                        </a:rPr>
                        <a:t>Estado y año</a:t>
                      </a:r>
                      <a:endParaRPr lang="en-US" sz="1100" dirty="0">
                        <a:latin typeface="Calibri" charset="0"/>
                        <a:ea typeface="Calibri" charset="0"/>
                        <a:cs typeface="Calibri" charset="0"/>
                      </a:endParaRPr>
                    </a:p>
                  </a:txBody>
                  <a:tcPr marL="54864" marR="54864"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latin typeface="Calibri" pitchFamily="34" charset="0"/>
                          <a:ea typeface="Calibri" pitchFamily="34" charset="-122"/>
                          <a:cs typeface="Calibri" pitchFamily="34" charset="-120"/>
                        </a:rPr>
                        <a:t>MXN (potencial anual; en las declaradas, según Marcos)</a:t>
                      </a:r>
                      <a:endParaRPr lang="en-US" sz="1100" dirty="0">
                        <a:latin typeface="Calibri" charset="0"/>
                        <a:ea typeface="Calibri" charset="0"/>
                        <a:cs typeface="Calibri" charset="0"/>
                      </a:endParaRPr>
                    </a:p>
                  </a:txBody>
                  <a:tcPr marL="54864" marR="54864"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latin typeface="Calibri" pitchFamily="34" charset="0"/>
                          <a:ea typeface="Calibri" pitchFamily="34" charset="-122"/>
                          <a:cs typeface="Calibri" pitchFamily="34" charset="-120"/>
                        </a:rPr>
                        <a:t>Canal / nota</a:t>
                      </a:r>
                      <a:endParaRPr lang="en-US" sz="1100" dirty="0">
                        <a:latin typeface="Calibri" charset="0"/>
                        <a:ea typeface="Calibri" charset="0"/>
                        <a:cs typeface="Calibri" charset="0"/>
                      </a:endParaRPr>
                    </a:p>
                  </a:txBody>
                  <a:tcPr marL="54864" marR="54864" marT="27432" marB="27432" anchor="ctr">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tx1"/>
                    </a:solidFill>
                  </a:tcPr>
                </a:tc>
              </a:tr>
              <a:tr h="0">
                <a:tc gridSpan="5">
                  <a:txBody>
                    <a:bodyPr/>
                    <a:lstStyle/>
                    <a:p>
                      <a:pPr indent="0" marL="0">
                        <a:buNone/>
                      </a:pPr>
                      <a:r>
                        <a:rPr lang="en-US" sz="1100" b="1" dirty="0">
                          <a:solidFill>
                            <a:schemeClr val="tx1"/>
                          </a:solidFill>
                          <a:latin typeface="Calibri" pitchFamily="34" charset="0"/>
                          <a:ea typeface="Calibri" pitchFamily="34" charset="-122"/>
                          <a:cs typeface="Calibri" pitchFamily="34" charset="-120"/>
                        </a:rPr>
                        <a:t>En Base_Simbiosis.xlsx (hoja DETALLE), verificadas el 14-oct-2026; Elegible, salvo 742222: Excluida por tipo de oportunidad de distribución; año = Año cierre</a:t>
                      </a:r>
                      <a:endParaRPr lang="en-US" sz="1100" dirty="0">
                        <a:latin typeface="Calibri" charset="0"/>
                        <a:ea typeface="Calibri" charset="0"/>
                        <a:cs typeface="Calibri" charset="0"/>
                      </a:endParaRPr>
                    </a:p>
                  </a:txBody>
                  <a:tcPr marL="54864" marR="54864" marT="27432" marB="27432">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2"/>
                    </a:solidFill>
                  </a:tcPr>
                </a:tc>
                <a:tc hMerge="1">
                  <a:tcPr/>
                </a:tc>
                <a:tc hMerge="1">
                  <a:tcPr/>
                </a:tc>
                <a:tc hMerge="1">
                  <a:tcPr/>
                </a:tc>
                <a:tc hMerge="1">
                  <a:tcPr/>
                </a:tc>
              </a:tr>
              <a:tr h="0">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7.1 PCC C2B-Bachoco Lagos- Bamac Guadalajara</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O-00218689</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Lost 2020</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834,766.20</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Bamac (nomenclatura). Proveedor CRM: BANDAS Y MANGUERAS EL CAMINO SA DE - 60311 - GUADALAJARA. Propietario CRM: Marcos Arevalo</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7.1 TPU Grupo Bafar Chihuahua - Rorisa Chihuahua PT-PU BELTS-566392</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566392</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Lost 2023</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591,804.81</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Rorisa (nomenclatura). Proveedor CRM: RODAMIENTOS Y REPRESENTACIONES INDU - 62314 - CHIHUAHUA</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7.1 - TPU + LINATRIL - Grupo Bafar Chihuahua - Interbandas Chihuahua PT-PU BELTS-656090</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656090</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Lost 2023</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286,935.76</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Interbandas (nomenclatura). Proveedor CRM: INTERNACIONAL DE BANDAS Y SERVICIOS - 110109 - CHIHUAHUA</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7.1 HID MXT Grupo Occidente Acatlan - Binasa Tlaquepaque -742222</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742222</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Lost 2025 (Excluida)</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483,084.08</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Binasa (nomenclatura). Proveedor CRM: BINASA TLAQUEPAQUE S. DE R.L. DE C.V. - 11115 - LEON,GTO.</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7.1 HID MXT Grupo Occidente Acatlan - BRR Binasa -782913</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782913</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Lost 2025</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258,795.07</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Binasa y BRR (nomenclatura). Proveedor CRM: BRR Rodamientos y Refacciones (BINASA)</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gridSpan="5">
                  <a:txBody>
                    <a:bodyPr/>
                    <a:lstStyle/>
                    <a:p>
                      <a:pPr indent="0" marL="0">
                        <a:buNone/>
                      </a:pPr>
                      <a:r>
                        <a:rPr lang="en-US" sz="1100" b="1" dirty="0">
                          <a:solidFill>
                            <a:schemeClr val="tx1"/>
                          </a:solidFill>
                          <a:latin typeface="Calibri" pitchFamily="34" charset="0"/>
                          <a:ea typeface="Calibri" pitchFamily="34" charset="-122"/>
                          <a:cs typeface="Calibri" pitchFamily="34" charset="-120"/>
                        </a:rPr>
                        <a:t>Declaradas por Marcos el 14-oct-2026; no están en el CRM del 12-ago-2026; sin verificar</a:t>
                      </a:r>
                      <a:endParaRPr lang="en-US" sz="1100" dirty="0">
                        <a:latin typeface="Calibri" charset="0"/>
                        <a:ea typeface="Calibri" charset="0"/>
                        <a:cs typeface="Calibri" charset="0"/>
                      </a:endParaRPr>
                    </a:p>
                  </a:txBody>
                  <a:tcPr marL="54864" marR="54864" marT="27432" marB="27432">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2"/>
                    </a:solidFill>
                  </a:tcPr>
                </a:tc>
                <a:tc hMerge="1">
                  <a:tcPr/>
                </a:tc>
                <a:tc hMerge="1">
                  <a:tcPr/>
                </a:tc>
                <a:tc hMerge="1">
                  <a:tcPr/>
                </a:tc>
                <a:tc hMerge="1">
                  <a:tcPr/>
                </a:tc>
              </a:tr>
              <a:tr h="0">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3.1 MI Grupo bafar, sab de cv - La piedad FP-HYDRAULICS-813492</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813492</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Abierta</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650,220</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Familia según la nomenclatura</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7.1 PTI Grupo bafar, sab de cv - La piedad- Ryasa Morelia PT-IND SYNCH BELTS-814010</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814010</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Abierta</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265,000</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Ryasa: canal</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r h="0">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7.1 HID EFG5K Grupo Occidente S.A. de C.V. Acatlan Jal - DBS Gdl</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PENDIENTE</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Abierta</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PENDIENTE</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alibri" pitchFamily="34" charset="0"/>
                          <a:ea typeface="Calibri" pitchFamily="34" charset="-122"/>
                          <a:cs typeface="Calibri" pitchFamily="34" charset="-120"/>
                        </a:rPr>
                        <a:t>DBS: canal. Máquina y número de parte: no se deducen</a:t>
                      </a:r>
                      <a:endParaRPr lang="en-US" sz="1000" dirty="0">
                        <a:latin typeface="Calibri" charset="0"/>
                        <a:ea typeface="Calibri" charset="0"/>
                        <a:cs typeface="Calibri" charset="0"/>
                      </a:endParaRPr>
                    </a:p>
                  </a:txBody>
                  <a:tcPr marL="54864" marR="54864" marT="27432" marB="27432" anchor="t">
                    <a:lnL w="6350" cap="flat" cmpd="sng" algn="ctr">
                      <a:solidFill>
                        <a:srgbClr val="D9DEE0"/>
                      </a:solidFill>
                      <a:prstDash val="solid"/>
                      <a:round/>
                      <a:headEnd type="none" w="med" len="med"/>
                      <a:tailEnd type="none" w="med" len="med"/>
                    </a:lnL>
                    <a:lnR w="6350" cap="flat" cmpd="sng" algn="ctr">
                      <a:solidFill>
                        <a:srgbClr val="D9DEE0"/>
                      </a:solidFill>
                      <a:prstDash val="solid"/>
                      <a:round/>
                      <a:headEnd type="none" w="med" len="med"/>
                      <a:tailEnd type="none" w="med" len="med"/>
                    </a:lnR>
                    <a:lnT w="6350" cap="flat" cmpd="sng" algn="ctr">
                      <a:solidFill>
                        <a:srgbClr val="D9DEE0"/>
                      </a:solidFill>
                      <a:prstDash val="solid"/>
                      <a:round/>
                      <a:headEnd type="none" w="med" len="med"/>
                      <a:tailEnd type="none" w="med" len="med"/>
                    </a:lnT>
                    <a:lnB w="6350" cap="flat" cmpd="sng" algn="ctr">
                      <a:solidFill>
                        <a:srgbClr val="D9DEE0"/>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989320"/>
            <a:ext cx="11091672" cy="411480"/>
          </a:xfrm>
          <a:prstGeom prst="rect">
            <a:avLst/>
          </a:prstGeom>
          <a:noFill/>
          <a:ln/>
        </p:spPr>
        <p:txBody>
          <a:bodyPr wrap="square" lIns="0" tIns="0" rIns="0" bIns="0" rtlCol="0" anchor="t"/>
          <a:lstStyle/>
          <a:p>
            <a:pPr indent="0" marL="0">
              <a:buNone/>
            </a:pPr>
            <a:r>
              <a:rPr lang="en-US" sz="1000" dirty="0">
                <a:solidFill>
                  <a:schemeClr val="accent4"/>
                </a:solidFill>
                <a:latin typeface="Calibri" pitchFamily="34" charset="0"/>
                <a:ea typeface="Calibri" pitchFamily="34" charset="-122"/>
                <a:cs typeface="Calibri" pitchFamily="34" charset="-120"/>
              </a:rPr>
              <a:t>Montos: potencial anual, no facturación. La nomenclatura de la oportunidad de GAO que dio Marcos coincide con la Cliente clave GRUPO OCCIDENTE S.A. DE C.V. ACATLAN JAL de las dos de arriba; que esa cuenta sea la empresa de gaoaluminio.com lo afirma Marcos, la web no lo confirma. La 742222 está excluida y no sustenta resultados. Responsables históricos del CRM: confirmar el vigente antes de asignar trabajo.</a:t>
            </a:r>
            <a:endParaRPr lang="en-US" sz="10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Simbiosis IR">
  <a:themeElements>
    <a:clrScheme name="Simbiosis IR">
      <a:dk1>
        <a:srgbClr val="1F2A2E"/>
      </a:dk1>
      <a:lt1>
        <a:srgbClr val="FFFFFF"/>
      </a:lt1>
      <a:dk2>
        <a:srgbClr val="3A4A50"/>
      </a:dk2>
      <a:lt2>
        <a:srgbClr val="F1F3F4"/>
      </a:lt2>
      <a:accent1>
        <a:srgbClr val="A63D2B"/>
      </a:accent1>
      <a:accent2>
        <a:srgbClr val="2F6F62"/>
      </a:accent2>
      <a:accent3>
        <a:srgbClr val="C98A1B"/>
      </a:accent3>
      <a:accent4>
        <a:srgbClr val="7C878C"/>
      </a:accent4>
      <a:accent5>
        <a:srgbClr val="5B7B8C"/>
      </a:accent5>
      <a:accent6>
        <a:srgbClr val="D9DEE0"/>
      </a:accent6>
      <a:hlink>
        <a:srgbClr val="2F6F62"/>
      </a:hlink>
      <a:folHlink>
        <a:srgbClr val="7C878C"/>
      </a:folHlink>
    </a:clrScheme>
    <a:fontScheme name="Simbiosis I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Simbiosis IR - Proteína animal - Entregable 1</dc:title>
  <dc:subject>PptxGenJS Presentation</dc:subject>
  <dc:creator>Programa Simbiosis IR</dc:creator>
  <cp:lastModifiedBy>Programa Simbiosis IR</cp:lastModifiedBy>
  <cp:revision>1</cp:revision>
  <dcterms:created xsi:type="dcterms:W3CDTF">2026-10-14T13:16:52Z</dcterms:created>
  <dcterms:modified xsi:type="dcterms:W3CDTF">2026-10-14T13:16:52Z</dcterms:modified>
</cp:coreProperties>
</file>
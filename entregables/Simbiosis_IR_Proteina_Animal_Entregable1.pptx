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sumen" id="{fb938481-a8ea-e793-db41-9d4a9f1ada43}">
          <p14:sldIdLst>
            <p14:sldId id="257"/>
          </p14:sldIdLst>
        </p14:section>
        <p14:section name="Mercado" id="{aa503397-a3e1-b15e-054b-aeaa85ffafd2}">
          <p14:sldIdLst>
            <p14:sldId id="258"/>
            <p14:sldId id="259"/>
          </p14:sldIdLst>
        </p14:section>
        <p14:section name="Experiencia" id="{2c524937-aca1-ea9b-ef36-f95be39e4af4}">
          <p14:sldIdLst>
            <p14:sldId id="260"/>
          </p14:sldIdLst>
        </p14:section>
        <p14:section name="Grupos" id="{0d1a2647-b45b-b3b9-a521-55c0e40de8d7}">
          <p14:sldIdLst>
            <p14:sldId id="261"/>
          </p14:sldIdLst>
        </p14:section>
        <p14:section name="Plantas" id="{0a6c08e6-84f9-537c-bc0b-d2de37a40d37}">
          <p14:sldIdLst>
            <p14:sldId id="262"/>
          </p14:sldIdLst>
        </p14:section>
        <p14:section name="Cierre" id="{3bc73627-c92d-19d1-e848-da3fdeabf4a4}">
          <p14:sldIdLst>
            <p14:sldId id="263"/>
            <p14:sldId id="264"/>
            <p14:sldId id="265"/>
          </p14:sldIdLst>
        </p14:section>
        <p14:section name="Default-1" id="{801db13c-e992-216a-c92f-619f6beffd43}">
          <p14:sldIdLst>
            <p14:sldId id="25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2E"/>
                </a:solidFill>
                <a:latin typeface="+mn-lt"/>
              </a:defRPr>
            </a:pPr>
            <a:r>
              <a:rPr sz="1400" b="0" i="0" u="none" strike="noStrike">
                <a:solidFill>
                  <a:srgbClr val="1F2A2E"/>
                </a:solidFill>
                <a:latin typeface="+mn-lt"/>
              </a:rPr>
              <a:t>Crecimiento real anual 2025, %</a:t>
            </a:r>
          </a:p>
        </c:rich>
      </c:tx>
      <c:layout/>
      <c:overlay val="0"/>
    </c:title>
    <c:autoTitleDeleted val="0"/>
    <c:plotArea>
      <c:layout/>
      <c:barChart>
        <c:barDir val="bar"/>
        <c:grouping val="clustered"/>
        <c:varyColors val="0"/>
        <c:ser>
          <c:idx val="0"/>
          <c:order val="0"/>
          <c:tx>
            <c:strRef>
              <c:f>Sheet1!$B$1</c:f>
              <c:strCache>
                <c:ptCount val="1"/>
                <c:pt idx="0">
                  <c:v>Crecimiento real anual 2025 (%)</c:v>
                </c:pt>
              </c:strCache>
            </c:strRef>
          </c:tx>
          <c:spPr>
            <a:solidFill>
              <a:srgbClr val="A63D2B"/>
            </a:solidFill>
            <a:effectLst/>
          </c:spPr>
          <c:invertIfNegative val="0"/>
          <c:dLbls>
            <c:numFmt formatCode="0.0" sourceLinked="0"/>
            <c:txPr>
              <a:bodyPr/>
              <a:lstStyle/>
              <a:p>
                <a:pPr>
                  <a:defRPr b="0" i="0" strike="noStrike" sz="1400" u="none">
                    <a:solidFill>
                      <a:srgbClr val="1F2A2E"/>
                    </a:solidFill>
                    <a:latin typeface="+mn-lt"/>
                  </a:defRPr>
                </a:pPr>
              </a:p>
            </c:txPr>
            <c:showLegendKey val="0"/>
            <c:showVal val="1"/>
            <c:showCatName val="0"/>
            <c:showSerName val="0"/>
            <c:showPercent val="0"/>
            <c:showBubbleSize val="0"/>
            <c:showLeaderLines val="0"/>
          </c:dLbls>
          <c:dPt>
            <c:idx val="0"/>
            <c:invertIfNegative val="0"/>
            <c:bubble3D val="0"/>
            <c:spPr>
              <a:solidFill>
                <a:srgbClr val="A63D2B"/>
              </a:solidFill>
              <a:effectLst/>
            </c:spPr>
          </c:dPt>
          <c:dPt>
            <c:idx val="1"/>
            <c:invertIfNegative val="0"/>
            <c:bubble3D val="0"/>
            <c:spPr>
              <a:solidFill>
                <a:srgbClr val="7C878C"/>
              </a:solidFill>
              <a:effectLst/>
            </c:spPr>
          </c:dPt>
          <c:dPt>
            <c:idx val="2"/>
            <c:invertIfNegative val="0"/>
            <c:bubble3D val="0"/>
            <c:spPr>
              <a:solidFill>
                <a:srgbClr val="2F6F62"/>
              </a:solidFill>
              <a:effectLst/>
            </c:spPr>
          </c:dPt>
          <c:cat>
            <c:multiLvlStrRef>
              <c:f>Sheet1!$A$2:$A$4</c:f>
              <c:multiLvlStrCache>
                <c:ptCount val="3"/>
                <c:lvl>
                  <c:pt idx="0">
                    <c:v>Sector secundario (industria)</c:v>
                  </c:pt>
                  <c:pt idx="1">
                    <c:v>PIB nacional</c:v>
                  </c:pt>
                  <c:pt idx="2">
                    <c:v>PIB primario (agro, ganadería, pesca)</c:v>
                  </c:pt>
                </c:lvl>
              </c:multiLvlStrCache>
            </c:multiLvlStrRef>
          </c:cat>
          <c:val>
            <c:numRef>
              <c:f>Sheet1!$B$2:$B$4</c:f>
              <c:numCache>
                <c:formatCode>General</c:formatCode>
                <c:ptCount val="3"/>
                <c:pt idx="0">
                  <c:v>-1.1</c:v>
                </c:pt>
                <c:pt idx="1">
                  <c:v>0.8</c:v>
                </c:pt>
                <c:pt idx="2">
                  <c:v>4</c:v>
                </c:pt>
              </c:numCache>
            </c:numRef>
          </c:val>
        </c:ser>
        <c:dLbls>
          <c:numFmt formatCode="0.0" sourceLinked="0"/>
          <c:txPr>
            <a:bodyPr/>
            <a:lstStyle/>
            <a:p>
              <a:pPr>
                <a:defRPr b="0" i="0" strike="noStrike" sz="1400" u="none">
                  <a:solidFill>
                    <a:srgbClr val="1F2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A2E"/>
                </a:solidFill>
                <a:latin typeface="+mn-lt"/>
              </a:defRPr>
            </a:pPr>
            <a:endParaRPr lang="en-US"/>
          </a:p>
        </c:txPr>
        <c:crossAx val="2094734552"/>
        <c:crosses val="autoZero"/>
        <c:auto val="1"/>
        <c:lblAlgn val="ctr"/>
        <c:noMultiLvlLbl val="1"/>
      </c:catAx>
      <c:valAx>
        <c:axId val="2094734552"/>
        <c:scaling>
          <c:orientation val="minMax"/>
          <c:max val="5"/>
          <c:min val="-2"/>
        </c:scaling>
        <c:delete val="0"/>
        <c:axPos val="b"/>
        <c:majorGridlines>
          <c:spPr>
            <a:ln w="6350" cap="flat">
              <a:solidFill>
                <a:srgbClr val="D9DEE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7C87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2E"/>
                </a:solidFill>
                <a:latin typeface="+mn-lt"/>
              </a:defRPr>
            </a:pPr>
            <a:r>
              <a:rPr sz="1400" b="0" i="0" u="none" strike="noStrike">
                <a:solidFill>
                  <a:srgbClr val="1F2A2E"/>
                </a:solidFill>
                <a:latin typeface="+mn-lt"/>
              </a:rPr>
              <a:t>Crecimiento 2025, % anual</a:t>
            </a:r>
          </a:p>
        </c:rich>
      </c:tx>
      <c:layout/>
      <c:overlay val="0"/>
    </c:title>
    <c:autoTitleDeleted val="0"/>
    <c:plotArea>
      <c:layout/>
      <c:barChart>
        <c:barDir val="col"/>
        <c:grouping val="clustered"/>
        <c:varyColors val="0"/>
        <c:ser>
          <c:idx val="0"/>
          <c:order val="0"/>
          <c:tx>
            <c:strRef>
              <c:f>Sheet1!$B$1</c:f>
              <c:strCache>
                <c:ptCount val="1"/>
                <c:pt idx="0">
                  <c:v>2025</c:v>
                </c:pt>
              </c:strCache>
            </c:strRef>
          </c:tx>
          <c:spPr>
            <a:solidFill>
              <a:srgbClr val="A63D2B"/>
            </a:solidFill>
            <a:effectLst/>
          </c:spPr>
          <c:invertIfNegative val="0"/>
          <c:dLbls>
            <c:numFmt formatCode="0.0" sourceLinked="0"/>
            <c:txPr>
              <a:bodyPr/>
              <a:lstStyle/>
              <a:p>
                <a:pPr>
                  <a:defRPr b="0" i="0" strike="noStrike" sz="1400" u="none">
                    <a:solidFill>
                      <a:srgbClr val="1F2A2E"/>
                    </a:solidFill>
                    <a:latin typeface="+mn-lt"/>
                  </a:defRPr>
                </a:pPr>
              </a:p>
            </c:txPr>
            <c:showLegendKey val="0"/>
            <c:showVal val="1"/>
            <c:showCatName val="0"/>
            <c:showSerName val="0"/>
            <c:showPercent val="0"/>
            <c:showBubbleSize val="0"/>
            <c:showLeaderLines val="0"/>
          </c:dLbls>
          <c:dPt>
            <c:idx val="0"/>
            <c:invertIfNegative val="0"/>
            <c:bubble3D val="0"/>
            <c:spPr>
              <a:solidFill>
                <a:srgbClr val="A63D2B"/>
              </a:solidFill>
              <a:effectLst/>
            </c:spPr>
          </c:dPt>
          <c:dPt>
            <c:idx val="1"/>
            <c:invertIfNegative val="0"/>
            <c:bubble3D val="0"/>
            <c:spPr>
              <a:solidFill>
                <a:srgbClr val="5B7B8C"/>
              </a:solidFill>
              <a:effectLst/>
            </c:spPr>
          </c:dPt>
          <c:cat>
            <c:multiLvlStrRef>
              <c:f>Sheet1!$A$2:$A$3</c:f>
              <c:multiLvlStrCache>
                <c:ptCount val="2"/>
                <c:lvl>
                  <c:pt idx="0">
                    <c:v>Consumo de carne</c:v>
                  </c:pt>
                  <c:pt idx="1">
                    <c:v>Producción de carne</c:v>
                  </c:pt>
                </c:lvl>
              </c:multiLvlStrCache>
            </c:multiLvlStrRef>
          </c:cat>
          <c:val>
            <c:numRef>
              <c:f>Sheet1!$B$2:$B$3</c:f>
              <c:numCache>
                <c:formatCode>General</c:formatCode>
                <c:ptCount val="2"/>
                <c:pt idx="0">
                  <c:v>4.5</c:v>
                </c:pt>
                <c:pt idx="1">
                  <c:v>2.6</c:v>
                </c:pt>
              </c:numCache>
            </c:numRef>
          </c:val>
        </c:ser>
        <c:dLbls>
          <c:numFmt formatCode="0.0" sourceLinked="0"/>
          <c:txPr>
            <a:bodyPr/>
            <a:lstStyle/>
            <a:p>
              <a:pPr>
                <a:defRPr b="0" i="0" strike="noStrike" sz="1400" u="none">
                  <a:solidFill>
                    <a:srgbClr val="1F2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A2E"/>
                </a:solidFill>
                <a:latin typeface="+mn-lt"/>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D9DE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87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El entregable va de lo macro (alimentos y bebidas) a lo micro (proteína animal), a los cuatro grupos acordados para esta lámina (no es un ranking de mercado), y termina en plantas concretas por estado.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cifras salen de la validación técnica del 12 de septiembre. La parte de Bachoco (atendido por otras regiones) y Bafar (oportunidades abiertas en La Piedad) son declaraciones de Marcos del 14 de octubre; no traen número de oportunidad, quedan PENDIENTE de registrar.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contraste agro vs industria explica por qué la proteína animal es candidata, pero no prueba demanda de reposición de bandas ni mangueras. Ese vínculo se prueba por planta, no por macro.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 del programa: un proyecto anunciado no es demanda actual. El consumo de reposición llega después del arranque, no durante la obra. Pronóstico 2027 queda PENDIENTE: Ricardo lo pidió y no hay dato publicado que lo sustente en lo que se consultó.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Nomenclatura copiada del campo Nombre de oportunidad del archivo original. El número va solo como referencia secundaria. Para Pilgrim's y SuKarne el CRM acumula más ganadas en la misma clave (3 en El Porvenir; 6 en Lucero); aquí se citan los casos más cercanos a cada réplica.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etiquetas describen historial en el CRM, no compra vigente. SuKarne: Monarca (clave con «TIF 43») y Ganadería Integral SK (TIF 105) están en HIPÓTESIS de pertenencia en el cruce del CRM; sukarne.com las atribuye al grupo. Pilgrim's: 1.89 de 2.15 millones en claves de Durango (Gómez Palacio, La Popular, El Porvenir).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Siete plantas; seis tienen veredicto de réplica. La Piedad no lo tiene porque Bafar no tiene caso ganado propio. Los dos SÍ quedan condicionados a confirmar la identidad del sitio: sin eso, la composición del destino no está verificada. Ninguna fila asigna trabajo a una persona.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GAO: la web solo muestra una dirección (Acatlán de Juárez, Jalisco) y extrusión como servicio principal. Razón social, procesos como anodizado, capacidad y equipos son ND. Las necesidades hidráulicas son lo que Marcos vio en campo, no un dato público.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ULO">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4"/>
                </a:solidFill>
              </a:rPr>
              <a:t>Programa Simbiosis IR · Gates de México · Industrial Replacement</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4"/>
                </a:solidFill>
              </a:rPr>
              <a:t>Programa Simbiosis IR · Proteína animal · Borrador del 14-oct-2026</a:t>
            </a:r>
            <a:endParaRPr lang="en-US" sz="1000" dirty="0"/>
          </a:p>
        </p:txBody>
      </p:sp>
      <p:sp>
        <p:nvSpPr>
          <p:cNvPr id="3" name="Text 1"/>
          <p:cNvSpPr/>
          <p:nvPr>
            <p:ph idx="101" type="title" hasCustomPrompt="1"/>
          </p:nvPr>
        </p:nvSpPr>
        <p:spPr>
          <a:xfrm>
            <a:off x="548640" y="365760"/>
            <a:ext cx="11091672" cy="822960"/>
          </a:xfrm>
          <a:prstGeom prst="rect">
            <a:avLst/>
          </a:prstGeom>
          <a:noFill/>
          <a:ln/>
        </p:spPr>
        <p:txBody>
          <a:bodyPr wrap="square" rtlCol="0"/>
          <a:lstStyle>
            <a:lvl1pPr algn="l" indent="0" marL="0">
              <a:buNone/>
              <a:defRPr lang="en-US" sz="28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463040"/>
            <a:ext cx="8778240" cy="1828800"/>
          </a:xfrm>
          <a:prstGeom prst="rect">
            <a:avLst/>
          </a:prstGeom>
          <a:noFill/>
          <a:ln/>
        </p:spPr>
        <p:txBody>
          <a:bodyPr wrap="square" lIns="0" tIns="0" rIns="0" bIns="0" rtlCol="0" anchor="t"/>
          <a:lstStyle/>
          <a:p>
            <a:pPr indent="0" marL="0">
              <a:buNone/>
            </a:pPr>
            <a:r>
              <a:rPr lang="en-US" sz="4400" b="1" dirty="0">
                <a:solidFill>
                  <a:schemeClr val="bg1"/>
                </a:solidFill>
                <a:latin typeface="Cambria" pitchFamily="34" charset="0"/>
                <a:ea typeface="Cambria" pitchFamily="34" charset="-122"/>
                <a:cs typeface="Cambria" pitchFamily="34" charset="-120"/>
              </a:rPr>
              <a:t>Proteína animal: de los casos ganados a cuatro grupos prospecto</a:t>
            </a:r>
            <a:endParaRPr lang="en-US" sz="4400" dirty="0"/>
          </a:p>
        </p:txBody>
      </p:sp>
      <p:sp>
        <p:nvSpPr>
          <p:cNvPr id="3" name="Text 1"/>
          <p:cNvSpPr txBox="1"/>
          <p:nvPr/>
        </p:nvSpPr>
        <p:spPr>
          <a:xfrm>
            <a:off x="548640" y="3474720"/>
            <a:ext cx="8778240" cy="457200"/>
          </a:xfrm>
          <a:prstGeom prst="rect">
            <a:avLst/>
          </a:prstGeom>
          <a:noFill/>
          <a:ln/>
        </p:spPr>
        <p:txBody>
          <a:bodyPr wrap="square" lIns="0" tIns="0" rIns="0" bIns="0" rtlCol="0" anchor="ctr"/>
          <a:lstStyle/>
          <a:p>
            <a:pPr indent="0" marL="0">
              <a:buNone/>
            </a:pPr>
            <a:r>
              <a:rPr lang="en-US" sz="2200" dirty="0">
                <a:solidFill>
                  <a:schemeClr val="accent6"/>
                </a:solidFill>
                <a:latin typeface="Calibri" pitchFamily="34" charset="0"/>
                <a:ea typeface="Calibri" pitchFamily="34" charset="-122"/>
                <a:cs typeface="Calibri" pitchFamily="34" charset="-120"/>
              </a:rPr>
              <a:t>SuKarne · Bachoco · Pilgrim's Pride · Grupo Bafar</a:t>
            </a:r>
            <a:endParaRPr lang="en-US" sz="2200" dirty="0"/>
          </a:p>
        </p:txBody>
      </p:sp>
      <p:sp>
        <p:nvSpPr>
          <p:cNvPr id="4" name="Text 2"/>
          <p:cNvSpPr txBox="1"/>
          <p:nvPr/>
        </p:nvSpPr>
        <p:spPr>
          <a:xfrm>
            <a:off x="548640" y="4846320"/>
            <a:ext cx="8229600" cy="731520"/>
          </a:xfrm>
          <a:prstGeom prst="rect">
            <a:avLst/>
          </a:prstGeom>
          <a:noFill/>
          <a:ln/>
        </p:spPr>
        <p:txBody>
          <a:bodyPr wrap="square" lIns="0" tIns="0" rIns="0" bIns="0" rtlCol="0" anchor="ctr"/>
          <a:lstStyle/>
          <a:p>
            <a:pPr indent="0" marL="0">
              <a:buNone/>
            </a:pPr>
            <a:r>
              <a:rPr lang="en-US" sz="1400" dirty="0">
                <a:solidFill>
                  <a:schemeClr val="accent6"/>
                </a:solidFill>
                <a:latin typeface="Calibri" pitchFamily="34" charset="0"/>
                <a:ea typeface="Calibri" pitchFamily="34" charset="-122"/>
                <a:cs typeface="Calibri" pitchFamily="34" charset="-120"/>
              </a:rPr>
              <a:t>Entregable 1 · Borrador para Ricardo Narváez · 14 de octubre de 2026</a:t>
            </a:r>
            <a:endParaRPr lang="en-US" sz="1400" dirty="0"/>
          </a:p>
          <a:p>
            <a:pPr indent="0" marL="0">
              <a:buNone/>
            </a:pPr>
            <a:r>
              <a:rPr lang="en-US" sz="1400" dirty="0">
                <a:solidFill>
                  <a:schemeClr val="accent6"/>
                </a:solidFill>
                <a:latin typeface="Calibri" pitchFamily="34" charset="0"/>
                <a:ea typeface="Calibri" pitchFamily="34" charset="-122"/>
                <a:cs typeface="Calibri" pitchFamily="34" charset="-120"/>
              </a:rPr>
              <a:t>Prepara: Marcos Arévalo, Gates de México (Industrial Replacement)</a:t>
            </a:r>
            <a:endParaRPr lang="en-US" sz="1400" dirty="0"/>
          </a:p>
        </p:txBody>
      </p:sp>
      <p:sp>
        <p:nvSpPr>
          <p:cNvPr id="5" name="circulo macro"/>
          <p:cNvSpPr/>
          <p:nvPr/>
        </p:nvSpPr>
        <p:spPr>
          <a:xfrm>
            <a:off x="9326880" y="1371600"/>
            <a:ext cx="2377440" cy="2377440"/>
          </a:xfrm>
          <a:prstGeom prst="ellipse">
            <a:avLst/>
          </a:prstGeom>
          <a:solidFill>
            <a:schemeClr val="accent1">
              <a:alpha val="90000"/>
            </a:schemeClr>
          </a:solidFill>
          <a:ln w="12700">
            <a:solidFill>
              <a:schemeClr val="accent1"/>
            </a:solidFill>
            <a:prstDash val="solid"/>
          </a:ln>
        </p:spPr>
      </p:sp>
      <p:sp>
        <p:nvSpPr>
          <p:cNvPr id="6" name="circulo micro"/>
          <p:cNvSpPr/>
          <p:nvPr/>
        </p:nvSpPr>
        <p:spPr>
          <a:xfrm>
            <a:off x="9875520" y="2103120"/>
            <a:ext cx="1371600" cy="1371600"/>
          </a:xfrm>
          <a:prstGeom prst="ellipse">
            <a:avLst/>
          </a:prstGeom>
          <a:solidFill>
            <a:schemeClr val="accent3">
              <a:alpha val="95000"/>
            </a:schemeClr>
          </a:solidFill>
          <a:ln w="12700">
            <a:solidFill>
              <a:schemeClr val="accent3"/>
            </a:solidFill>
            <a:prstDash val="solid"/>
          </a:ln>
        </p:spPr>
      </p:sp>
      <p:sp>
        <p:nvSpPr>
          <p:cNvPr id="7" name="circulo planta"/>
          <p:cNvSpPr/>
          <p:nvPr/>
        </p:nvSpPr>
        <p:spPr>
          <a:xfrm>
            <a:off x="10314432" y="2697480"/>
            <a:ext cx="502920" cy="502920"/>
          </a:xfrm>
          <a:prstGeom prst="ellipse">
            <a:avLst/>
          </a:prstGeom>
          <a:solidFill>
            <a:schemeClr val="bg1"/>
          </a:solidFill>
          <a:ln w="12700">
            <a:solidFill>
              <a:schemeClr val="bg1"/>
            </a:solidFill>
            <a:prstDash val="solid"/>
          </a:ln>
        </p:spPr>
      </p:sp>
      <p:sp>
        <p:nvSpPr>
          <p:cNvPr id="8" name="Text 6"/>
          <p:cNvSpPr txBox="1"/>
          <p:nvPr/>
        </p:nvSpPr>
        <p:spPr>
          <a:xfrm>
            <a:off x="9144000" y="3886200"/>
            <a:ext cx="2743200" cy="274320"/>
          </a:xfrm>
          <a:prstGeom prst="rect">
            <a:avLst/>
          </a:prstGeom>
          <a:noFill/>
          <a:ln/>
        </p:spPr>
        <p:txBody>
          <a:bodyPr wrap="square" lIns="0" tIns="0" rIns="0" bIns="0" rtlCol="0" anchor="ctr"/>
          <a:lstStyle/>
          <a:p>
            <a:pPr algn="ctr" indent="0" marL="0">
              <a:buNone/>
            </a:pPr>
            <a:r>
              <a:rPr lang="en-US" sz="1200" dirty="0">
                <a:solidFill>
                  <a:schemeClr val="accent6"/>
                </a:solidFill>
                <a:latin typeface="Calibri" pitchFamily="34" charset="0"/>
                <a:ea typeface="Calibri" pitchFamily="34" charset="-122"/>
                <a:cs typeface="Calibri" pitchFamily="34" charset="-120"/>
              </a:rPr>
              <a:t>Alimentos y bebidas</a:t>
            </a:r>
            <a:endParaRPr lang="en-US" sz="1200" dirty="0"/>
          </a:p>
        </p:txBody>
      </p:sp>
      <p:sp>
        <p:nvSpPr>
          <p:cNvPr id="9" name="Text 7"/>
          <p:cNvSpPr txBox="1"/>
          <p:nvPr/>
        </p:nvSpPr>
        <p:spPr>
          <a:xfrm>
            <a:off x="9144000" y="4160520"/>
            <a:ext cx="2743200" cy="274320"/>
          </a:xfrm>
          <a:prstGeom prst="rect">
            <a:avLst/>
          </a:prstGeom>
          <a:noFill/>
          <a:ln/>
        </p:spPr>
        <p:txBody>
          <a:bodyPr wrap="square" lIns="0" tIns="0" rIns="0" bIns="0" rtlCol="0" anchor="ctr"/>
          <a:lstStyle/>
          <a:p>
            <a:pPr algn="ctr" indent="0" marL="0">
              <a:buNone/>
            </a:pPr>
            <a:r>
              <a:rPr lang="en-US" sz="1200" dirty="0">
                <a:solidFill>
                  <a:schemeClr val="accent6"/>
                </a:solidFill>
                <a:latin typeface="Calibri" pitchFamily="34" charset="0"/>
                <a:ea typeface="Calibri" pitchFamily="34" charset="-122"/>
                <a:cs typeface="Calibri" pitchFamily="34" charset="-120"/>
              </a:rPr>
              <a:t>Proteína animal → 4 grupos → plantas</a:t>
            </a:r>
            <a:endParaRPr lang="en-US" sz="12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Seis réplicas evaluadas: 2 sí condicionadas, 3 parciales, 1 no</a:t>
            </a:r>
            <a:endParaRPr lang="en-US" sz="2800" dirty="0"/>
          </a:p>
        </p:txBody>
      </p:sp>
      <p:sp>
        <p:nvSpPr>
          <p:cNvPr id="3" name="tarjeta 1"/>
          <p:cNvSpPr/>
          <p:nvPr/>
        </p:nvSpPr>
        <p:spPr>
          <a:xfrm>
            <a:off x="548640" y="1371600"/>
            <a:ext cx="2560320" cy="1828800"/>
          </a:xfrm>
          <a:prstGeom prst="rect">
            <a:avLst/>
          </a:prstGeom>
          <a:solidFill>
            <a:schemeClr val="bg2"/>
          </a:solidFill>
          <a:ln w="12700">
            <a:solidFill>
              <a:schemeClr val="bg2"/>
            </a:solidFill>
            <a:prstDash val="solid"/>
          </a:ln>
        </p:spPr>
      </p:sp>
      <p:sp>
        <p:nvSpPr>
          <p:cNvPr id="4" name="Text 2"/>
          <p:cNvSpPr txBox="1"/>
          <p:nvPr/>
        </p:nvSpPr>
        <p:spPr>
          <a:xfrm>
            <a:off x="731520" y="1417320"/>
            <a:ext cx="2194560" cy="822960"/>
          </a:xfrm>
          <a:prstGeom prst="rect">
            <a:avLst/>
          </a:prstGeom>
          <a:noFill/>
          <a:ln/>
        </p:spPr>
        <p:txBody>
          <a:bodyPr wrap="square" lIns="0" tIns="0" rIns="0" bIns="0" rtlCol="0" anchor="ctr"/>
          <a:lstStyle/>
          <a:p>
            <a:pPr indent="0" marL="0">
              <a:buNone/>
            </a:pPr>
            <a:r>
              <a:rPr lang="en-US" sz="5400" b="1" dirty="0">
                <a:solidFill>
                  <a:schemeClr val="tx1"/>
                </a:solidFill>
                <a:latin typeface="Cambria" pitchFamily="34" charset="0"/>
                <a:ea typeface="Cambria" pitchFamily="34" charset="-122"/>
                <a:cs typeface="Cambria" pitchFamily="34" charset="-120"/>
              </a:rPr>
              <a:t>6</a:t>
            </a:r>
            <a:endParaRPr lang="en-US" sz="5400" dirty="0"/>
          </a:p>
        </p:txBody>
      </p:sp>
      <p:sp>
        <p:nvSpPr>
          <p:cNvPr id="5" name="Text 3"/>
          <p:cNvSpPr txBox="1"/>
          <p:nvPr/>
        </p:nvSpPr>
        <p:spPr>
          <a:xfrm>
            <a:off x="731520" y="2286000"/>
            <a:ext cx="219456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pares planta origen → destino evaluados técnicamente</a:t>
            </a:r>
            <a:endParaRPr lang="en-US" sz="1400" dirty="0"/>
          </a:p>
        </p:txBody>
      </p:sp>
      <p:sp>
        <p:nvSpPr>
          <p:cNvPr id="6" name="tarjeta 2"/>
          <p:cNvSpPr/>
          <p:nvPr/>
        </p:nvSpPr>
        <p:spPr>
          <a:xfrm>
            <a:off x="3291840" y="1371600"/>
            <a:ext cx="2560320" cy="1828800"/>
          </a:xfrm>
          <a:prstGeom prst="rect">
            <a:avLst/>
          </a:prstGeom>
          <a:solidFill>
            <a:schemeClr val="bg2"/>
          </a:solidFill>
          <a:ln w="12700">
            <a:solidFill>
              <a:schemeClr val="bg2"/>
            </a:solidFill>
            <a:prstDash val="solid"/>
          </a:ln>
        </p:spPr>
      </p:sp>
      <p:sp>
        <p:nvSpPr>
          <p:cNvPr id="7" name="Text 5"/>
          <p:cNvSpPr txBox="1"/>
          <p:nvPr/>
        </p:nvSpPr>
        <p:spPr>
          <a:xfrm>
            <a:off x="3474720" y="1417320"/>
            <a:ext cx="2194560" cy="82296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2</a:t>
            </a:r>
            <a:endParaRPr lang="en-US" sz="5400" dirty="0"/>
          </a:p>
        </p:txBody>
      </p:sp>
      <p:sp>
        <p:nvSpPr>
          <p:cNvPr id="8" name="Text 6"/>
          <p:cNvSpPr txBox="1"/>
          <p:nvPr/>
        </p:nvSpPr>
        <p:spPr>
          <a:xfrm>
            <a:off x="3474720" y="2286000"/>
            <a:ext cx="219456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réplicas SÍ, condicionadas al sitio: Pilgrim's Tepeji y Bachoco Lagos</a:t>
            </a:r>
            <a:endParaRPr lang="en-US" sz="1400" dirty="0"/>
          </a:p>
        </p:txBody>
      </p:sp>
      <p:sp>
        <p:nvSpPr>
          <p:cNvPr id="9" name="tarjeta 3"/>
          <p:cNvSpPr/>
          <p:nvPr/>
        </p:nvSpPr>
        <p:spPr>
          <a:xfrm>
            <a:off x="6035040" y="1371600"/>
            <a:ext cx="2560320" cy="1828800"/>
          </a:xfrm>
          <a:prstGeom prst="rect">
            <a:avLst/>
          </a:prstGeom>
          <a:solidFill>
            <a:schemeClr val="bg2"/>
          </a:solidFill>
          <a:ln w="12700">
            <a:solidFill>
              <a:schemeClr val="bg2"/>
            </a:solidFill>
            <a:prstDash val="solid"/>
          </a:ln>
        </p:spPr>
      </p:sp>
      <p:sp>
        <p:nvSpPr>
          <p:cNvPr id="10" name="Text 8"/>
          <p:cNvSpPr txBox="1"/>
          <p:nvPr/>
        </p:nvSpPr>
        <p:spPr>
          <a:xfrm>
            <a:off x="6217920" y="1417320"/>
            <a:ext cx="2194560" cy="822960"/>
          </a:xfrm>
          <a:prstGeom prst="rect">
            <a:avLst/>
          </a:prstGeom>
          <a:noFill/>
          <a:ln/>
        </p:spPr>
        <p:txBody>
          <a:bodyPr wrap="square" lIns="0" tIns="0" rIns="0" bIns="0" rtlCol="0" anchor="ctr"/>
          <a:lstStyle/>
          <a:p>
            <a:pPr indent="0" marL="0">
              <a:buNone/>
            </a:pPr>
            <a:r>
              <a:rPr lang="en-US" sz="5400" b="1" dirty="0">
                <a:solidFill>
                  <a:schemeClr val="accent3"/>
                </a:solidFill>
                <a:latin typeface="Cambria" pitchFamily="34" charset="0"/>
                <a:ea typeface="Cambria" pitchFamily="34" charset="-122"/>
                <a:cs typeface="Cambria" pitchFamily="34" charset="-120"/>
              </a:rPr>
              <a:t>3</a:t>
            </a:r>
            <a:endParaRPr lang="en-US" sz="5400" dirty="0"/>
          </a:p>
        </p:txBody>
      </p:sp>
      <p:sp>
        <p:nvSpPr>
          <p:cNvPr id="11" name="Text 9"/>
          <p:cNvSpPr txBox="1"/>
          <p:nvPr/>
        </p:nvSpPr>
        <p:spPr>
          <a:xfrm>
            <a:off x="6217920" y="2286000"/>
            <a:ext cx="219456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PARCIAL: SuKarne TIF 718, Pilgrim's Toluca y Bafar Lerma</a:t>
            </a:r>
            <a:endParaRPr lang="en-US" sz="1400" dirty="0"/>
          </a:p>
        </p:txBody>
      </p:sp>
      <p:sp>
        <p:nvSpPr>
          <p:cNvPr id="12" name="tarjeta 4"/>
          <p:cNvSpPr/>
          <p:nvPr/>
        </p:nvSpPr>
        <p:spPr>
          <a:xfrm>
            <a:off x="8778240" y="1371600"/>
            <a:ext cx="2560320" cy="1828800"/>
          </a:xfrm>
          <a:prstGeom prst="rect">
            <a:avLst/>
          </a:prstGeom>
          <a:solidFill>
            <a:schemeClr val="bg2"/>
          </a:solidFill>
          <a:ln w="12700">
            <a:solidFill>
              <a:schemeClr val="bg2"/>
            </a:solidFill>
            <a:prstDash val="solid"/>
          </a:ln>
        </p:spPr>
      </p:sp>
      <p:sp>
        <p:nvSpPr>
          <p:cNvPr id="13" name="Text 11"/>
          <p:cNvSpPr txBox="1"/>
          <p:nvPr/>
        </p:nvSpPr>
        <p:spPr>
          <a:xfrm>
            <a:off x="8961120" y="1417320"/>
            <a:ext cx="2194560" cy="82296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1</a:t>
            </a:r>
            <a:endParaRPr lang="en-US" sz="5400" dirty="0"/>
          </a:p>
        </p:txBody>
      </p:sp>
      <p:sp>
        <p:nvSpPr>
          <p:cNvPr id="14" name="Text 12"/>
          <p:cNvSpPr txBox="1"/>
          <p:nvPr/>
        </p:nvSpPr>
        <p:spPr>
          <a:xfrm>
            <a:off x="8961120" y="2286000"/>
            <a:ext cx="219456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NO se sostiene: SuKarne TIF 94 Zapopan (planta de cocción, sin sacrificio)</a:t>
            </a:r>
            <a:endParaRPr lang="en-US" sz="1400" dirty="0"/>
          </a:p>
        </p:txBody>
      </p:sp>
      <p:sp>
        <p:nvSpPr>
          <p:cNvPr id="15" name="Text 13"/>
          <p:cNvSpPr txBox="1"/>
          <p:nvPr/>
        </p:nvSpPr>
        <p:spPr>
          <a:xfrm>
            <a:off x="548640" y="3520440"/>
            <a:ext cx="11091672" cy="2377440"/>
          </a:xfrm>
          <a:prstGeom prst="rect">
            <a:avLst/>
          </a:prstGeom>
          <a:noFill/>
          <a:ln/>
        </p:spPr>
        <p:txBody>
          <a:bodyPr wrap="square" lIns="0" tIns="0" rIns="0" bIns="0" rtlCol="0" anchor="t"/>
          <a:lstStyle/>
          <a:p>
            <a:pPr indent="0" marL="0">
              <a:spcAft>
                <a:spcPts val="600"/>
              </a:spcAft>
              <a:buNone/>
            </a:pPr>
            <a:r>
              <a:rPr lang="en-US" sz="1800" b="1" dirty="0">
                <a:solidFill>
                  <a:schemeClr val="tx1"/>
                </a:solidFill>
                <a:latin typeface="Calibri" pitchFamily="34" charset="0"/>
                <a:ea typeface="Calibri" pitchFamily="34" charset="-122"/>
                <a:cs typeface="Calibri" pitchFamily="34" charset="-120"/>
              </a:rPr>
              <a:t>Lo que cambia el mensaje para Ricardo</a:t>
            </a:r>
            <a:endParaRPr lang="en-US" sz="1700" dirty="0"/>
          </a:p>
          <a:p>
            <a:pPr marL="342900" indent="-342900">
              <a:spcAft>
                <a:spcPts val="600"/>
              </a:spcAft>
              <a:buSzPct val="100000"/>
              <a:buChar char="•"/>
            </a:pPr>
            <a:r>
              <a:rPr lang="en-US" sz="1700" dirty="0">
                <a:solidFill>
                  <a:schemeClr val="tx1"/>
                </a:solidFill>
                <a:latin typeface="Calibri" pitchFamily="34" charset="0"/>
                <a:ea typeface="Calibri" pitchFamily="34" charset="-122"/>
                <a:cs typeface="Calibri" pitchFamily="34" charset="-120"/>
              </a:rPr>
              <a:t>Bachoco Lagos de Moreno no es prospección nueva: hay una oportunidad perdida en 2020 en el CRM (motivo no disponible), y Marcos informa que compañeros de otras regiones ya atienden la cuenta.</a:t>
            </a:r>
            <a:endParaRPr lang="en-US" sz="1700" dirty="0"/>
          </a:p>
          <a:p>
            <a:pPr marL="342900" indent="-342900">
              <a:spcAft>
                <a:spcPts val="600"/>
              </a:spcAft>
              <a:buSzPct val="100000"/>
              <a:buChar char="•"/>
            </a:pPr>
            <a:r>
              <a:rPr lang="en-US" sz="1700" dirty="0">
                <a:solidFill>
                  <a:schemeClr val="tx1"/>
                </a:solidFill>
                <a:latin typeface="Calibri" pitchFamily="34" charset="0"/>
                <a:ea typeface="Calibri" pitchFamily="34" charset="-122"/>
                <a:cs typeface="Calibri" pitchFamily="34" charset="-120"/>
              </a:rPr>
              <a:t>Bafar tiene 0 oportunidades ganadas en el CRM. Marcos abrió oportunidades con La Piedad (Michoacán), declaración suya; número de oportunidad PENDIENTE. Gates no atendía a este usuario.</a:t>
            </a:r>
            <a:endParaRPr lang="en-US" sz="1700" dirty="0"/>
          </a:p>
          <a:p>
            <a:pPr marL="342900" indent="-342900">
              <a:buSzPct val="100000"/>
              <a:buChar char="•"/>
            </a:pPr>
            <a:r>
              <a:rPr lang="en-US" sz="1700" dirty="0">
                <a:solidFill>
                  <a:schemeClr val="tx1"/>
                </a:solidFill>
                <a:latin typeface="Calibri" pitchFamily="34" charset="0"/>
                <a:ea typeface="Calibri" pitchFamily="34" charset="-122"/>
                <a:cs typeface="Calibri" pitchFamily="34" charset="-120"/>
              </a:rPr>
              <a:t>Este borrador cubre UN mercado candidato (proteína animal). La selección de tres mercados y nueve usuarios sigue abierta.</a:t>
            </a:r>
            <a:endParaRPr lang="en-US" sz="1700" dirty="0"/>
          </a:p>
        </p:txBody>
      </p:sp>
      <p:sp>
        <p:nvSpPr>
          <p:cNvPr id="16" name="Text 14"/>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 HIPOTESIS_REPLICA.csv (validación del 12-sep-2026) y declaraciones de campo de Marcos del 14-oct-2026. Todas las réplicas están en HIPÓTESIS hasta confirmar en visita.</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Macro: el campo creció 4.0% en 2025; la industria cayó 1.1%</a:t>
            </a:r>
            <a:endParaRPr lang="en-US" sz="2800" dirty="0"/>
          </a:p>
        </p:txBody>
      </p:sp>
      <p:graphicFrame>
        <p:nvGraphicFramePr>
          <p:cNvPr id="3" name="Chart 0" descr=""/>
          <p:cNvGraphicFramePr/>
          <p:nvPr/>
        </p:nvGraphicFramePr>
        <p:xfrm>
          <a:off x="548640" y="1371600"/>
          <a:ext cx="6309360" cy="4206240"/>
        </p:xfrm>
        <a:graphic xmlns:a="http://schemas.openxmlformats.org/drawingml/2006/main">
          <a:graphicData uri="http://schemas.openxmlformats.org/drawingml/2006/chart">
            <c:chart xmlns:c="http://schemas.openxmlformats.org/drawingml/2006/chart" r:id="rId1"/>
          </a:graphicData>
        </a:graphic>
      </p:graphicFrame>
      <p:sp>
        <p:nvSpPr>
          <p:cNvPr id="4" name="panel lectura"/>
          <p:cNvSpPr/>
          <p:nvPr/>
        </p:nvSpPr>
        <p:spPr>
          <a:xfrm>
            <a:off x="7223760" y="1371600"/>
            <a:ext cx="4416552" cy="4206240"/>
          </a:xfrm>
          <a:prstGeom prst="rect">
            <a:avLst/>
          </a:prstGeom>
          <a:solidFill>
            <a:schemeClr val="bg2"/>
          </a:solidFill>
          <a:ln w="12700">
            <a:solidFill>
              <a:schemeClr val="bg2"/>
            </a:solidFill>
            <a:prstDash val="solid"/>
          </a:ln>
        </p:spPr>
      </p:sp>
      <p:sp>
        <p:nvSpPr>
          <p:cNvPr id="5" name="Text 2"/>
          <p:cNvSpPr txBox="1"/>
          <p:nvPr/>
        </p:nvSpPr>
        <p:spPr>
          <a:xfrm>
            <a:off x="7406640" y="1508760"/>
            <a:ext cx="4050792" cy="393192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Cómo leerlo</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CONFIRMADO: el PIB primario tuvo su mejor desempeño en 13 años (SIAP/SADER con base en INEGI, publicado el 23-feb-2026).</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La fuente no desglosa cuánto del 4.0% es ganadería. No lo atribuimos a proteína animal.</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HIPÓTESIS: la industria alimentaria (subsector 311) se movió entre −0.4% y +2.2% anual en meses de 2026. Cifra de fuente secundaria; falta confirmarla contra el boletín INEGI.</a:t>
            </a:r>
            <a:endParaRPr lang="en-US" sz="1400" dirty="0"/>
          </a:p>
        </p:txBody>
      </p:sp>
      <p:sp>
        <p:nvSpPr>
          <p:cNvPr id="6" name="Text 3"/>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 SIAP/SADER, «El PIB primario tiene su mejor desempeño en trece años al crecer 4.0% en 2025», 23-feb-2026, gob.mx/agricultura/dgsiap/articulos/el-pib-primario-tiene-su-mejor-desempeno-en-trece-anos-al-crecer-4-0-en-2025. Subsector 311: INEGI EMIM 2026 vía búsqueda (fecha de publicación ND).</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Carne en México: el consumo crece más que la producción</a:t>
            </a:r>
            <a:endParaRPr lang="en-US" sz="2800" dirty="0"/>
          </a:p>
        </p:txBody>
      </p:sp>
      <p:graphicFrame>
        <p:nvGraphicFramePr>
          <p:cNvPr id="3" name="Chart 0" descr=""/>
          <p:cNvGraphicFramePr/>
          <p:nvPr/>
        </p:nvGraphicFramePr>
        <p:xfrm>
          <a:off x="548640" y="1371600"/>
          <a:ext cx="4206240"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4526280"/>
            <a:ext cx="420624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HIPÓTESIS: cifras de Comecarne vía prensa; el compendio original no se revisó. Consumo total 11.3 millones de t, aparente: no implica más turnos en planta.</a:t>
            </a:r>
            <a:endParaRPr lang="en-US" sz="1400" dirty="0"/>
          </a:p>
        </p:txBody>
      </p:sp>
      <p:sp>
        <p:nvSpPr>
          <p:cNvPr id="5" name="tarjeta Pronóstico 2026"/>
          <p:cNvSpPr/>
          <p:nvPr/>
        </p:nvSpPr>
        <p:spPr>
          <a:xfrm>
            <a:off x="5074920" y="1371600"/>
            <a:ext cx="2194560" cy="3977640"/>
          </a:xfrm>
          <a:prstGeom prst="rect">
            <a:avLst/>
          </a:prstGeom>
          <a:solidFill>
            <a:schemeClr val="bg2"/>
          </a:solidFill>
          <a:ln w="12700">
            <a:solidFill>
              <a:schemeClr val="bg2"/>
            </a:solidFill>
            <a:prstDash val="solid"/>
          </a:ln>
        </p:spPr>
      </p:sp>
      <p:sp>
        <p:nvSpPr>
          <p:cNvPr id="6" name="Text 3"/>
          <p:cNvSpPr txBox="1"/>
          <p:nvPr/>
        </p:nvSpPr>
        <p:spPr>
          <a:xfrm>
            <a:off x="5212080" y="1463040"/>
            <a:ext cx="1920240" cy="6400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Pronóstico 2026</a:t>
            </a:r>
            <a:endParaRPr lang="en-US" sz="1700" dirty="0"/>
          </a:p>
        </p:txBody>
      </p:sp>
      <p:sp>
        <p:nvSpPr>
          <p:cNvPr id="7" name="etiqueta Pronóstico 2026"/>
          <p:cNvSpPr/>
          <p:nvPr/>
        </p:nvSpPr>
        <p:spPr>
          <a:xfrm>
            <a:off x="5212080" y="2194560"/>
            <a:ext cx="1920240" cy="274320"/>
          </a:xfrm>
          <a:prstGeom prst="roundRect">
            <a:avLst>
              <a:gd name="adj" fmla="val 50000"/>
            </a:avLst>
          </a:prstGeom>
          <a:solidFill>
            <a:schemeClr val="accent2"/>
          </a:solidFill>
          <a:ln w="12700">
            <a:solidFill>
              <a:schemeClr val="accent2"/>
            </a:solidFill>
            <a:prstDash val="solid"/>
          </a:ln>
        </p:spPr>
      </p:sp>
      <p:sp>
        <p:nvSpPr>
          <p:cNvPr id="8" name="Text 5"/>
          <p:cNvSpPr txBox="1"/>
          <p:nvPr/>
        </p:nvSpPr>
        <p:spPr>
          <a:xfrm>
            <a:off x="5212080" y="2194560"/>
            <a:ext cx="1920240" cy="27432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HIPÓTESIS</a:t>
            </a:r>
            <a:endParaRPr lang="en-US" sz="1100" dirty="0"/>
          </a:p>
        </p:txBody>
      </p:sp>
      <p:sp>
        <p:nvSpPr>
          <p:cNvPr id="9" name="Text 6"/>
          <p:cNvSpPr txBox="1"/>
          <p:nvPr/>
        </p:nvSpPr>
        <p:spPr>
          <a:xfrm>
            <a:off x="5212080" y="2606040"/>
            <a:ext cx="1920240" cy="265176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USDA: pie de cría porcino +2% (inventario, no producción; feb-2026); pollo +2% en producción (reporte 2025, fecha exacta ND). Bovino: sacrificio al alza, cifra ND.</a:t>
            </a:r>
            <a:endParaRPr lang="en-US" sz="1500" dirty="0"/>
          </a:p>
        </p:txBody>
      </p:sp>
      <p:sp>
        <p:nvSpPr>
          <p:cNvPr id="10" name="tarjeta Inversión anunciada"/>
          <p:cNvSpPr/>
          <p:nvPr/>
        </p:nvSpPr>
        <p:spPr>
          <a:xfrm>
            <a:off x="7415784" y="1371600"/>
            <a:ext cx="2194560" cy="3977640"/>
          </a:xfrm>
          <a:prstGeom prst="rect">
            <a:avLst/>
          </a:prstGeom>
          <a:solidFill>
            <a:schemeClr val="bg2"/>
          </a:solidFill>
          <a:ln w="12700">
            <a:solidFill>
              <a:schemeClr val="bg2"/>
            </a:solidFill>
            <a:prstDash val="solid"/>
          </a:ln>
        </p:spPr>
      </p:sp>
      <p:sp>
        <p:nvSpPr>
          <p:cNvPr id="11" name="Text 8"/>
          <p:cNvSpPr txBox="1"/>
          <p:nvPr/>
        </p:nvSpPr>
        <p:spPr>
          <a:xfrm>
            <a:off x="7552944" y="1463040"/>
            <a:ext cx="1920240" cy="6400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Inversión anunciada</a:t>
            </a:r>
            <a:endParaRPr lang="en-US" sz="1700" dirty="0"/>
          </a:p>
        </p:txBody>
      </p:sp>
      <p:sp>
        <p:nvSpPr>
          <p:cNvPr id="12" name="etiqueta Inversión anunciada"/>
          <p:cNvSpPr/>
          <p:nvPr/>
        </p:nvSpPr>
        <p:spPr>
          <a:xfrm>
            <a:off x="7552944" y="2194560"/>
            <a:ext cx="1920240" cy="274320"/>
          </a:xfrm>
          <a:prstGeom prst="roundRect">
            <a:avLst>
              <a:gd name="adj" fmla="val 50000"/>
            </a:avLst>
          </a:prstGeom>
          <a:solidFill>
            <a:schemeClr val="accent3"/>
          </a:solidFill>
          <a:ln w="12700">
            <a:solidFill>
              <a:schemeClr val="accent3"/>
            </a:solidFill>
            <a:prstDash val="solid"/>
          </a:ln>
        </p:spPr>
      </p:sp>
      <p:sp>
        <p:nvSpPr>
          <p:cNvPr id="13" name="Text 10"/>
          <p:cNvSpPr txBox="1"/>
          <p:nvPr/>
        </p:nvSpPr>
        <p:spPr>
          <a:xfrm>
            <a:off x="7552944" y="2194560"/>
            <a:ext cx="1920240" cy="27432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NO ES DEMANDA ACTUAL</a:t>
            </a:r>
            <a:endParaRPr lang="en-US" sz="1100" dirty="0"/>
          </a:p>
        </p:txBody>
      </p:sp>
      <p:sp>
        <p:nvSpPr>
          <p:cNvPr id="14" name="Text 11"/>
          <p:cNvSpPr txBox="1"/>
          <p:nvPr/>
        </p:nvSpPr>
        <p:spPr>
          <a:xfrm>
            <a:off x="7552944" y="2606040"/>
            <a:ext cx="1920240" cy="265176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Pilgrim's: 1,300 millones de dólares en México 2026–2030, +38% de capacidad (Presidencia, 15-ene-2026). Bafar: parque agroindustrial de La Piedad, 650 mdd, en obra.</a:t>
            </a:r>
            <a:endParaRPr lang="en-US" sz="1500" dirty="0"/>
          </a:p>
        </p:txBody>
      </p:sp>
      <p:sp>
        <p:nvSpPr>
          <p:cNvPr id="15" name="tarjeta Pronóstico 2027"/>
          <p:cNvSpPr/>
          <p:nvPr/>
        </p:nvSpPr>
        <p:spPr>
          <a:xfrm>
            <a:off x="9756648" y="1371600"/>
            <a:ext cx="2194560" cy="3977640"/>
          </a:xfrm>
          <a:prstGeom prst="rect">
            <a:avLst/>
          </a:prstGeom>
          <a:solidFill>
            <a:schemeClr val="bg2"/>
          </a:solidFill>
          <a:ln w="12700">
            <a:solidFill>
              <a:schemeClr val="bg2"/>
            </a:solidFill>
            <a:prstDash val="solid"/>
          </a:ln>
        </p:spPr>
      </p:sp>
      <p:sp>
        <p:nvSpPr>
          <p:cNvPr id="16" name="Text 13"/>
          <p:cNvSpPr txBox="1"/>
          <p:nvPr/>
        </p:nvSpPr>
        <p:spPr>
          <a:xfrm>
            <a:off x="9893808" y="1463040"/>
            <a:ext cx="1920240" cy="6400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Pronóstico 2027</a:t>
            </a:r>
            <a:endParaRPr lang="en-US" sz="1700" dirty="0"/>
          </a:p>
        </p:txBody>
      </p:sp>
      <p:sp>
        <p:nvSpPr>
          <p:cNvPr id="17" name="etiqueta Pronóstico 2027"/>
          <p:cNvSpPr/>
          <p:nvPr/>
        </p:nvSpPr>
        <p:spPr>
          <a:xfrm>
            <a:off x="9893808" y="2194560"/>
            <a:ext cx="1920240" cy="274320"/>
          </a:xfrm>
          <a:prstGeom prst="roundRect">
            <a:avLst>
              <a:gd name="adj" fmla="val 50000"/>
            </a:avLst>
          </a:prstGeom>
          <a:solidFill>
            <a:schemeClr val="accent4"/>
          </a:solidFill>
          <a:ln w="12700">
            <a:solidFill>
              <a:schemeClr val="accent4"/>
            </a:solidFill>
            <a:prstDash val="solid"/>
          </a:ln>
        </p:spPr>
      </p:sp>
      <p:sp>
        <p:nvSpPr>
          <p:cNvPr id="18" name="Text 15"/>
          <p:cNvSpPr txBox="1"/>
          <p:nvPr/>
        </p:nvSpPr>
        <p:spPr>
          <a:xfrm>
            <a:off x="9893808" y="2194560"/>
            <a:ext cx="1920240" cy="27432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PENDIENTE</a:t>
            </a:r>
            <a:endParaRPr lang="en-US" sz="1100" dirty="0"/>
          </a:p>
        </p:txBody>
      </p:sp>
      <p:sp>
        <p:nvSpPr>
          <p:cNvPr id="19" name="Text 16"/>
          <p:cNvSpPr txBox="1"/>
          <p:nvPr/>
        </p:nvSpPr>
        <p:spPr>
          <a:xfrm>
            <a:off x="9893808" y="2606040"/>
            <a:ext cx="1920240" cy="265176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No hay cifra de crecimiento 2027 en las fuentes consultadas. No se rellena con una estimación.</a:t>
            </a:r>
            <a:endParaRPr lang="en-US" sz="1500" dirty="0"/>
          </a:p>
        </p:txBody>
      </p:sp>
      <p:sp>
        <p:nvSpPr>
          <p:cNvPr id="20" name="Text 17"/>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Fuentes: Comecarne, Compendio 2026, feb-2026 (comecarne.org/compendio26; fecha exacta no confirmada). USDA FAS GAIN, Mexico Livestock and Products Semi-annual, feb-2026. USDA GAIN Poultry Annual MX2025-0045. Presidencia/Plan México, 15-ene-2026. Reporte Anual 2024 de Bafar.</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Experiencia ganada que sirve de origen para cada grupo</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1672" cy="914400"/>
        </p:xfrm>
        <a:graphic>
          <a:graphicData uri="http://schemas.openxmlformats.org/drawingml/2006/table">
            <a:tbl>
              <a:tblPr/>
              <a:tblGrid>
                <a:gridCol w="1234440"/>
                <a:gridCol w="5120640"/>
                <a:gridCol w="1005840"/>
                <a:gridCol w="640080"/>
                <a:gridCol w="1737360"/>
                <a:gridCol w="1353312"/>
              </a:tblGrid>
              <a:tr h="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Grupo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Oportunidad ganada (nomenclatura completa del CRM)</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N.º CRM</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Año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Potencial anual registrado, MXN</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Familia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SuKarne</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3.1 SuKarne Lucero - Planta TIF 645 - Durango FP-HYDRAULICS-653517</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653517</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2024</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412,664.84</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FP-HYDRAULICS</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SuKarne</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7.1 HID MXT Ganaderia Integral Monarca Su Karne Vista Hermosa, - Ryasa Morelia - 717533</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717533</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2024</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257,915.55</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FP-HYDRAULICS</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SuKarne</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7.1 PCC SuKarne Lucero - Planta TIF 645 - Durango PT-PU BELTS-574398</a:t>
                      </a:r>
                      <a:endParaRPr lang="en-US" sz="1100" dirty="0">
                        <a:latin typeface="Calibri" charset="0"/>
                        <a:ea typeface="Calibri" charset="0"/>
                        <a:cs typeface="Calibri" charset="0"/>
                      </a:endParaRPr>
                    </a:p>
                    <a:p>
                      <a:pPr indent="0" marL="0">
                        <a:buNone/>
                      </a:pPr>
                      <a:r>
                        <a:rPr lang="en-US" sz="1100" dirty="0">
                          <a:solidFill>
                            <a:schemeClr val="tx1"/>
                          </a:solidFill>
                          <a:latin typeface="Calibri" pitchFamily="34" charset="0"/>
                          <a:ea typeface="Calibri" pitchFamily="34" charset="-122"/>
                          <a:cs typeface="Calibri" pitchFamily="34" charset="-120"/>
                        </a:rPr>
                        <a:t>7.1 V-B SuKarne Lucero - Planta TIF 645 - Durango PT-V-BELTS-656640</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574398</a:t>
                      </a:r>
                      <a:endParaRPr lang="en-US" sz="1100" dirty="0">
                        <a:latin typeface="Calibri" charset="0"/>
                        <a:ea typeface="Calibri" charset="0"/>
                        <a:cs typeface="Calibri" charset="0"/>
                      </a:endParaRPr>
                    </a:p>
                    <a:p>
                      <a:pPr indent="0" marL="0">
                        <a:buNone/>
                      </a:pPr>
                      <a:r>
                        <a:rPr lang="en-US" sz="1100" dirty="0">
                          <a:solidFill>
                            <a:schemeClr val="tx1"/>
                          </a:solidFill>
                          <a:latin typeface="Calibri" pitchFamily="34" charset="0"/>
                          <a:ea typeface="Calibri" pitchFamily="34" charset="-122"/>
                          <a:cs typeface="Calibri" pitchFamily="34" charset="-120"/>
                        </a:rPr>
                        <a:t>656640</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2022</a:t>
                      </a:r>
                      <a:endParaRPr lang="en-US" sz="1100" dirty="0">
                        <a:latin typeface="Calibri" charset="0"/>
                        <a:ea typeface="Calibri" charset="0"/>
                        <a:cs typeface="Calibri" charset="0"/>
                      </a:endParaRPr>
                    </a:p>
                    <a:p>
                      <a:pPr indent="0" marL="0">
                        <a:buNone/>
                      </a:pPr>
                      <a:r>
                        <a:rPr lang="en-US" sz="1100" dirty="0">
                          <a:solidFill>
                            <a:schemeClr val="tx1"/>
                          </a:solidFill>
                          <a:latin typeface="Calibri" pitchFamily="34" charset="0"/>
                          <a:ea typeface="Calibri" pitchFamily="34" charset="-122"/>
                          <a:cs typeface="Calibri" pitchFamily="34" charset="-120"/>
                        </a:rPr>
                        <a:t>2024</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262,738.95</a:t>
                      </a:r>
                      <a:endParaRPr lang="en-US" sz="1100" dirty="0">
                        <a:latin typeface="Calibri" charset="0"/>
                        <a:ea typeface="Calibri" charset="0"/>
                        <a:cs typeface="Calibri" charset="0"/>
                      </a:endParaRPr>
                    </a:p>
                    <a:p>
                      <a:pPr indent="0" marL="0">
                        <a:buNone/>
                      </a:pPr>
                      <a:r>
                        <a:rPr lang="en-US" sz="1100" dirty="0">
                          <a:solidFill>
                            <a:schemeClr val="tx1"/>
                          </a:solidFill>
                          <a:latin typeface="Calibri" pitchFamily="34" charset="0"/>
                          <a:ea typeface="Calibri" pitchFamily="34" charset="-122"/>
                          <a:cs typeface="Calibri" pitchFamily="34" charset="-120"/>
                        </a:rPr>
                        <a:t>309,498.58</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PT-PU BELTS</a:t>
                      </a:r>
                      <a:endParaRPr lang="en-US" sz="1100" dirty="0">
                        <a:latin typeface="Calibri" charset="0"/>
                        <a:ea typeface="Calibri" charset="0"/>
                        <a:cs typeface="Calibri" charset="0"/>
                      </a:endParaRPr>
                    </a:p>
                    <a:p>
                      <a:pPr indent="0" marL="0">
                        <a:buNone/>
                      </a:pPr>
                      <a:r>
                        <a:rPr lang="en-US" sz="1100" dirty="0">
                          <a:solidFill>
                            <a:schemeClr val="tx1"/>
                          </a:solidFill>
                          <a:latin typeface="Calibri" pitchFamily="34" charset="0"/>
                          <a:ea typeface="Calibri" pitchFamily="34" charset="-122"/>
                          <a:cs typeface="Calibri" pitchFamily="34" charset="-120"/>
                        </a:rPr>
                        <a:t>PT-V-BELTS</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Bachoco</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7.1 V-Belts Bachoco, S.A. de C.V. - Planta procesadora de aves Guanajuato - Guanajuato PT-V-BELTS-643201</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643201</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2023</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538,004.45</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PT-V-BELTS</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Pilgrim's Pride</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7.1- TPU-Pilgrims Pride Gomez Palacio -Rybalsa-Torreón</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744810</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2024</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206,332.51</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PT-PU BELTS</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Bafar</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Sin caso propio. Caso espejo de Qualtia: 2.2 QUALTIA ALIMENTOS MANGUERA Y INDS, E HIDRAULICA BANDAS MECTROL_</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O-00244438</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2021</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306,528.89</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PENDIENTE</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4160520"/>
            <a:ext cx="11091672" cy="17373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Montos: potencial anual registrado en el CRM, no facturación. Ryasa y Rybalsa son distribuidores: canal, no usuario final.</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La nomenclatura da solo la familia. Máquina, número de parte e intervalo de reemplazo: PENDIENTE. Si la banda TPU de Pilgrim's es de transmisión o de transporte, y cuál de los TIF A-88, A-14 y 794 de Gómez Palacio es el origen: PENDIENTE.</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SuKarne: las bandas de Lucero son las que sostienen la réplica en TIF 718; la manguera hidráulica no aplica allí. Bafar: réplica de perfil de negocio, evidencia más débil.</a:t>
            </a:r>
            <a:endParaRPr lang="en-US" sz="1400" dirty="0"/>
          </a:p>
        </p:txBody>
      </p:sp>
      <p:sp>
        <p:nvSpPr>
          <p:cNvPr id="5" name="Text 2"/>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 CRM Base_Simbiosis.xlsx (hoja DETALLE, Decisión = Elegible, actualización máxima 12-ago-2026); nomenclaturas verificadas contra el archivo el 14-oct-2026. Responsables históricos del CRM: confirmar el vigente antes de asignar trabajo.</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Cuatro grupos, cuatro situaciones comerciales distintas</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1672" cy="914400"/>
        </p:xfrm>
        <a:graphic>
          <a:graphicData uri="http://schemas.openxmlformats.org/drawingml/2006/table">
            <a:tbl>
              <a:tblPr/>
              <a:tblGrid>
                <a:gridCol w="1920240"/>
                <a:gridCol w="3017520"/>
                <a:gridCol w="3291840"/>
                <a:gridCol w="2862072"/>
              </a:tblGrid>
              <a:tr h="347472">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Grupo</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Plantas documentadas</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Historial en el CRM (solo Elegible)</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Contexto y alertas</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1097280">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SuKarne</a:t>
                      </a:r>
                      <a:endParaRPr lang="en-US" sz="1200" dirty="0">
                        <a:latin typeface="Calibri" charset="0"/>
                        <a:ea typeface="Calibri" charset="0"/>
                        <a:cs typeface="Calibri" charset="0"/>
                      </a:endParaRPr>
                    </a:p>
                    <a:p>
                      <a:pPr indent="0" marL="0">
                        <a:buNone/>
                      </a:pPr>
                      <a:r>
                        <a:rPr lang="en-US" sz="1100" b="1" dirty="0">
                          <a:solidFill>
                            <a:schemeClr val="bg1"/>
                          </a:solidFill>
                          <a:latin typeface="Calibri" pitchFamily="34" charset="0"/>
                          <a:ea typeface="Calibri" pitchFamily="34" charset="-122"/>
                          <a:cs typeface="Calibri" pitchFamily="34" charset="-120"/>
                        </a:rPr>
                        <a:t>CON HISTORIAL GANADO</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10 TIF: 9 a nombre de SuKarne en el padrón y el 645 de Lucero, registrado como Ganadería y Rastro de la Laguna y atribuido al grupo por sukarne.com. Vista Hermosa y Lucero: modelos de referencia por regla de trabajo.</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10 ganadas; suma de potenciales anuales registrados: 2.68 millones MXN. Monarca («TIF 43» en el CRM, «431» en otra fuente) y Ganadería Integral SK se atribuyen por nombre: sin ellas, 8 ganadas y 2.23 millones.</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Posible venta del grupo por más de 2,000 millones de dólares (El Financiero, 4-ago-2026): proceso en curso, resultado ND.</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868680">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Bachoco</a:t>
                      </a:r>
                      <a:endParaRPr lang="en-US" sz="1200" dirty="0">
                        <a:latin typeface="Calibri" charset="0"/>
                        <a:ea typeface="Calibri" charset="0"/>
                        <a:cs typeface="Calibri" charset="0"/>
                      </a:endParaRPr>
                    </a:p>
                    <a:p>
                      <a:pPr indent="0" marL="0">
                        <a:buNone/>
                      </a:pPr>
                      <a:r>
                        <a:rPr lang="en-US" sz="1100" b="1" dirty="0">
                          <a:solidFill>
                            <a:schemeClr val="bg1"/>
                          </a:solidFill>
                          <a:latin typeface="Calibri" pitchFamily="34" charset="0"/>
                          <a:ea typeface="Calibri" pitchFamily="34" charset="-122"/>
                          <a:cs typeface="Calibri" pitchFamily="34" charset="-120"/>
                        </a:rPr>
                        <a:t>ATENDIDO POR OTRAS REGIONES</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3"/>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64 plantas en 10 complejos (Informe Anual 2024).</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31 ganadas; suma 10.59 millones MXN. Lagos de Moreno: una oportunidad perdida en 2020, motivo no disponible.</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Marcos: compañeros de otras regiones ya atienden la cuenta, pero sigue siendo buen prospecto. Confirmar si incluye la planta de Lagos.</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1005840">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Pilgrim's Pride</a:t>
                      </a:r>
                      <a:endParaRPr lang="en-US" sz="1200" dirty="0">
                        <a:latin typeface="Calibri" charset="0"/>
                        <a:ea typeface="Calibri" charset="0"/>
                        <a:cs typeface="Calibri" charset="0"/>
                      </a:endParaRPr>
                    </a:p>
                    <a:p>
                      <a:pPr indent="0" marL="0">
                        <a:buNone/>
                      </a:pPr>
                      <a:r>
                        <a:rPr lang="en-US" sz="1100" b="1" dirty="0">
                          <a:solidFill>
                            <a:schemeClr val="bg1"/>
                          </a:solidFill>
                          <a:latin typeface="Calibri" pitchFamily="34" charset="0"/>
                          <a:ea typeface="Calibri" pitchFamily="34" charset="-122"/>
                          <a:cs typeface="Calibri" pitchFamily="34" charset="-120"/>
                        </a:rPr>
                        <a:t>CON HISTORIAL GANADO</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6 TIF en el padrón: 3 en Gómez Palacio, y 1 en Hidalgo, Querétaro y San Luis Potosí.</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10 ganadas; suma 2.15 millones MXN, de los cuales 1.89 millones en claves de Durango. Hidalgo y Estado de México: sin registros.</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Inversión anunciada de 1,300 mdd (2026–2030): expansión de +38% de capacidad; solo 150 mdd del centro del país son modernización. No es demanda actual.</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1005840">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Grupo Bafar</a:t>
                      </a:r>
                      <a:endParaRPr lang="en-US" sz="1200" dirty="0">
                        <a:latin typeface="Calibri" charset="0"/>
                        <a:ea typeface="Calibri" charset="0"/>
                        <a:cs typeface="Calibri" charset="0"/>
                      </a:endParaRPr>
                    </a:p>
                    <a:p>
                      <a:pPr indent="0" marL="0">
                        <a:buNone/>
                      </a:pPr>
                      <a:r>
                        <a:rPr lang="en-US" sz="1100" b="1" dirty="0">
                          <a:solidFill>
                            <a:schemeClr val="bg1"/>
                          </a:solidFill>
                          <a:latin typeface="Calibri" pitchFamily="34" charset="0"/>
                          <a:ea typeface="Calibri" pitchFamily="34" charset="-122"/>
                          <a:cs typeface="Calibri" pitchFamily="34" charset="-120"/>
                        </a:rPr>
                        <a:t>0 GANADAS EN EL CRM</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4 complejos declarados: Chihuahua, La Piedad, Toluca y Gómez Palacio (Reporte Anual 2024). Compra la carne a terceros: no sacrifica.</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 ganadas. Búsqueda por «Bafar» y «Strattega»: solo 2 oportunidades, perdidas en 2023 (PT-PU BELTS, motivo no disponible). Subsidiarias con otro nombre: PENDIENTE.</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Ventas netas +14.8% en 2025 y +17.1% en 2T-2026, incluye tiendas propias. Marcos abrió oportunidades con La Piedad y dice que Gates casi no tiene presencia.</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Sumas = potencial anual registrado de ganadas de varios años (2019–2026): no son monto anual ni facturación. Fuera de Elegible hay 13 ganadas más de Bachoco y 3 de SuKarne, no contadas. Fuentes en el apéndice 2. Estados de Bachoco y Bafar: declaración de Marcos, 14-oct-2026. Grupos acordados en la junta con Ricardo, no ranking de mercado.</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Siete plantas por estado y qué tan firme es cada réplica</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1672" cy="914400"/>
        </p:xfrm>
        <a:graphic>
          <a:graphicData uri="http://schemas.openxmlformats.org/drawingml/2006/table">
            <a:tbl>
              <a:tblPr/>
              <a:tblGrid>
                <a:gridCol w="1188720"/>
                <a:gridCol w="3154680"/>
                <a:gridCol w="1188720"/>
                <a:gridCol w="5559552"/>
              </a:tblGrid>
              <a:tr h="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Estado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Planta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Réplica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Qué falta validar o decidir</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Michoacán</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Bafar · Complejo productivo La Piedad (incluye el Complejo Agroindustrial de 650 mdd, en obra)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SIN CASO PROPIO</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4"/>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Marcos abrió oportunidades (declaración; n.º PENDIENTE). Domicilio y TIF: ND (¿TIF 126 de Strattega? por verificar). Lo que opera puede tener reposición (HIPÓTESIS); lo que está en obra no es demanda actual.</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Jalisco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Bachoco · Planta Procesadora de Aves, División Occidente, Lagos de Moreno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SÍ, CONDICIONADO</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Oportunidad perdida «7.1 PCC C2B-Bachoco Lagos- Bamac Guadalajara» (O-00218689, 2020, 834,766.20 MXN registrado; Bamac es canal; motivo no disponible). Confirmar si es el TIF A-183: la dirección difiere (km 12.5 contra 13.5, otro CP y municipio).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Hidalgo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Pilgrim's · Tepeji del Río (¿TIF A-239 «Ocampo»?)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SÍ, CONDICIONADO</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Confirmar con el domicilio que son el mismo sitio; si no, baja a PARCIAL. Tepeji declara embutidos y pasta que el origen no tiene: aplicación nueva, no réplica.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Estado de México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Pilgrim's · Toluca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PARCIAL</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3"/>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Solo aparece en un directorio telefónico y no está en el padrón TIF. Confirmar que existe y si sacrifica.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Estado de México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Bafar · Lerma de Villada (¿mismo sitio que Complejo Toluca?)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PARCIAL</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3"/>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Posible duplicado: usar el Complejo Toluca (Reporte Anual 2024) como referencia principal. No contar dos plantas hasta aclarar.</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Tlaxcala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SuKarne · TIF 718 Villa de las Flores (SENASICA: Atlangatepec; Expansión 2023: Tlaxco)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PARCIAL</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3"/>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Corte, deshuese, inyección porcina y frío. Capacidad reportada: 120 t/semana (Expansión, 12-abr-2023; vigencia ND; la meta de 840 no está confirmada). No proyectar el consumo del origen.</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Jalisco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SuKarne · TIF 94 Zapopan</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Planta de cocción sin sacrificio. Solo MRO genérico: sería prospección nueva, no réplica.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Fuentes: Directorio TIF SENASICA, 7-sep-2026 · Reporte Anual 2024 de Bafar · Expansión, 12-abr-2023 · directorios comerciales para Tepeji, Toluca, Lerma y Lagos (apéndice) · CRM Base_Simbiosis. Todas las réplicas son HIPÓTESIS hasta visita. Oportunidades de La Piedad: declaración de Marcos, 14-oct-2026.</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Hallazgos adicionales y lo que falta antes de cerrar</a:t>
            </a:r>
            <a:endParaRPr lang="en-US" sz="2800" dirty="0"/>
          </a:p>
        </p:txBody>
      </p:sp>
      <p:sp>
        <p:nvSpPr>
          <p:cNvPr id="3" name="panel hallazgos"/>
          <p:cNvSpPr/>
          <p:nvPr/>
        </p:nvSpPr>
        <p:spPr>
          <a:xfrm>
            <a:off x="548640" y="1280160"/>
            <a:ext cx="5440680" cy="4617720"/>
          </a:xfrm>
          <a:prstGeom prst="rect">
            <a:avLst/>
          </a:prstGeom>
          <a:solidFill>
            <a:schemeClr val="bg2"/>
          </a:solidFill>
          <a:ln w="12700">
            <a:solidFill>
              <a:schemeClr val="bg2"/>
            </a:solidFill>
            <a:prstDash val="solid"/>
          </a:ln>
        </p:spPr>
      </p:sp>
      <p:sp>
        <p:nvSpPr>
          <p:cNvPr id="4" name="Text 2"/>
          <p:cNvSpPr txBox="1"/>
          <p:nvPr/>
        </p:nvSpPr>
        <p:spPr>
          <a:xfrm>
            <a:off x="731520" y="1417320"/>
            <a:ext cx="5074920" cy="4389120"/>
          </a:xfrm>
          <a:prstGeom prst="rect">
            <a:avLst/>
          </a:prstGeom>
          <a:noFill/>
          <a:ln/>
        </p:spPr>
        <p:txBody>
          <a:bodyPr wrap="square" lIns="0" tIns="0" rIns="0" bIns="0" rtlCol="0" anchor="t"/>
          <a:lstStyle/>
          <a:p>
            <a:pPr indent="0" marL="0">
              <a:spcAft>
                <a:spcPts val="800"/>
              </a:spcAft>
              <a:buNone/>
            </a:pPr>
            <a:r>
              <a:rPr lang="en-US" sz="1700" b="1" dirty="0">
                <a:solidFill>
                  <a:schemeClr val="tx1"/>
                </a:solidFill>
                <a:latin typeface="Calibri" pitchFamily="34" charset="0"/>
                <a:ea typeface="Calibri" pitchFamily="34" charset="-122"/>
                <a:cs typeface="Calibri" pitchFamily="34" charset="-120"/>
              </a:rPr>
              <a:t>Hallazgos adicionales (no reemplazan a los cuatro)</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Qualtia y Sigma: carnes frías. Qualtia: 4 TIF y 1 ganada en el CRM. Sigma: 15 TIF en 8 estados (padrón de sep-2026) y 7 ganadas en el CRM. Quedan documentados para ampliar si Ricardo lo decide.</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GAO Aluminio, Acatlán de Juárez, Jalisco: extrusión de aluminio (gaoaluminio.com, consultada el 14-oct-2026). Marcos abrió una oportunidad y reporta muchas necesidades hidráulicas (declaración suya). N.º de oportunidad, razón social, equipos y capacidad: PENDIENTE o ND.</a:t>
            </a:r>
            <a:endParaRPr lang="en-US" sz="1500" dirty="0"/>
          </a:p>
          <a:p>
            <a:pPr marL="342900" indent="-342900">
              <a:buSzPct val="100000"/>
              <a:buChar char="•"/>
            </a:pPr>
            <a:r>
              <a:rPr lang="en-US" sz="1500" dirty="0">
                <a:solidFill>
                  <a:schemeClr val="tx1"/>
                </a:solidFill>
                <a:latin typeface="Calibri" pitchFamily="34" charset="0"/>
                <a:ea typeface="Calibri" pitchFamily="34" charset="-122"/>
                <a:cs typeface="Calibri" pitchFamily="34" charset="-120"/>
              </a:rPr>
              <a:t>GAO no es proteína animal: Ricardo decide si entra al programa como caso de campo nuevo.</a:t>
            </a:r>
            <a:endParaRPr lang="en-US" sz="1500" dirty="0"/>
          </a:p>
        </p:txBody>
      </p:sp>
      <p:sp>
        <p:nvSpPr>
          <p:cNvPr id="5" name="panel pendientes"/>
          <p:cNvSpPr/>
          <p:nvPr/>
        </p:nvSpPr>
        <p:spPr>
          <a:xfrm>
            <a:off x="6172200" y="1280160"/>
            <a:ext cx="5468112" cy="4617720"/>
          </a:xfrm>
          <a:prstGeom prst="rect">
            <a:avLst/>
          </a:prstGeom>
          <a:solidFill>
            <a:schemeClr val="bg2"/>
          </a:solidFill>
          <a:ln w="12700">
            <a:solidFill>
              <a:schemeClr val="bg2"/>
            </a:solidFill>
            <a:prstDash val="solid"/>
          </a:ln>
        </p:spPr>
      </p:sp>
      <p:sp>
        <p:nvSpPr>
          <p:cNvPr id="6" name="Text 4"/>
          <p:cNvSpPr txBox="1"/>
          <p:nvPr/>
        </p:nvSpPr>
        <p:spPr>
          <a:xfrm>
            <a:off x="6355080" y="1417320"/>
            <a:ext cx="5102352" cy="4389120"/>
          </a:xfrm>
          <a:prstGeom prst="rect">
            <a:avLst/>
          </a:prstGeom>
          <a:noFill/>
          <a:ln/>
        </p:spPr>
        <p:txBody>
          <a:bodyPr wrap="square" lIns="0" tIns="0" rIns="0" bIns="0" rtlCol="0" anchor="t"/>
          <a:lstStyle/>
          <a:p>
            <a:pPr indent="0" marL="0">
              <a:spcAft>
                <a:spcPts val="800"/>
              </a:spcAft>
              <a:buNone/>
            </a:pPr>
            <a:r>
              <a:rPr lang="en-US" sz="1700" b="1" dirty="0">
                <a:solidFill>
                  <a:schemeClr val="tx1"/>
                </a:solidFill>
                <a:latin typeface="Calibri" pitchFamily="34" charset="0"/>
                <a:ea typeface="Calibri" pitchFamily="34" charset="-122"/>
                <a:cs typeface="Calibri" pitchFamily="34" charset="-120"/>
              </a:rPr>
              <a:t>Pendientes</a:t>
            </a:r>
            <a:endParaRPr lang="en-US" sz="1500" dirty="0"/>
          </a:p>
          <a:p>
            <a:pPr marL="342900" indent="-342900">
              <a:spcAft>
                <a:spcPts val="400"/>
              </a:spcAft>
              <a:buSzPct val="100000"/>
              <a:buChar char="•"/>
            </a:pPr>
            <a:r>
              <a:rPr lang="en-US" sz="1500" dirty="0">
                <a:solidFill>
                  <a:schemeClr val="tx1"/>
                </a:solidFill>
                <a:latin typeface="Calibri" pitchFamily="34" charset="0"/>
                <a:ea typeface="Calibri" pitchFamily="34" charset="-122"/>
                <a:cs typeface="Calibri" pitchFamily="34" charset="-120"/>
              </a:rPr>
              <a:t>Pasar los números de oportunidad de Bafar La Piedad y GAO.</a:t>
            </a:r>
            <a:endParaRPr lang="en-US" sz="1500" dirty="0"/>
          </a:p>
          <a:p>
            <a:pPr marL="342900" indent="-342900">
              <a:spcAft>
                <a:spcPts val="400"/>
              </a:spcAft>
              <a:buSzPct val="100000"/>
              <a:buChar char="•"/>
            </a:pPr>
            <a:r>
              <a:rPr lang="en-US" sz="1500" dirty="0">
                <a:solidFill>
                  <a:schemeClr val="tx1"/>
                </a:solidFill>
                <a:latin typeface="Calibri" pitchFamily="34" charset="0"/>
                <a:ea typeface="Calibri" pitchFamily="34" charset="-122"/>
                <a:cs typeface="Calibri" pitchFamily="34" charset="-120"/>
              </a:rPr>
              <a:t>Bachoco: confirmar con las otras regiones si atienden la planta de Lagos o solo el corporativo.</a:t>
            </a:r>
            <a:endParaRPr lang="en-US" sz="1500" dirty="0"/>
          </a:p>
          <a:p>
            <a:pPr marL="342900" indent="-342900">
              <a:spcAft>
                <a:spcPts val="400"/>
              </a:spcAft>
              <a:buSzPct val="100000"/>
              <a:buChar char="•"/>
            </a:pPr>
            <a:r>
              <a:rPr lang="en-US" sz="1500" dirty="0">
                <a:solidFill>
                  <a:schemeClr val="tx1"/>
                </a:solidFill>
                <a:latin typeface="Calibri" pitchFamily="34" charset="0"/>
                <a:ea typeface="Calibri" pitchFamily="34" charset="-122"/>
                <a:cs typeface="Calibri" pitchFamily="34" charset="-120"/>
              </a:rPr>
              <a:t>Bachoco Guanajuato: el responsable histórico figura inactivo; designar quién recupera el expediente.</a:t>
            </a:r>
            <a:endParaRPr lang="en-US" sz="1500" dirty="0"/>
          </a:p>
          <a:p>
            <a:pPr marL="342900" indent="-342900">
              <a:spcAft>
                <a:spcPts val="400"/>
              </a:spcAft>
              <a:buSzPct val="100000"/>
              <a:buChar char="•"/>
            </a:pPr>
            <a:r>
              <a:rPr lang="en-US" sz="1500" dirty="0">
                <a:solidFill>
                  <a:schemeClr val="tx1"/>
                </a:solidFill>
                <a:latin typeface="Calibri" pitchFamily="34" charset="0"/>
                <a:ea typeface="Calibri" pitchFamily="34" charset="-122"/>
                <a:cs typeface="Calibri" pitchFamily="34" charset="-120"/>
              </a:rPr>
              <a:t>Cerrar identidades: Tepeji = TIF A-239; Lagos = TIF A-183 (la dirección difiere); Lerma = Toluca; TIF de La Piedad.</a:t>
            </a:r>
            <a:endParaRPr lang="en-US" sz="1500" dirty="0"/>
          </a:p>
          <a:p>
            <a:pPr marL="342900" indent="-342900">
              <a:spcAft>
                <a:spcPts val="400"/>
              </a:spcAft>
              <a:buSzPct val="100000"/>
              <a:buChar char="•"/>
            </a:pPr>
            <a:r>
              <a:rPr lang="en-US" sz="1500" dirty="0">
                <a:solidFill>
                  <a:schemeClr val="tx1"/>
                </a:solidFill>
                <a:latin typeface="Calibri" pitchFamily="34" charset="0"/>
                <a:ea typeface="Calibri" pitchFamily="34" charset="-122"/>
                <a:cs typeface="Calibri" pitchFamily="34" charset="-120"/>
              </a:rPr>
              <a:t>Buscar en el CRM las subsidiarias de Bafar con otro nombre.</a:t>
            </a:r>
            <a:endParaRPr lang="en-US" sz="1500" dirty="0"/>
          </a:p>
          <a:p>
            <a:pPr marL="342900" indent="-342900">
              <a:buSzPct val="100000"/>
              <a:buChar char="•"/>
            </a:pPr>
            <a:r>
              <a:rPr lang="en-US" sz="1500" dirty="0">
                <a:solidFill>
                  <a:schemeClr val="tx1"/>
                </a:solidFill>
                <a:latin typeface="Calibri" pitchFamily="34" charset="0"/>
                <a:ea typeface="Calibri" pitchFamily="34" charset="-122"/>
                <a:cs typeface="Calibri" pitchFamily="34" charset="-120"/>
              </a:rPr>
              <a:t>Pronóstico 2027; confirmar el subsector 311 y las cifras de Comecarne con el original.</a:t>
            </a:r>
            <a:endParaRPr lang="en-US" sz="1500" dirty="0"/>
          </a:p>
        </p:txBody>
      </p:sp>
      <p:sp>
        <p:nvSpPr>
          <p:cNvPr id="7" name="Text 5"/>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Fuentes: gaoaluminio.com (consultado el 14-oct-2026; sin fecha de publicación) · Directorio TIF SENASICA, 7-sep-2026 · CRM Base_Simbiosis · declaraciones de campo de Marcos, 14-oct-2026. El CRM no tiene campo de motivo de pérdida: no se infiere la causa.</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Apéndice 1: fuentes de mercado con URL y fecha</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1672" cy="914400"/>
        </p:xfrm>
        <a:graphic>
          <a:graphicData uri="http://schemas.openxmlformats.org/drawingml/2006/table">
            <a:tbl>
              <a:tblPr/>
              <a:tblGrid>
                <a:gridCol w="2834640"/>
                <a:gridCol w="2286000"/>
                <a:gridCol w="1554480"/>
                <a:gridCol w="4416552"/>
              </a:tblGrid>
              <a:tr h="0">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Dato</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Fuente</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Fecha de publicación</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URL</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PIB primario +4.0%, nacional +0.8%, secundario −1.1% (2025)</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SIAP/SADER con base en INEGI</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23-feb-2026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gob.mx/agricultura/dgsiap/articulos/el-pib-primario-tiene-su-mejor-desempeno-en-trece-anos-al-crecer-4-0-en-2025</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Industria alimentaria (311): −0.4% a +2.2% mensual 2026 (HIPÓTESIS)</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INEGI, EMIM, vía búsqueda</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ND (boletines mensuales 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inegi.org.mx/contenidos/saladeprensa/boletines/2026/emim/emim2026_08.pdf</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Consumo de carne +4.5%, producción +2.6% (2025) (HIPÓTESIS)</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Consejo Mexicano de la Carne, Compendio 2026, vía prensa</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feb-2026 (día exacto ND)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comecarne.org/compendio26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Pie de cría porcino +2% (pronóstico 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USDA FAS GAIN</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feb-2026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fas.usda.gov/data/gain/2026/02/mexico-livestock-and-products-semi-annual</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Pollo +2% (pronóstico 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USDA FAS GAIN, Poultry Annual MX2025-0045</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2025 (día ND)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apps.fas.usda.gov/newgainapi/api/Report/DownloadReportByFileName?fileName=Poultry+and+Products+Annual_Mexico+City_Mexico_MX2025-0045.pdf</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Pilgrim's: 1,300 mdd 2026–2030, +38% de capacidad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Presidencia, Plan México</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15-ene-2026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gob.mx/presidencia/prensa/plan-mexico-empresa-global-pilgrim-s-invertira-en-el-pais-mil-300-millones-de-dolares-para-2026-2030-generara-20-mil-empleos</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SuKarne: posible venta por más de 2,000 mdd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El Financiero</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4-ago-2026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elfinanciero.com.mx/empresas/2026/08/04/que-sabemos-de-la-posible-venta-de-sukarne-el-mayor-exportador-de-carne-de-mexico/</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Bafar: ventas netas +14.8% en 2025</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Grupo Bafar</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ND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grupobafar.com/grupo-bafar-incrementa-14-8-sus-ventas-en-2025-y-dispara-173-1-su-utilidad-neta/</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Bafar: ventas netas +17.1% en 2T-2026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El Heraldo de Chihuahua (OEM)</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28-jul-2026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oem.com.mx/elheraldodechihuahua/finanzas/crecieron-un-17-las-ventas-netas-en-grupo-bafar-al-segundo-trimestre-de-2026-31348026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Apéndice 2: fuentes de plantas y oportunidades del CRM</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1672" cy="914400"/>
        </p:xfrm>
        <a:graphic>
          <a:graphicData uri="http://schemas.openxmlformats.org/drawingml/2006/table">
            <a:tbl>
              <a:tblPr/>
              <a:tblGrid>
                <a:gridCol w="2834640"/>
                <a:gridCol w="2286000"/>
                <a:gridCol w="1554480"/>
                <a:gridCol w="4416552"/>
              </a:tblGrid>
              <a:tr h="0">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Dato</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Fuente</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Fecha de publicación</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URL</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TIF de SuKarne, Pilgrim's, Bachoco, Qualtia y Sigma; TIF 94 sin sacrificio</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Directorio TIF, SENASICA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7-sep-2026</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gob.mx/cms/uploads/attachment/file/1095992/DIRECTORIO_TIF_07-09-2026.pdf</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Bachoco: 64 plantas en 10 complejos</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Informe Anual 2024, Bachoco (BMV)</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grupobachoco.com/wp-content/downloads/2025/Informe-Anual-2024-BMV.pdf</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Bafar: 4 complejos productivos; La Piedad; compra de carne a terceros</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Reporte Anual 2024, Grupo Bafar (BIVA)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 (≈ 30-abr-2025, inferida del sello del archivo)</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biva.mx/storage/information-send/RAN/BAFAR/ReporteAnual_2024_BAFAR_1746046978785.pdf</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SuKarne: TIF 645 (Lucero) atribuido al grupo</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sukarne.com, consultada el 11-sep-2026</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sukarne.com/plantas/</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SuKarne TIF 718: 120 t/semana, meta de 840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Expansión</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12-abr-2023</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expansion.mx/empresas/2023/04/12/sukarne-adquiere-planta-procesadora-tlaxcala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Pilgrim's Tepeji; Toluca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az-mexico.com; abctelefonos.com (directorios comerciales, consultados el 11-sep-2026)</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az-mexico.com/empresas/pilgrims_pride_tepeji_del_rio_de_ocampo_hgo_carretera_antga_mex_queretaro_sn_72_5 · abctelefonos.com/persona_mexico/pilgrim/pag_22</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Bachoco Lagos de Moreno; Bafar Lerma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desarrolloeconomicolagos.com; manufactura-latam.com (consultados el 11-sep-2026)</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desarrolloeconomicolagos.com/listing/bachoco/ · manufactura-latam.com/mexico/lerma-de-villada/fabricantes/grupo-bafar</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GAO Aluminio: extrusión de aluminio, Acatlán de Juárez</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gaoaluminio.com, consultada el 14-oct-2026</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gaoaluminio.com</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4846320"/>
            <a:ext cx="11091672" cy="1463040"/>
          </a:xfrm>
          <a:prstGeom prst="rect">
            <a:avLst/>
          </a:prstGeom>
          <a:noFill/>
          <a:ln/>
        </p:spPr>
        <p:txBody>
          <a:bodyPr wrap="square" lIns="0" tIns="0" rIns="0" bIns="0" rtlCol="0" anchor="t"/>
          <a:lstStyle/>
          <a:p>
            <a:pPr indent="0" marL="0">
              <a:spcAft>
                <a:spcPts val="200"/>
              </a:spcAft>
              <a:buNone/>
            </a:pPr>
            <a:r>
              <a:rPr lang="en-US" sz="1200" b="1" dirty="0">
                <a:solidFill>
                  <a:schemeClr val="tx1"/>
                </a:solidFill>
                <a:latin typeface="Calibri" pitchFamily="34" charset="0"/>
                <a:ea typeface="Calibri" pitchFamily="34" charset="-122"/>
                <a:cs typeface="Calibri" pitchFamily="34" charset="-120"/>
              </a:rPr>
              <a:t>Oportunidades del CRM citadas fuera de la lámina 5 (Base_Simbiosis.xlsx, hoja DETALLE, Elegible, verificadas el 14-oct-2026; Lost; MXN de potencial anual registrado)</a:t>
            </a:r>
            <a:endParaRPr lang="en-US" sz="1100" dirty="0"/>
          </a:p>
          <a:p>
            <a:pPr marL="342900" indent="-342900">
              <a:buSzPct val="100000"/>
              <a:buChar char="•"/>
            </a:pPr>
            <a:r>
              <a:rPr lang="en-US" sz="1100" dirty="0">
                <a:solidFill>
                  <a:schemeClr val="tx1"/>
                </a:solidFill>
                <a:latin typeface="Calibri" pitchFamily="34" charset="0"/>
                <a:ea typeface="Calibri" pitchFamily="34" charset="-122"/>
                <a:cs typeface="Calibri" pitchFamily="34" charset="-120"/>
              </a:rPr>
              <a:t>O-00218689 · 7.1 PCC C2B-Bachoco Lagos- Bamac Guadalajara · 2020 · 834,766.20</a:t>
            </a:r>
            <a:endParaRPr lang="en-US" sz="1100" dirty="0"/>
          </a:p>
          <a:p>
            <a:pPr marL="342900" indent="-342900">
              <a:buSzPct val="100000"/>
              <a:buChar char="•"/>
            </a:pPr>
            <a:r>
              <a:rPr lang="en-US" sz="1100" dirty="0">
                <a:solidFill>
                  <a:schemeClr val="tx1"/>
                </a:solidFill>
                <a:latin typeface="Calibri" pitchFamily="34" charset="0"/>
                <a:ea typeface="Calibri" pitchFamily="34" charset="-122"/>
                <a:cs typeface="Calibri" pitchFamily="34" charset="-120"/>
              </a:rPr>
              <a:t>566392 · 7.1 TPU Grupo Bafar Chihuahua - Rorisa Chihuahua PT-PU BELTS-566392 · 2023 · 591,804.81</a:t>
            </a:r>
            <a:endParaRPr lang="en-US" sz="1100" dirty="0"/>
          </a:p>
          <a:p>
            <a:pPr marL="342900" indent="-342900">
              <a:buSzPct val="100000"/>
              <a:buChar char="•"/>
            </a:pPr>
            <a:r>
              <a:rPr lang="en-US" sz="1100" dirty="0">
                <a:solidFill>
                  <a:schemeClr val="tx1"/>
                </a:solidFill>
                <a:latin typeface="Calibri" pitchFamily="34" charset="0"/>
                <a:ea typeface="Calibri" pitchFamily="34" charset="-122"/>
                <a:cs typeface="Calibri" pitchFamily="34" charset="-120"/>
              </a:rPr>
              <a:t>656090 · 7.1 - TPU + LINATRIL - Grupo Bafar Chihuahua - Interbandas Chihuahua PT-PU BELTS-656090 · 2023 · 286,935.76</a:t>
            </a:r>
            <a:endParaRPr lang="en-US" sz="11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Simbiosis IR">
  <a:themeElements>
    <a:clrScheme name="Simbiosis IR">
      <a:dk1>
        <a:srgbClr val="1F2A2E"/>
      </a:dk1>
      <a:lt1>
        <a:srgbClr val="FFFFFF"/>
      </a:lt1>
      <a:dk2>
        <a:srgbClr val="3A4A50"/>
      </a:dk2>
      <a:lt2>
        <a:srgbClr val="F1F3F4"/>
      </a:lt2>
      <a:accent1>
        <a:srgbClr val="A63D2B"/>
      </a:accent1>
      <a:accent2>
        <a:srgbClr val="2F6F62"/>
      </a:accent2>
      <a:accent3>
        <a:srgbClr val="C98A1B"/>
      </a:accent3>
      <a:accent4>
        <a:srgbClr val="7C878C"/>
      </a:accent4>
      <a:accent5>
        <a:srgbClr val="5B7B8C"/>
      </a:accent5>
      <a:accent6>
        <a:srgbClr val="D9DEE0"/>
      </a:accent6>
      <a:hlink>
        <a:srgbClr val="2F6F62"/>
      </a:hlink>
      <a:folHlink>
        <a:srgbClr val="7C878C"/>
      </a:folHlink>
    </a:clrScheme>
    <a:fontScheme name="Simbiosis I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Simbiosis IR - Proteína animal - Entregable 1</dc:title>
  <dc:subject>PptxGenJS Presentation</dc:subject>
  <dc:creator>Programa Simbiosis IR</dc:creator>
  <cp:lastModifiedBy>Programa Simbiosis IR</cp:lastModifiedBy>
  <cp:revision>1</cp:revision>
  <dcterms:created xsi:type="dcterms:W3CDTF">2026-10-14T12:56:43Z</dcterms:created>
  <dcterms:modified xsi:type="dcterms:W3CDTF">2026-10-14T12:56:43Z</dcterms:modified>
</cp:coreProperties>
</file>
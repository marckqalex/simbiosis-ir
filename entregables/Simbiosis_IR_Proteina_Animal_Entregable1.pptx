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38034d45-66e1-958d-acb8-b99c9562a82f}">
          <p14:sldIdLst>
            <p14:sldId id="257"/>
          </p14:sldIdLst>
        </p14:section>
        <p14:section name="Mercado" id="{45d7adfa-2dc0-d555-cf72-cbbaa166becc}">
          <p14:sldIdLst>
            <p14:sldId id="258"/>
            <p14:sldId id="259"/>
          </p14:sldIdLst>
        </p14:section>
        <p14:section name="Experiencia" id="{3ef9c684-939a-61e8-23d2-d264e0462a71}">
          <p14:sldIdLst>
            <p14:sldId id="260"/>
          </p14:sldIdLst>
        </p14:section>
        <p14:section name="Grupos" id="{5e87f6c6-8612-45ae-51b3-5a5cdf9f70ce}">
          <p14:sldIdLst>
            <p14:sldId id="261"/>
          </p14:sldIdLst>
        </p14:section>
        <p14:section name="Plantas" id="{da82cf85-8b0e-a7ce-d60b-189dd51d9be9}">
          <p14:sldIdLst>
            <p14:sldId id="262"/>
          </p14:sldIdLst>
        </p14:section>
        <p14:section name="Cierre" id="{3484408e-fcd7-2b8e-8db5-758ba5420024}">
          <p14:sldIdLst>
            <p14:sldId id="263"/>
            <p14:sldId id="264"/>
          </p14:sldIdLst>
        </p14:section>
        <p14:section name="Default-1" id="{5ae7a30f-7bb8-3a11-cc79-9076b43a5838}">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real anual 2025, %</a:t>
            </a:r>
          </a:p>
        </c:rich>
      </c:tx>
      <c:layout/>
      <c:overlay val="0"/>
    </c:title>
    <c:autoTitleDeleted val="0"/>
    <c:plotArea>
      <c:layout/>
      <c:barChart>
        <c:barDir val="bar"/>
        <c:grouping val="clustered"/>
        <c:varyColors val="0"/>
        <c:ser>
          <c:idx val="0"/>
          <c:order val="0"/>
          <c:tx>
            <c:strRef>
              <c:f>Sheet1!$B$1</c:f>
              <c:strCache>
                <c:ptCount val="1"/>
                <c:pt idx="0">
                  <c:v>Crecimiento real anual 2025 (%)</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7C878C"/>
              </a:solidFill>
              <a:effectLst/>
            </c:spPr>
          </c:dPt>
          <c:dPt>
            <c:idx val="2"/>
            <c:invertIfNegative val="0"/>
            <c:bubble3D val="0"/>
            <c:spPr>
              <a:solidFill>
                <a:srgbClr val="2F6F62"/>
              </a:solidFill>
              <a:effectLst/>
            </c:spPr>
          </c:dPt>
          <c:cat>
            <c:multiLvlStrRef>
              <c:f>Sheet1!$A$2:$A$4</c:f>
              <c:multiLvlStrCache>
                <c:ptCount val="3"/>
                <c:lvl>
                  <c:pt idx="0">
                    <c:v>Sector secundario (industria)</c:v>
                  </c:pt>
                  <c:pt idx="1">
                    <c:v>PIB nacional</c:v>
                  </c:pt>
                  <c:pt idx="2">
                    <c:v>PIB primario (agro, ganadería, pesca)</c:v>
                  </c:pt>
                </c:lvl>
              </c:multiLvlStrCache>
            </c:multiLvlStrRef>
          </c:cat>
          <c:val>
            <c:numRef>
              <c:f>Sheet1!$B$2:$B$4</c:f>
              <c:numCache>
                <c:formatCode>General</c:formatCode>
                <c:ptCount val="3"/>
                <c:pt idx="0">
                  <c:v>-1.1</c:v>
                </c:pt>
                <c:pt idx="1">
                  <c:v>0.8</c:v>
                </c:pt>
                <c:pt idx="2">
                  <c:v>4</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5"/>
          <c:min val="-2"/>
        </c:scaling>
        <c:delete val="0"/>
        <c:axPos val="b"/>
        <c:majorGridlines>
          <c:spPr>
            <a:ln w="6350" cap="flat">
              <a:solidFill>
                <a:srgbClr val="D9DE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2025, % anual</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5B7B8C"/>
              </a:solidFill>
              <a:effectLst/>
            </c:spPr>
          </c:dPt>
          <c:cat>
            <c:multiLvlStrRef>
              <c:f>Sheet1!$A$2:$A$3</c:f>
              <c:multiLvlStrCache>
                <c:ptCount val="2"/>
                <c:lvl>
                  <c:pt idx="0">
                    <c:v>Consumo de carne</c:v>
                  </c:pt>
                  <c:pt idx="1">
                    <c:v>Producción de carne</c:v>
                  </c:pt>
                </c:lvl>
              </c:multiLvlStrCache>
            </c:multiLvlStrRef>
          </c:cat>
          <c:val>
            <c:numRef>
              <c:f>Sheet1!$B$2:$B$3</c:f>
              <c:numCache>
                <c:formatCode>General</c:formatCode>
                <c:ptCount val="2"/>
                <c:pt idx="0">
                  <c:v>4.5</c:v>
                </c:pt>
                <c:pt idx="1">
                  <c:v>2.6</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D9DE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El entregable va de lo macro (alimentos y bebidas) a lo micro (proteína animal), a los cuatro grupos que Ricardo y Marcos nombraron en la junta, y termina en plantas concretas por estado.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cifras salen de la validación técnica del 12 de septiembre. La parte de Bachoco (atendido por otras regiones) y Bafar (oportunidades abiertas en La Piedad) son declaraciones de Marcos del 14 de octubre; no traen número de oportunidad, quedan PENDIENTE de registrar.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contraste agro vs industria explica por qué la proteína animal es candidata, pero no prueba demanda de reposición de bandas ni mangueras. Ese vínculo se prueba por planta, no por macro.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del programa: un proyecto anunciado no es demanda actual. El consumo de reposición llega después del arranque, no durante la obra. Pronóstico 2027 queda PENDIENTE: Ricardo lo pidió y no hay dato publicado que lo sustente en lo que se consultó.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Nomenclatura copiada tal cual del campo Nombre de oportunidad. Para Pilgrim's y SuKarne el CRM acumula más ganadas en la misma clave (3 en El Porvenir; 6 en Lucero); aquí se cita el caso más cercano a cada réplica.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Etiquetas comerciales: SuKarne y Pilgrim's salen del CRM; Bachoco y Bafar combinan CRM con lo que Marcos reportó en campo. Los montos son potencial anual registrado, no facturación. Los responsables históricos del CRM se confirman antes de asignar cualquier 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plantas en el lienzo; seis tienen veredicto de réplica. La Piedad no tiene veredicto porque Bafar no tiene caso ganado propio. Ninguna fila asigna trabajo a una persona: los responsables históricos del CRM hay que confirmarlos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GAO: la web solo muestra una dirección (Acatlán de Juárez, Jalisco) y extrusión como servicio principal. Procesos como anodizado, capacidad y equipos son ND. Las necesidades hidráulicas son lo que Marcos vio en campo, no un dato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Gates de México · Industrial Replacement</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Proteína animal · Borrador del 14-oct-2026</a:t>
            </a:r>
            <a:endParaRPr lang="en-US" sz="1000" dirty="0"/>
          </a:p>
        </p:txBody>
      </p:sp>
      <p:sp>
        <p:nvSpPr>
          <p:cNvPr id="3" name="Text 1"/>
          <p:cNvSpPr/>
          <p:nvPr>
            <p:ph idx="101" type="title" hasCustomPrompt="1"/>
          </p:nvPr>
        </p:nvSpPr>
        <p:spPr>
          <a:xfrm>
            <a:off x="548640" y="365760"/>
            <a:ext cx="11091672" cy="82296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8778240" cy="182880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Proteína animal: de un caso ganado a cuatro grupos prospecto</a:t>
            </a:r>
            <a:endParaRPr lang="en-US" sz="4400" dirty="0"/>
          </a:p>
        </p:txBody>
      </p:sp>
      <p:sp>
        <p:nvSpPr>
          <p:cNvPr id="3" name="Text 1"/>
          <p:cNvSpPr txBox="1"/>
          <p:nvPr/>
        </p:nvSpPr>
        <p:spPr>
          <a:xfrm>
            <a:off x="548640" y="3474720"/>
            <a:ext cx="8778240" cy="457200"/>
          </a:xfrm>
          <a:prstGeom prst="rect">
            <a:avLst/>
          </a:prstGeom>
          <a:noFill/>
          <a:ln/>
        </p:spPr>
        <p:txBody>
          <a:bodyPr wrap="square" lIns="0" tIns="0" rIns="0" bIns="0" rtlCol="0" anchor="ctr"/>
          <a:lstStyle/>
          <a:p>
            <a:pPr indent="0" marL="0">
              <a:buNone/>
            </a:pPr>
            <a:r>
              <a:rPr lang="en-US" sz="2200" dirty="0">
                <a:solidFill>
                  <a:schemeClr val="accent6"/>
                </a:solidFill>
                <a:latin typeface="Calibri" pitchFamily="34" charset="0"/>
                <a:ea typeface="Calibri" pitchFamily="34" charset="-122"/>
                <a:cs typeface="Calibri" pitchFamily="34" charset="-120"/>
              </a:rPr>
              <a:t>SuKarne · Bachoco · Pilgrim's Pride · Grupo Bafar</a:t>
            </a:r>
            <a:endParaRPr lang="en-US" sz="2200" dirty="0"/>
          </a:p>
        </p:txBody>
      </p:sp>
      <p:sp>
        <p:nvSpPr>
          <p:cNvPr id="4" name="Text 2"/>
          <p:cNvSpPr txBox="1"/>
          <p:nvPr/>
        </p:nvSpPr>
        <p:spPr>
          <a:xfrm>
            <a:off x="548640" y="4846320"/>
            <a:ext cx="8229600" cy="73152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Entregable 1 · Borrador para Ricardo Narváez · 14 de octubre de 2026</a:t>
            </a:r>
            <a:endParaRPr lang="en-US" sz="1400" dirty="0"/>
          </a:p>
          <a:p>
            <a:pPr indent="0" marL="0">
              <a:buNone/>
            </a:pPr>
            <a:r>
              <a:rPr lang="en-US" sz="1400" dirty="0">
                <a:solidFill>
                  <a:schemeClr val="accent6"/>
                </a:solidFill>
                <a:latin typeface="Calibri" pitchFamily="34" charset="0"/>
                <a:ea typeface="Calibri" pitchFamily="34" charset="-122"/>
                <a:cs typeface="Calibri" pitchFamily="34" charset="-120"/>
              </a:rPr>
              <a:t>Prepara: Marcos Arévalo, Gates de México (Industrial Replacement)</a:t>
            </a:r>
            <a:endParaRPr lang="en-US" sz="1400" dirty="0"/>
          </a:p>
        </p:txBody>
      </p:sp>
      <p:sp>
        <p:nvSpPr>
          <p:cNvPr id="5" name="circulo macro"/>
          <p:cNvSpPr/>
          <p:nvPr/>
        </p:nvSpPr>
        <p:spPr>
          <a:xfrm>
            <a:off x="9326880" y="1371600"/>
            <a:ext cx="2377440" cy="2377440"/>
          </a:xfrm>
          <a:prstGeom prst="ellipse">
            <a:avLst/>
          </a:prstGeom>
          <a:solidFill>
            <a:schemeClr val="accent1">
              <a:alpha val="90000"/>
            </a:schemeClr>
          </a:solidFill>
          <a:ln w="12700">
            <a:solidFill>
              <a:schemeClr val="accent1"/>
            </a:solidFill>
            <a:prstDash val="solid"/>
          </a:ln>
        </p:spPr>
      </p:sp>
      <p:sp>
        <p:nvSpPr>
          <p:cNvPr id="6" name="circulo micro"/>
          <p:cNvSpPr/>
          <p:nvPr/>
        </p:nvSpPr>
        <p:spPr>
          <a:xfrm>
            <a:off x="9875520" y="2103120"/>
            <a:ext cx="1371600" cy="1371600"/>
          </a:xfrm>
          <a:prstGeom prst="ellipse">
            <a:avLst/>
          </a:prstGeom>
          <a:solidFill>
            <a:schemeClr val="accent3">
              <a:alpha val="95000"/>
            </a:schemeClr>
          </a:solidFill>
          <a:ln w="12700">
            <a:solidFill>
              <a:schemeClr val="accent3"/>
            </a:solidFill>
            <a:prstDash val="solid"/>
          </a:ln>
        </p:spPr>
      </p:sp>
      <p:sp>
        <p:nvSpPr>
          <p:cNvPr id="7" name="circulo planta"/>
          <p:cNvSpPr/>
          <p:nvPr/>
        </p:nvSpPr>
        <p:spPr>
          <a:xfrm>
            <a:off x="10314432" y="2697480"/>
            <a:ext cx="502920" cy="502920"/>
          </a:xfrm>
          <a:prstGeom prst="ellipse">
            <a:avLst/>
          </a:prstGeom>
          <a:solidFill>
            <a:schemeClr val="bg1"/>
          </a:solidFill>
          <a:ln w="12700">
            <a:solidFill>
              <a:schemeClr val="bg1"/>
            </a:solidFill>
            <a:prstDash val="solid"/>
          </a:ln>
        </p:spPr>
      </p:sp>
      <p:sp>
        <p:nvSpPr>
          <p:cNvPr id="8" name="Text 6"/>
          <p:cNvSpPr txBox="1"/>
          <p:nvPr/>
        </p:nvSpPr>
        <p:spPr>
          <a:xfrm>
            <a:off x="9144000" y="388620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Alimentos y bebidas</a:t>
            </a:r>
            <a:endParaRPr lang="en-US" sz="1200" dirty="0"/>
          </a:p>
        </p:txBody>
      </p:sp>
      <p:sp>
        <p:nvSpPr>
          <p:cNvPr id="9" name="Text 7"/>
          <p:cNvSpPr txBox="1"/>
          <p:nvPr/>
        </p:nvSpPr>
        <p:spPr>
          <a:xfrm>
            <a:off x="9144000" y="416052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Proteína animal → 4 grupos → plantas</a:t>
            </a:r>
            <a:endParaRPr lang="en-US" sz="12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Seis réplicas evaluadas: 2 sí, 3 parciales y 1 no</a:t>
            </a:r>
            <a:endParaRPr lang="en-US" sz="2800" dirty="0"/>
          </a:p>
        </p:txBody>
      </p:sp>
      <p:sp>
        <p:nvSpPr>
          <p:cNvPr id="3" name="tarjeta 1"/>
          <p:cNvSpPr/>
          <p:nvPr/>
        </p:nvSpPr>
        <p:spPr>
          <a:xfrm>
            <a:off x="548640" y="1371600"/>
            <a:ext cx="2560320" cy="1828800"/>
          </a:xfrm>
          <a:prstGeom prst="rect">
            <a:avLst/>
          </a:prstGeom>
          <a:solidFill>
            <a:schemeClr val="bg2"/>
          </a:solidFill>
          <a:ln w="12700">
            <a:solidFill>
              <a:schemeClr val="bg2"/>
            </a:solidFill>
            <a:prstDash val="solid"/>
          </a:ln>
        </p:spPr>
      </p:sp>
      <p:sp>
        <p:nvSpPr>
          <p:cNvPr id="4" name="Text 2"/>
          <p:cNvSpPr txBox="1"/>
          <p:nvPr/>
        </p:nvSpPr>
        <p:spPr>
          <a:xfrm>
            <a:off x="731520" y="1417320"/>
            <a:ext cx="2194560" cy="82296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6</a:t>
            </a:r>
            <a:endParaRPr lang="en-US" sz="5400" dirty="0"/>
          </a:p>
        </p:txBody>
      </p:sp>
      <p:sp>
        <p:nvSpPr>
          <p:cNvPr id="5" name="Text 3"/>
          <p:cNvSpPr txBox="1"/>
          <p:nvPr/>
        </p:nvSpPr>
        <p:spPr>
          <a:xfrm>
            <a:off x="7315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pares planta origen → destino evaluados técnicamente</a:t>
            </a:r>
            <a:endParaRPr lang="en-US" sz="1400" dirty="0"/>
          </a:p>
        </p:txBody>
      </p:sp>
      <p:sp>
        <p:nvSpPr>
          <p:cNvPr id="6" name="tarjeta 2"/>
          <p:cNvSpPr/>
          <p:nvPr/>
        </p:nvSpPr>
        <p:spPr>
          <a:xfrm>
            <a:off x="3291840" y="1371600"/>
            <a:ext cx="2560320" cy="1828800"/>
          </a:xfrm>
          <a:prstGeom prst="rect">
            <a:avLst/>
          </a:prstGeom>
          <a:solidFill>
            <a:schemeClr val="bg2"/>
          </a:solidFill>
          <a:ln w="12700">
            <a:solidFill>
              <a:schemeClr val="bg2"/>
            </a:solidFill>
            <a:prstDash val="solid"/>
          </a:ln>
        </p:spPr>
      </p:sp>
      <p:sp>
        <p:nvSpPr>
          <p:cNvPr id="7" name="Text 5"/>
          <p:cNvSpPr txBox="1"/>
          <p:nvPr/>
        </p:nvSpPr>
        <p:spPr>
          <a:xfrm>
            <a:off x="3474720" y="1417320"/>
            <a:ext cx="2194560" cy="82296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a:t>
            </a:r>
            <a:endParaRPr lang="en-US" sz="5400" dirty="0"/>
          </a:p>
        </p:txBody>
      </p:sp>
      <p:sp>
        <p:nvSpPr>
          <p:cNvPr id="8" name="Text 6"/>
          <p:cNvSpPr txBox="1"/>
          <p:nvPr/>
        </p:nvSpPr>
        <p:spPr>
          <a:xfrm>
            <a:off x="34747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réplicas SÍ se sostienen: Pilgrim's Tepeji y Bachoco Lagos de Moreno</a:t>
            </a:r>
            <a:endParaRPr lang="en-US" sz="1400" dirty="0"/>
          </a:p>
        </p:txBody>
      </p:sp>
      <p:sp>
        <p:nvSpPr>
          <p:cNvPr id="9" name="tarjeta 3"/>
          <p:cNvSpPr/>
          <p:nvPr/>
        </p:nvSpPr>
        <p:spPr>
          <a:xfrm>
            <a:off x="6035040" y="1371600"/>
            <a:ext cx="2560320" cy="1828800"/>
          </a:xfrm>
          <a:prstGeom prst="rect">
            <a:avLst/>
          </a:prstGeom>
          <a:solidFill>
            <a:schemeClr val="bg2"/>
          </a:solidFill>
          <a:ln w="12700">
            <a:solidFill>
              <a:schemeClr val="bg2"/>
            </a:solidFill>
            <a:prstDash val="solid"/>
          </a:ln>
        </p:spPr>
      </p:sp>
      <p:sp>
        <p:nvSpPr>
          <p:cNvPr id="10" name="Text 8"/>
          <p:cNvSpPr txBox="1"/>
          <p:nvPr/>
        </p:nvSpPr>
        <p:spPr>
          <a:xfrm>
            <a:off x="6217920" y="1417320"/>
            <a:ext cx="2194560" cy="82296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3</a:t>
            </a:r>
            <a:endParaRPr lang="en-US" sz="5400" dirty="0"/>
          </a:p>
        </p:txBody>
      </p:sp>
      <p:sp>
        <p:nvSpPr>
          <p:cNvPr id="11" name="Text 9"/>
          <p:cNvSpPr txBox="1"/>
          <p:nvPr/>
        </p:nvSpPr>
        <p:spPr>
          <a:xfrm>
            <a:off x="62179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PARCIAL: SuKarne TIF 718, Pilgrim's Toluca y Bafar Lerma</a:t>
            </a:r>
            <a:endParaRPr lang="en-US" sz="1400" dirty="0"/>
          </a:p>
        </p:txBody>
      </p:sp>
      <p:sp>
        <p:nvSpPr>
          <p:cNvPr id="12" name="tarjeta 4"/>
          <p:cNvSpPr/>
          <p:nvPr/>
        </p:nvSpPr>
        <p:spPr>
          <a:xfrm>
            <a:off x="8778240" y="1371600"/>
            <a:ext cx="2560320" cy="1828800"/>
          </a:xfrm>
          <a:prstGeom prst="rect">
            <a:avLst/>
          </a:prstGeom>
          <a:solidFill>
            <a:schemeClr val="bg2"/>
          </a:solidFill>
          <a:ln w="12700">
            <a:solidFill>
              <a:schemeClr val="bg2"/>
            </a:solidFill>
            <a:prstDash val="solid"/>
          </a:ln>
        </p:spPr>
      </p:sp>
      <p:sp>
        <p:nvSpPr>
          <p:cNvPr id="13" name="Text 11"/>
          <p:cNvSpPr txBox="1"/>
          <p:nvPr/>
        </p:nvSpPr>
        <p:spPr>
          <a:xfrm>
            <a:off x="8961120" y="1417320"/>
            <a:ext cx="2194560" cy="82296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14" name="Text 12"/>
          <p:cNvSpPr txBox="1"/>
          <p:nvPr/>
        </p:nvSpPr>
        <p:spPr>
          <a:xfrm>
            <a:off x="89611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se sostiene: SuKarne TIF 94 Zapopan (planta de cocción, sin sacrificio)</a:t>
            </a:r>
            <a:endParaRPr lang="en-US" sz="1400" dirty="0"/>
          </a:p>
        </p:txBody>
      </p:sp>
      <p:sp>
        <p:nvSpPr>
          <p:cNvPr id="15" name="Text 13"/>
          <p:cNvSpPr txBox="1"/>
          <p:nvPr/>
        </p:nvSpPr>
        <p:spPr>
          <a:xfrm>
            <a:off x="548640" y="3520440"/>
            <a:ext cx="11091672" cy="237744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latin typeface="Calibri" pitchFamily="34" charset="0"/>
                <a:ea typeface="Calibri" pitchFamily="34" charset="-122"/>
                <a:cs typeface="Calibri" pitchFamily="34" charset="-120"/>
              </a:rPr>
              <a:t>Lo que cambia el mensaje para Ricardo</a:t>
            </a:r>
            <a:endParaRPr lang="en-US" sz="1700" dirty="0"/>
          </a:p>
          <a:p>
            <a:pPr marL="342900" indent="-342900">
              <a:spcAft>
                <a:spcPts val="600"/>
              </a:spcAft>
              <a:buSzPct val="100000"/>
              <a:buChar char="•"/>
            </a:pPr>
            <a:r>
              <a:rPr lang="en-US" sz="1700" dirty="0">
                <a:solidFill>
                  <a:schemeClr val="tx1"/>
                </a:solidFill>
                <a:latin typeface="Calibri" pitchFamily="34" charset="0"/>
                <a:ea typeface="Calibri" pitchFamily="34" charset="-122"/>
                <a:cs typeface="Calibri" pitchFamily="34" charset="-120"/>
              </a:rPr>
              <a:t>Bachoco Lagos de Moreno no es prospección nueva: hay una oportunidad perdida en 2020 en el CRM, y Marcos informa que compañeros de otras regiones ya atienden la cuenta.</a:t>
            </a:r>
            <a:endParaRPr lang="en-US" sz="1700" dirty="0"/>
          </a:p>
          <a:p>
            <a:pPr marL="342900" indent="-342900">
              <a:spcAft>
                <a:spcPts val="600"/>
              </a:spcAft>
              <a:buSzPct val="100000"/>
              <a:buChar char="•"/>
            </a:pPr>
            <a:r>
              <a:rPr lang="en-US" sz="1700" dirty="0">
                <a:solidFill>
                  <a:schemeClr val="tx1"/>
                </a:solidFill>
                <a:latin typeface="Calibri" pitchFamily="34" charset="0"/>
                <a:ea typeface="Calibri" pitchFamily="34" charset="-122"/>
                <a:cs typeface="Calibri" pitchFamily="34" charset="-120"/>
              </a:rPr>
              <a:t>Bafar tiene 0 oportunidades ganadas en el CRM. Marcos abrió oportunidades con la planta de La Piedad (Michoacán): es un usuario que Gates no atendía.</a:t>
            </a:r>
            <a:endParaRPr lang="en-US" sz="1700" dirty="0"/>
          </a:p>
          <a:p>
            <a:pPr marL="342900" indent="-342900">
              <a:buSzPct val="100000"/>
              <a:buChar char="•"/>
            </a:pPr>
            <a:r>
              <a:rPr lang="en-US" sz="1700" dirty="0">
                <a:solidFill>
                  <a:schemeClr val="tx1"/>
                </a:solidFill>
                <a:latin typeface="Calibri" pitchFamily="34" charset="0"/>
                <a:ea typeface="Calibri" pitchFamily="34" charset="-122"/>
                <a:cs typeface="Calibri" pitchFamily="34" charset="-120"/>
              </a:rPr>
              <a:t>Este borrador cubre UN mercado candidato (proteína animal). La selección de tres mercados y nueve usuarios sigue abierta.</a:t>
            </a:r>
            <a:endParaRPr lang="en-US" sz="1700" dirty="0"/>
          </a:p>
        </p:txBody>
      </p:sp>
      <p:sp>
        <p:nvSpPr>
          <p:cNvPr id="16" name="Text 14"/>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HIPOTESIS_REPLICA.csv (validación del 12-sep-2026) y declaraciones de campo de Marcos del 14-oct-2026. Todas las réplicas están en HIPÓTESIS hasta confirmar en visita.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Macro: el campo creció 4.0% en 2025; la industria cayó 1.1%</a:t>
            </a:r>
            <a:endParaRPr lang="en-US" sz="2800" dirty="0"/>
          </a:p>
        </p:txBody>
      </p:sp>
      <p:graphicFrame>
        <p:nvGraphicFramePr>
          <p:cNvPr id="3" name="Chart 0" descr=""/>
          <p:cNvGraphicFramePr/>
          <p:nvPr/>
        </p:nvGraphicFramePr>
        <p:xfrm>
          <a:off x="548640" y="1371600"/>
          <a:ext cx="6309360" cy="4206240"/>
        </p:xfrm>
        <a:graphic xmlns:a="http://schemas.openxmlformats.org/drawingml/2006/main">
          <a:graphicData uri="http://schemas.openxmlformats.org/drawingml/2006/chart">
            <c:chart xmlns:c="http://schemas.openxmlformats.org/drawingml/2006/chart" r:id="rId1"/>
          </a:graphicData>
        </a:graphic>
      </p:graphicFrame>
      <p:sp>
        <p:nvSpPr>
          <p:cNvPr id="4" name="panel lectura"/>
          <p:cNvSpPr/>
          <p:nvPr/>
        </p:nvSpPr>
        <p:spPr>
          <a:xfrm>
            <a:off x="7223760" y="1371600"/>
            <a:ext cx="4416552" cy="4206240"/>
          </a:xfrm>
          <a:prstGeom prst="rect">
            <a:avLst/>
          </a:prstGeom>
          <a:solidFill>
            <a:schemeClr val="bg2"/>
          </a:solidFill>
          <a:ln w="12700">
            <a:solidFill>
              <a:schemeClr val="bg2"/>
            </a:solidFill>
            <a:prstDash val="solid"/>
          </a:ln>
        </p:spPr>
      </p:sp>
      <p:sp>
        <p:nvSpPr>
          <p:cNvPr id="5" name="Text 2"/>
          <p:cNvSpPr txBox="1"/>
          <p:nvPr/>
        </p:nvSpPr>
        <p:spPr>
          <a:xfrm>
            <a:off x="7406640" y="1508760"/>
            <a:ext cx="4050792" cy="393192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Cómo leerlo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CONFIRMADO: el PIB primario tuvo su mejor desempeño en 13 años (SIAP/SADER con base en INEGI, publicado el 23-feb-2026).</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La fuente no desglosa cuánto del 4.0% es ganadería. No lo atribuimos a proteína animal.</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HIPÓTESIS: la industria alimentaria (subsector 311) se movió entre −0.4% y +2.2% anual en meses de 2026. Cifra de fuente secundaria; falta confirmarla contra el boletín INEGI.</a:t>
            </a:r>
            <a:endParaRPr lang="en-US" sz="1400" dirty="0"/>
          </a:p>
        </p:txBody>
      </p:sp>
      <p:sp>
        <p:nvSpPr>
          <p:cNvPr id="6" name="Text 3"/>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SIAP/SADER, «El PIB primario tiene su mejor desempeño en trece años al crecer 4.0% en 2025», 23-feb-2026, gob.mx/agricultura/dgsiap/articulos/el-pib-primario-tiene-su-mejor-desempeno-en-trece-anos-al-crecer-4-0-en-2025. Subsector 311: INEGI EMIM 2026 vía búsqueda (fecha de publicación ND).</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Proteína animal: el consumo crece más que la producción</a:t>
            </a:r>
            <a:endParaRPr lang="en-US" sz="2800" dirty="0"/>
          </a:p>
        </p:txBody>
      </p:sp>
      <p:graphicFrame>
        <p:nvGraphicFramePr>
          <p:cNvPr id="3" name="Chart 0" descr=""/>
          <p:cNvGraphicFramePr/>
          <p:nvPr/>
        </p:nvGraphicFramePr>
        <p:xfrm>
          <a:off x="548640" y="1371600"/>
          <a:ext cx="42062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526280"/>
            <a:ext cx="4206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Consumo total: 11.3 millones de toneladas, máximo histórico. Es consumo aparente, no más turnos en planta.</a:t>
            </a:r>
            <a:endParaRPr lang="en-US" sz="1400" dirty="0"/>
          </a:p>
        </p:txBody>
      </p:sp>
      <p:sp>
        <p:nvSpPr>
          <p:cNvPr id="5" name="tarjeta Pronóstico 2026"/>
          <p:cNvSpPr/>
          <p:nvPr/>
        </p:nvSpPr>
        <p:spPr>
          <a:xfrm>
            <a:off x="5074920" y="1371600"/>
            <a:ext cx="2194560" cy="3977640"/>
          </a:xfrm>
          <a:prstGeom prst="rect">
            <a:avLst/>
          </a:prstGeom>
          <a:solidFill>
            <a:schemeClr val="bg2"/>
          </a:solidFill>
          <a:ln w="12700">
            <a:solidFill>
              <a:schemeClr val="bg2"/>
            </a:solidFill>
            <a:prstDash val="solid"/>
          </a:ln>
        </p:spPr>
      </p:sp>
      <p:sp>
        <p:nvSpPr>
          <p:cNvPr id="6" name="Text 3"/>
          <p:cNvSpPr txBox="1"/>
          <p:nvPr/>
        </p:nvSpPr>
        <p:spPr>
          <a:xfrm>
            <a:off x="5212080"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2026</a:t>
            </a:r>
            <a:endParaRPr lang="en-US" sz="1700" dirty="0"/>
          </a:p>
        </p:txBody>
      </p:sp>
      <p:sp>
        <p:nvSpPr>
          <p:cNvPr id="7" name="etiqueta Pronóstico 2026"/>
          <p:cNvSpPr/>
          <p:nvPr/>
        </p:nvSpPr>
        <p:spPr>
          <a:xfrm>
            <a:off x="5212080" y="2194560"/>
            <a:ext cx="1920240" cy="274320"/>
          </a:xfrm>
          <a:prstGeom prst="roundRect">
            <a:avLst>
              <a:gd name="adj" fmla="val 50000"/>
            </a:avLst>
          </a:prstGeom>
          <a:solidFill>
            <a:schemeClr val="accent2"/>
          </a:solidFill>
          <a:ln w="12700">
            <a:solidFill>
              <a:schemeClr val="accent2"/>
            </a:solidFill>
            <a:prstDash val="solid"/>
          </a:ln>
        </p:spPr>
      </p:sp>
      <p:sp>
        <p:nvSpPr>
          <p:cNvPr id="8" name="Text 5"/>
          <p:cNvSpPr txBox="1"/>
          <p:nvPr/>
        </p:nvSpPr>
        <p:spPr>
          <a:xfrm>
            <a:off x="5212080"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HIPÓTESIS</a:t>
            </a:r>
            <a:endParaRPr lang="en-US" sz="1100" dirty="0"/>
          </a:p>
        </p:txBody>
      </p:sp>
      <p:sp>
        <p:nvSpPr>
          <p:cNvPr id="9" name="Text 6"/>
          <p:cNvSpPr txBox="1"/>
          <p:nvPr/>
        </p:nvSpPr>
        <p:spPr>
          <a:xfrm>
            <a:off x="5212080"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USDA: pie de cría porcino +2% (feb-2026); pollo +2% en producción (reporte 2025, fecha exacta ND). Bovino: sacrificio al alza, sin cifra publicada.</a:t>
            </a:r>
            <a:endParaRPr lang="en-US" sz="1500" dirty="0"/>
          </a:p>
        </p:txBody>
      </p:sp>
      <p:sp>
        <p:nvSpPr>
          <p:cNvPr id="10" name="tarjeta Inversión anunciada"/>
          <p:cNvSpPr/>
          <p:nvPr/>
        </p:nvSpPr>
        <p:spPr>
          <a:xfrm>
            <a:off x="7415784" y="1371600"/>
            <a:ext cx="2194560" cy="3977640"/>
          </a:xfrm>
          <a:prstGeom prst="rect">
            <a:avLst/>
          </a:prstGeom>
          <a:solidFill>
            <a:schemeClr val="bg2"/>
          </a:solidFill>
          <a:ln w="12700">
            <a:solidFill>
              <a:schemeClr val="bg2"/>
            </a:solidFill>
            <a:prstDash val="solid"/>
          </a:ln>
        </p:spPr>
      </p:sp>
      <p:sp>
        <p:nvSpPr>
          <p:cNvPr id="11" name="Text 8"/>
          <p:cNvSpPr txBox="1"/>
          <p:nvPr/>
        </p:nvSpPr>
        <p:spPr>
          <a:xfrm>
            <a:off x="7552944"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Inversión anunciada</a:t>
            </a:r>
            <a:endParaRPr lang="en-US" sz="1700" dirty="0"/>
          </a:p>
        </p:txBody>
      </p:sp>
      <p:sp>
        <p:nvSpPr>
          <p:cNvPr id="12" name="etiqueta Inversión anunciada"/>
          <p:cNvSpPr/>
          <p:nvPr/>
        </p:nvSpPr>
        <p:spPr>
          <a:xfrm>
            <a:off x="7552944" y="2194560"/>
            <a:ext cx="1920240" cy="274320"/>
          </a:xfrm>
          <a:prstGeom prst="roundRect">
            <a:avLst>
              <a:gd name="adj" fmla="val 50000"/>
            </a:avLst>
          </a:prstGeom>
          <a:solidFill>
            <a:schemeClr val="accent3"/>
          </a:solidFill>
          <a:ln w="12700">
            <a:solidFill>
              <a:schemeClr val="accent3"/>
            </a:solidFill>
            <a:prstDash val="solid"/>
          </a:ln>
        </p:spPr>
      </p:sp>
      <p:sp>
        <p:nvSpPr>
          <p:cNvPr id="13" name="Text 10"/>
          <p:cNvSpPr txBox="1"/>
          <p:nvPr/>
        </p:nvSpPr>
        <p:spPr>
          <a:xfrm>
            <a:off x="7552944"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NO ES DEMANDA ACTUAL</a:t>
            </a:r>
            <a:endParaRPr lang="en-US" sz="1100" dirty="0"/>
          </a:p>
        </p:txBody>
      </p:sp>
      <p:sp>
        <p:nvSpPr>
          <p:cNvPr id="14" name="Text 11"/>
          <p:cNvSpPr txBox="1"/>
          <p:nvPr/>
        </p:nvSpPr>
        <p:spPr>
          <a:xfrm>
            <a:off x="7552944"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Pilgrim's: 1,300 millones de dólares en México 2026–2030, +38% de capacidad (gob.mx, ene-2026). Bafar: parque de La Piedad con 650 mdd, en construcción.</a:t>
            </a:r>
            <a:endParaRPr lang="en-US" sz="1500" dirty="0"/>
          </a:p>
        </p:txBody>
      </p:sp>
      <p:sp>
        <p:nvSpPr>
          <p:cNvPr id="15" name="tarjeta Pronóstico 2027"/>
          <p:cNvSpPr/>
          <p:nvPr/>
        </p:nvSpPr>
        <p:spPr>
          <a:xfrm>
            <a:off x="9756648" y="1371600"/>
            <a:ext cx="2194560" cy="3977640"/>
          </a:xfrm>
          <a:prstGeom prst="rect">
            <a:avLst/>
          </a:prstGeom>
          <a:solidFill>
            <a:schemeClr val="bg2"/>
          </a:solidFill>
          <a:ln w="12700">
            <a:solidFill>
              <a:schemeClr val="bg2"/>
            </a:solidFill>
            <a:prstDash val="solid"/>
          </a:ln>
        </p:spPr>
      </p:sp>
      <p:sp>
        <p:nvSpPr>
          <p:cNvPr id="16" name="Text 13"/>
          <p:cNvSpPr txBox="1"/>
          <p:nvPr/>
        </p:nvSpPr>
        <p:spPr>
          <a:xfrm>
            <a:off x="9893808"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2027</a:t>
            </a:r>
            <a:endParaRPr lang="en-US" sz="1700" dirty="0"/>
          </a:p>
        </p:txBody>
      </p:sp>
      <p:sp>
        <p:nvSpPr>
          <p:cNvPr id="17" name="etiqueta Pronóstico 2027"/>
          <p:cNvSpPr/>
          <p:nvPr/>
        </p:nvSpPr>
        <p:spPr>
          <a:xfrm>
            <a:off x="9893808" y="2194560"/>
            <a:ext cx="1920240" cy="274320"/>
          </a:xfrm>
          <a:prstGeom prst="roundRect">
            <a:avLst>
              <a:gd name="adj" fmla="val 50000"/>
            </a:avLst>
          </a:prstGeom>
          <a:solidFill>
            <a:schemeClr val="accent4"/>
          </a:solidFill>
          <a:ln w="12700">
            <a:solidFill>
              <a:schemeClr val="accent4"/>
            </a:solidFill>
            <a:prstDash val="solid"/>
          </a:ln>
        </p:spPr>
      </p:sp>
      <p:sp>
        <p:nvSpPr>
          <p:cNvPr id="18" name="Text 15"/>
          <p:cNvSpPr txBox="1"/>
          <p:nvPr/>
        </p:nvSpPr>
        <p:spPr>
          <a:xfrm>
            <a:off x="9893808"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PENDIENTE</a:t>
            </a:r>
            <a:endParaRPr lang="en-US" sz="1100" dirty="0"/>
          </a:p>
        </p:txBody>
      </p:sp>
      <p:sp>
        <p:nvSpPr>
          <p:cNvPr id="19" name="Text 16"/>
          <p:cNvSpPr txBox="1"/>
          <p:nvPr/>
        </p:nvSpPr>
        <p:spPr>
          <a:xfrm>
            <a:off x="9893808"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hay cifra de crecimiento 2027 en las fuentes consultadas. No se rellena con una estimación.</a:t>
            </a:r>
            <a:endParaRPr lang="en-US" sz="1500" dirty="0"/>
          </a:p>
        </p:txBody>
      </p:sp>
      <p:sp>
        <p:nvSpPr>
          <p:cNvPr id="20" name="Text 17"/>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Comecarne, Compendio 2026, feb-2026 (comecarne.org/compendio26; fecha exacta no confirmada). USDA FAS GAIN, Mexico Livestock and Products Semi-annual, feb-2026. USDA GAIN Poultry Annual MX2025-0045. Presidencia/Plan México, ene-2026. Reporte Anual 2024 de Bafar.</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Experiencia ganada que sirve de origen para cada grupo</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371600"/>
                <a:gridCol w="5669280"/>
                <a:gridCol w="640080"/>
                <a:gridCol w="1920240"/>
                <a:gridCol w="1490472"/>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Oportunidad ganada (nomenclatura completa del CRM)</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Año</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Potencial anual registrado, MXN</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Familia</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45720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3.1 SuKarne Lucero - Planta TIF 645 - Durango FP-HYDRAULICS-653517</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412,664.84</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45720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HID MXT Ganaderia Integral Monarca Su Karne Vista Hermosa, - Ryasa Morelia - 717533</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257,915.55</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59436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Bachoco</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V-Belts Bachoco, S.A. de C.V. - Planta procesadora de aves Guanajuato - Guanajuato PT-V-BELTS-643201</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2023</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538,004.45</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45720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Pilgrim's Pride</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TPU-Pilgrims Pride Gomez Palacio -Rybalsa-Torreon</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206,332.51</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59436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Bafar</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Sin caso propio. Caso espejo de otro grupo: 2.2 QUALTIA ALIMENTOS MANGUERA Y INDS, E HIDRAULICA BANDAS MECTROL_ (O-00244438)</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2021</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306,528.89</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PENDIENTE</a:t>
                      </a:r>
                      <a:endParaRPr lang="en-US" sz="1100" dirty="0">
                        <a:latin typeface="Calibri" charset="0"/>
                        <a:ea typeface="Calibri" charset="0"/>
                        <a:cs typeface="Calibri" charset="0"/>
                      </a:endParaRPr>
                    </a:p>
                  </a:txBody>
                  <a:tcPr marL="73152" marR="73152" marT="36576" marB="36576"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572000"/>
            <a:ext cx="11091672" cy="137160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Cómo leer esta tabla</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Los montos son potencial anual registrado en el CRM, no facturación.</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Rybalsa (Pilgrim's) y Ryasa (SuKarne) son distribuidores: canal, no usuario final.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La nomenclatura da la familia de producto. Máquina, número de parte e intervalo de reemplazo: PENDIENTE.</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Bafar: réplica de perfil de negocio (procesador que compra canal), evidencia más débil que un caso del mismo grupo.</a:t>
            </a:r>
            <a:endParaRPr lang="en-US" sz="1300" dirty="0"/>
          </a:p>
        </p:txBody>
      </p:sp>
      <p:sp>
        <p:nvSpPr>
          <p:cNvPr id="5" name="Text 2"/>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CRM Base_Simbiosis.xlsx (hoja DETALLE, Decisión = Elegible, actualización máxima 12-ago-2026), vía HIPOTESIS_REPLICA.csv. Responsables históricos del CRM: confirmar el vigente antes de asignar trabajo.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Cuatro grupos, cuatro situaciones comerciales distintas</a:t>
            </a:r>
            <a:endParaRPr lang="en-US" sz="2800" dirty="0"/>
          </a:p>
        </p:txBody>
      </p:sp>
      <p:sp>
        <p:nvSpPr>
          <p:cNvPr id="3" name="tarjeta SuKarne"/>
          <p:cNvSpPr/>
          <p:nvPr/>
        </p:nvSpPr>
        <p:spPr>
          <a:xfrm>
            <a:off x="548640" y="1371600"/>
            <a:ext cx="2651760" cy="4526280"/>
          </a:xfrm>
          <a:prstGeom prst="rect">
            <a:avLst/>
          </a:prstGeom>
          <a:solidFill>
            <a:schemeClr val="bg2"/>
          </a:solidFill>
          <a:ln w="12700">
            <a:solidFill>
              <a:schemeClr val="bg2"/>
            </a:solidFill>
            <a:prstDash val="solid"/>
          </a:ln>
        </p:spPr>
      </p:sp>
      <p:sp>
        <p:nvSpPr>
          <p:cNvPr id="4" name="Text 2"/>
          <p:cNvSpPr txBox="1"/>
          <p:nvPr/>
        </p:nvSpPr>
        <p:spPr>
          <a:xfrm>
            <a:off x="685800" y="1463040"/>
            <a:ext cx="237744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SuKarne</a:t>
            </a:r>
            <a:endParaRPr lang="en-US" sz="2000" dirty="0"/>
          </a:p>
        </p:txBody>
      </p:sp>
      <p:sp>
        <p:nvSpPr>
          <p:cNvPr id="5" name="estado SuKarne"/>
          <p:cNvSpPr/>
          <p:nvPr/>
        </p:nvSpPr>
        <p:spPr>
          <a:xfrm>
            <a:off x="685800" y="1920240"/>
            <a:ext cx="2377440" cy="274320"/>
          </a:xfrm>
          <a:prstGeom prst="roundRect">
            <a:avLst>
              <a:gd name="adj" fmla="val 50000"/>
            </a:avLst>
          </a:prstGeom>
          <a:solidFill>
            <a:schemeClr val="accent2"/>
          </a:solidFill>
          <a:ln w="12700">
            <a:solidFill>
              <a:schemeClr val="accent2"/>
            </a:solidFill>
            <a:prstDash val="solid"/>
          </a:ln>
        </p:spPr>
      </p:sp>
      <p:sp>
        <p:nvSpPr>
          <p:cNvPr id="6" name="Text 4"/>
          <p:cNvSpPr txBox="1"/>
          <p:nvPr/>
        </p:nvSpPr>
        <p:spPr>
          <a:xfrm>
            <a:off x="685800" y="1920240"/>
            <a:ext cx="23774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CLIENTE</a:t>
            </a:r>
            <a:endParaRPr lang="en-US" sz="1100" dirty="0"/>
          </a:p>
        </p:txBody>
      </p:sp>
      <p:sp>
        <p:nvSpPr>
          <p:cNvPr id="7" name="Text 5"/>
          <p:cNvSpPr txBox="1"/>
          <p:nvPr/>
        </p:nvSpPr>
        <p:spPr>
          <a:xfrm>
            <a:off x="685800" y="2331720"/>
            <a:ext cx="237744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9 TIF en el padrón (8 domicilios) · CRM: 10 ganadas, 2.68 millones MXN de potencial anual registrado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Complejos integrados confirmados: Vista Hermosa y Lucero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Posible venta del grupo por más de 2,000 millones de dólares (El Financiero, 4-ago-2026): proceso en curso, resultado ND</a:t>
            </a:r>
            <a:endParaRPr lang="en-US" sz="1400" dirty="0"/>
          </a:p>
        </p:txBody>
      </p:sp>
      <p:sp>
        <p:nvSpPr>
          <p:cNvPr id="8" name="tarjeta Bachoco"/>
          <p:cNvSpPr/>
          <p:nvPr/>
        </p:nvSpPr>
        <p:spPr>
          <a:xfrm>
            <a:off x="3364992" y="1371600"/>
            <a:ext cx="2651760" cy="4526280"/>
          </a:xfrm>
          <a:prstGeom prst="rect">
            <a:avLst/>
          </a:prstGeom>
          <a:solidFill>
            <a:schemeClr val="bg2"/>
          </a:solidFill>
          <a:ln w="12700">
            <a:solidFill>
              <a:schemeClr val="bg2"/>
            </a:solidFill>
            <a:prstDash val="solid"/>
          </a:ln>
        </p:spPr>
      </p:sp>
      <p:sp>
        <p:nvSpPr>
          <p:cNvPr id="9" name="Text 7"/>
          <p:cNvSpPr txBox="1"/>
          <p:nvPr/>
        </p:nvSpPr>
        <p:spPr>
          <a:xfrm>
            <a:off x="3502152" y="1463040"/>
            <a:ext cx="237744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Bachoco</a:t>
            </a:r>
            <a:endParaRPr lang="en-US" sz="2000" dirty="0"/>
          </a:p>
        </p:txBody>
      </p:sp>
      <p:sp>
        <p:nvSpPr>
          <p:cNvPr id="10" name="estado Bachoco"/>
          <p:cNvSpPr/>
          <p:nvPr/>
        </p:nvSpPr>
        <p:spPr>
          <a:xfrm>
            <a:off x="3502152" y="1920240"/>
            <a:ext cx="2377440" cy="274320"/>
          </a:xfrm>
          <a:prstGeom prst="roundRect">
            <a:avLst>
              <a:gd name="adj" fmla="val 50000"/>
            </a:avLst>
          </a:prstGeom>
          <a:solidFill>
            <a:schemeClr val="accent3"/>
          </a:solidFill>
          <a:ln w="12700">
            <a:solidFill>
              <a:schemeClr val="accent3"/>
            </a:solidFill>
            <a:prstDash val="solid"/>
          </a:ln>
        </p:spPr>
      </p:sp>
      <p:sp>
        <p:nvSpPr>
          <p:cNvPr id="11" name="Text 9"/>
          <p:cNvSpPr txBox="1"/>
          <p:nvPr/>
        </p:nvSpPr>
        <p:spPr>
          <a:xfrm>
            <a:off x="3502152" y="1920240"/>
            <a:ext cx="23774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ATENDIDO POR OTRAS REGIONES</a:t>
            </a:r>
            <a:endParaRPr lang="en-US" sz="1100" dirty="0"/>
          </a:p>
        </p:txBody>
      </p:sp>
      <p:sp>
        <p:nvSpPr>
          <p:cNvPr id="12" name="Text 10"/>
          <p:cNvSpPr txBox="1"/>
          <p:nvPr/>
        </p:nvSpPr>
        <p:spPr>
          <a:xfrm>
            <a:off x="3502152" y="2331720"/>
            <a:ext cx="237744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64 plantas en 10 complejos (Informe Anual 2024) · CRM: 31 ganadas, 10.59 millones MXN de potencial anual registrado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Marcos: compañeros de otras regiones ya atienden la cuenta; sigue siendo buen prospecto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Lagos de Moreno: cuenta perdida en 2020 (Optibelt)</a:t>
            </a:r>
            <a:endParaRPr lang="en-US" sz="1400" dirty="0"/>
          </a:p>
        </p:txBody>
      </p:sp>
      <p:sp>
        <p:nvSpPr>
          <p:cNvPr id="13" name="tarjeta Pilgrim's Pride"/>
          <p:cNvSpPr/>
          <p:nvPr/>
        </p:nvSpPr>
        <p:spPr>
          <a:xfrm>
            <a:off x="6181344" y="1371600"/>
            <a:ext cx="2651760" cy="4526280"/>
          </a:xfrm>
          <a:prstGeom prst="rect">
            <a:avLst/>
          </a:prstGeom>
          <a:solidFill>
            <a:schemeClr val="bg2"/>
          </a:solidFill>
          <a:ln w="12700">
            <a:solidFill>
              <a:schemeClr val="bg2"/>
            </a:solidFill>
            <a:prstDash val="solid"/>
          </a:ln>
        </p:spPr>
      </p:sp>
      <p:sp>
        <p:nvSpPr>
          <p:cNvPr id="14" name="Text 12"/>
          <p:cNvSpPr txBox="1"/>
          <p:nvPr/>
        </p:nvSpPr>
        <p:spPr>
          <a:xfrm>
            <a:off x="6318504" y="1463040"/>
            <a:ext cx="237744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Pilgrim's Pride</a:t>
            </a:r>
            <a:endParaRPr lang="en-US" sz="2000" dirty="0"/>
          </a:p>
        </p:txBody>
      </p:sp>
      <p:sp>
        <p:nvSpPr>
          <p:cNvPr id="15" name="estado Pilgrim's Pride"/>
          <p:cNvSpPr/>
          <p:nvPr/>
        </p:nvSpPr>
        <p:spPr>
          <a:xfrm>
            <a:off x="6318504" y="1920240"/>
            <a:ext cx="2377440" cy="274320"/>
          </a:xfrm>
          <a:prstGeom prst="roundRect">
            <a:avLst>
              <a:gd name="adj" fmla="val 50000"/>
            </a:avLst>
          </a:prstGeom>
          <a:solidFill>
            <a:schemeClr val="accent3"/>
          </a:solidFill>
          <a:ln w="12700">
            <a:solidFill>
              <a:schemeClr val="accent3"/>
            </a:solidFill>
            <a:prstDash val="solid"/>
          </a:ln>
        </p:spPr>
      </p:sp>
      <p:sp>
        <p:nvSpPr>
          <p:cNvPr id="16" name="Text 14"/>
          <p:cNvSpPr txBox="1"/>
          <p:nvPr/>
        </p:nvSpPr>
        <p:spPr>
          <a:xfrm>
            <a:off x="6318504" y="1920240"/>
            <a:ext cx="23774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CLIENTE PARCIAL</a:t>
            </a:r>
            <a:endParaRPr lang="en-US" sz="1100" dirty="0"/>
          </a:p>
        </p:txBody>
      </p:sp>
      <p:sp>
        <p:nvSpPr>
          <p:cNvPr id="17" name="Text 15"/>
          <p:cNvSpPr txBox="1"/>
          <p:nvPr/>
        </p:nvSpPr>
        <p:spPr>
          <a:xfrm>
            <a:off x="6318504" y="2331720"/>
            <a:ext cx="237744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6 TIF en el padrón · CRM: 10 ganadas, 2.15 millones MXN de potencial anual registrado, la mayor parte en Gómez Palacio, Durango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Hidalgo y Estado de México no tienen registros en el CRM</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Inversión anunciada de 1,300 mdd: modernización, no demanda actual</a:t>
            </a:r>
            <a:endParaRPr lang="en-US" sz="1400" dirty="0"/>
          </a:p>
        </p:txBody>
      </p:sp>
      <p:sp>
        <p:nvSpPr>
          <p:cNvPr id="18" name="tarjeta Grupo Bafar"/>
          <p:cNvSpPr/>
          <p:nvPr/>
        </p:nvSpPr>
        <p:spPr>
          <a:xfrm>
            <a:off x="8997696" y="1371600"/>
            <a:ext cx="2651760" cy="4526280"/>
          </a:xfrm>
          <a:prstGeom prst="rect">
            <a:avLst/>
          </a:prstGeom>
          <a:solidFill>
            <a:schemeClr val="bg2"/>
          </a:solidFill>
          <a:ln w="12700">
            <a:solidFill>
              <a:schemeClr val="bg2"/>
            </a:solidFill>
            <a:prstDash val="solid"/>
          </a:ln>
        </p:spPr>
      </p:sp>
      <p:sp>
        <p:nvSpPr>
          <p:cNvPr id="19" name="Text 17"/>
          <p:cNvSpPr txBox="1"/>
          <p:nvPr/>
        </p:nvSpPr>
        <p:spPr>
          <a:xfrm>
            <a:off x="9134856" y="1463040"/>
            <a:ext cx="237744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Grupo Bafar</a:t>
            </a:r>
            <a:endParaRPr lang="en-US" sz="2000" dirty="0"/>
          </a:p>
        </p:txBody>
      </p:sp>
      <p:sp>
        <p:nvSpPr>
          <p:cNvPr id="20" name="estado Grupo Bafar"/>
          <p:cNvSpPr/>
          <p:nvPr/>
        </p:nvSpPr>
        <p:spPr>
          <a:xfrm>
            <a:off x="9134856" y="1920240"/>
            <a:ext cx="2377440" cy="274320"/>
          </a:xfrm>
          <a:prstGeom prst="roundRect">
            <a:avLst>
              <a:gd name="adj" fmla="val 50000"/>
            </a:avLst>
          </a:prstGeom>
          <a:solidFill>
            <a:schemeClr val="accent1"/>
          </a:solidFill>
          <a:ln w="12700">
            <a:solidFill>
              <a:schemeClr val="accent1"/>
            </a:solidFill>
            <a:prstDash val="solid"/>
          </a:ln>
        </p:spPr>
      </p:sp>
      <p:sp>
        <p:nvSpPr>
          <p:cNvPr id="21" name="Text 19"/>
          <p:cNvSpPr txBox="1"/>
          <p:nvPr/>
        </p:nvSpPr>
        <p:spPr>
          <a:xfrm>
            <a:off x="9134856" y="1920240"/>
            <a:ext cx="23774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SIN ATENDER</a:t>
            </a:r>
            <a:endParaRPr lang="en-US" sz="1100" dirty="0"/>
          </a:p>
        </p:txBody>
      </p:sp>
      <p:sp>
        <p:nvSpPr>
          <p:cNvPr id="22" name="Text 20"/>
          <p:cNvSpPr txBox="1"/>
          <p:nvPr/>
        </p:nvSpPr>
        <p:spPr>
          <a:xfrm>
            <a:off x="9134856" y="2331720"/>
            <a:ext cx="237744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4 complejos declarados: Chihuahua, La Piedad, Toluca y Gómez Palacio (Reporte Anual 2024)</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CRM: 0 ganadas, 2 perdidas en 2023 (PT-PU BELTS), sin motivo registrado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Ventas netas +14.8% en 2025 y +17.1% en 2T-2026 (incluye tiendas propias). Marcos abrió oportunidades con La Piedad</a:t>
            </a:r>
            <a:endParaRPr lang="en-US" sz="1400" dirty="0"/>
          </a:p>
        </p:txBody>
      </p:sp>
      <p:sp>
        <p:nvSpPr>
          <p:cNvPr id="23" name="Text 2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Directorio TIF SENASICA, 7-sep-2026 · Informe Anual 2024 de Bachoco (BMV) · Reporte Anual 2024 de Bafar (BIVA) · Bafar, resultados 2025 y 2T-2026 (28-jul-2026) · CRM Base_Simbiosis (corte 12-ago-2026). Estados comerciales de Bachoco y Bafar: declaración de Marcos, 14-oct-2026.</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Siete plantas por estado y qué tan firme es cada réplica</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371600"/>
                <a:gridCol w="3657600"/>
                <a:gridCol w="1234440"/>
                <a:gridCol w="4828032"/>
              </a:tblGrid>
              <a:tr h="347472">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Estado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Qué falta validar o decidir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658368">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Michoacán</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 Complejo La Piedad (parque en construcción)</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SIN CASO PROPIO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4"/>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Marcos abrió oportunidades (número PENDIENTE). Domicilio y TIF: ND. Es obra: no hay reposición todavía.</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658368">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Jalisco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Bachoco · Planta Procesadora de Aves, División Occidente, Lagos de Moreno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SÍ</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Oportunidad perdida O-00218689 (2020, 834,766.20 MXN potencial registrado). Motivo de pérdida: no disponible. Coordinar con quien la atiende.</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566928">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Hidalgo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Pilgrim's · Tepeji del Río (¿TIF A-239 «Ocampo»?)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SÍ</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Confirmar con el domicilio que Tepeji y TIF A-239 son el mismo sitio. Si no, baja a 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566928">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Estado de México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Pilgrim's · Toluca</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Solo aparece en un directorio telefónico y no está en el padrón TIF. Confirmar que existe y si sacrifica.</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566928">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Estado de México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 Lerma de Villada (¿mismo sitio que Complejo Toluca?)</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Posible duplicado: municipios vecinos, sin domicilio en ninguno. No contar como dos plantas hasta aclarar.</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658368">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Tlaxcala</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SuKarne · TIF 718 Villa de las Flores (Atlangatepec o Tlaxco, las fuentes difieren)</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Solo corte, deshuese y frío; 120 t/semana contra 320 t/día de Vista Hermosa. No proyectar el consumo del origen.</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50292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Jalisco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SuKarne · TIF 94 Zapopan</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Planta de cocción sin sacrificio. Solo MRO genérico: sería prospección nueva, no réplica.</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Directorio TIF SENASICA, 7-sep-2026 (TIF 94, vigente al 3-sep-2026) · Reporte Anual 2024 de Bafar · directorios comerciales (az-mexico.com, abctelefonos.com, manufactura-latam.com) para Tepeji, Toluca y Lerma · CRM Base_Simbiosis. Todas las réplicas están en HIPÓTESIS hasta visita.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Hallazgos adicionales y lo que falta antes de cerrar</a:t>
            </a:r>
            <a:endParaRPr lang="en-US" sz="2800" dirty="0"/>
          </a:p>
        </p:txBody>
      </p:sp>
      <p:sp>
        <p:nvSpPr>
          <p:cNvPr id="3" name="panel hallazgos"/>
          <p:cNvSpPr/>
          <p:nvPr/>
        </p:nvSpPr>
        <p:spPr>
          <a:xfrm>
            <a:off x="548640" y="1371600"/>
            <a:ext cx="5440680" cy="4526280"/>
          </a:xfrm>
          <a:prstGeom prst="rect">
            <a:avLst/>
          </a:prstGeom>
          <a:solidFill>
            <a:schemeClr val="bg2"/>
          </a:solidFill>
          <a:ln w="12700">
            <a:solidFill>
              <a:schemeClr val="bg2"/>
            </a:solidFill>
            <a:prstDash val="solid"/>
          </a:ln>
        </p:spPr>
      </p:sp>
      <p:sp>
        <p:nvSpPr>
          <p:cNvPr id="4" name="Text 2"/>
          <p:cNvSpPr txBox="1"/>
          <p:nvPr/>
        </p:nvSpPr>
        <p:spPr>
          <a:xfrm>
            <a:off x="731520" y="1508760"/>
            <a:ext cx="5074920" cy="429768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latin typeface="Calibri" pitchFamily="34" charset="0"/>
                <a:ea typeface="Calibri" pitchFamily="34" charset="-122"/>
                <a:cs typeface="Calibri" pitchFamily="34" charset="-120"/>
              </a:rPr>
              <a:t>Hallazgos adicionales (no reemplazan a los cuatro)</a:t>
            </a:r>
            <a:endParaRPr lang="en-US" sz="1600" dirty="0"/>
          </a:p>
          <a:p>
            <a:pPr marL="342900" indent="-342900">
              <a:spcAft>
                <a:spcPts val="600"/>
              </a:spcAft>
              <a:buSzPct val="100000"/>
              <a:buChar char="•"/>
            </a:pPr>
            <a:r>
              <a:rPr lang="en-US" sz="1600" dirty="0">
                <a:solidFill>
                  <a:schemeClr val="tx1"/>
                </a:solidFill>
                <a:latin typeface="Calibri" pitchFamily="34" charset="0"/>
                <a:ea typeface="Calibri" pitchFamily="34" charset="-122"/>
                <a:cs typeface="Calibri" pitchFamily="34" charset="-120"/>
              </a:rPr>
              <a:t>Qualtia y Sigma: procesadores de carnes frías (Qualtia 4 TIF y 1 caso ganado en el CRM; Sigma 15 TIF en 8 estados, padrón de sep-2026). Quedan documentados para ampliar si Ricardo lo decide.</a:t>
            </a:r>
            <a:endParaRPr lang="en-US" sz="1600" dirty="0"/>
          </a:p>
          <a:p>
            <a:pPr marL="342900" indent="-342900">
              <a:spcAft>
                <a:spcPts val="600"/>
              </a:spcAft>
              <a:buSzPct val="100000"/>
              <a:buChar char="•"/>
            </a:pPr>
            <a:r>
              <a:rPr lang="en-US" sz="1600" dirty="0">
                <a:solidFill>
                  <a:schemeClr val="tx1"/>
                </a:solidFill>
                <a:latin typeface="Calibri" pitchFamily="34" charset="0"/>
                <a:ea typeface="Calibri" pitchFamily="34" charset="-122"/>
                <a:cs typeface="Calibri" pitchFamily="34" charset="-120"/>
              </a:rPr>
              <a:t>GAO Aluminio (Grupo Aluminio de Occidente), Acatlán de Juárez, Jalisco: extrusión de aluminio. Marcos abrió una oportunidad y reporta muchas necesidades hidráulicas. Número de oportunidad, equipos y capacidad: PENDIENTE o ND.</a:t>
            </a:r>
            <a:endParaRPr lang="en-US" sz="1600" dirty="0"/>
          </a:p>
          <a:p>
            <a:pPr marL="342900" indent="-342900">
              <a:buSzPct val="100000"/>
              <a:buChar char="•"/>
            </a:pPr>
            <a:r>
              <a:rPr lang="en-US" sz="1600" dirty="0">
                <a:solidFill>
                  <a:schemeClr val="tx1"/>
                </a:solidFill>
                <a:latin typeface="Calibri" pitchFamily="34" charset="0"/>
                <a:ea typeface="Calibri" pitchFamily="34" charset="-122"/>
                <a:cs typeface="Calibri" pitchFamily="34" charset="-120"/>
              </a:rPr>
              <a:t>GAO no es proteína animal: Ricardo decide si entra al programa como caso de campo nuevo.</a:t>
            </a:r>
            <a:endParaRPr lang="en-US" sz="1600" dirty="0"/>
          </a:p>
        </p:txBody>
      </p:sp>
      <p:sp>
        <p:nvSpPr>
          <p:cNvPr id="5" name="panel pendientes"/>
          <p:cNvSpPr/>
          <p:nvPr/>
        </p:nvSpPr>
        <p:spPr>
          <a:xfrm>
            <a:off x="6172200" y="1371600"/>
            <a:ext cx="5468112" cy="4526280"/>
          </a:xfrm>
          <a:prstGeom prst="rect">
            <a:avLst/>
          </a:prstGeom>
          <a:solidFill>
            <a:schemeClr val="bg2"/>
          </a:solidFill>
          <a:ln w="12700">
            <a:solidFill>
              <a:schemeClr val="bg2"/>
            </a:solidFill>
            <a:prstDash val="solid"/>
          </a:ln>
        </p:spPr>
      </p:sp>
      <p:sp>
        <p:nvSpPr>
          <p:cNvPr id="6" name="Text 4"/>
          <p:cNvSpPr txBox="1"/>
          <p:nvPr/>
        </p:nvSpPr>
        <p:spPr>
          <a:xfrm>
            <a:off x="6355080" y="1508760"/>
            <a:ext cx="5102352" cy="429768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latin typeface="Calibri" pitchFamily="34" charset="0"/>
                <a:ea typeface="Calibri" pitchFamily="34" charset="-122"/>
                <a:cs typeface="Calibri" pitchFamily="34" charset="-120"/>
              </a:rPr>
              <a:t>Pendientes</a:t>
            </a:r>
            <a:endParaRPr lang="en-US" sz="1600" dirty="0"/>
          </a:p>
          <a:p>
            <a:pPr marL="342900" indent="-342900">
              <a:spcAft>
                <a:spcPts val="400"/>
              </a:spcAft>
              <a:buSzPct val="100000"/>
              <a:buChar char="•"/>
            </a:pPr>
            <a:r>
              <a:rPr lang="en-US" sz="1600" dirty="0">
                <a:solidFill>
                  <a:schemeClr val="tx1"/>
                </a:solidFill>
                <a:latin typeface="Calibri" pitchFamily="34" charset="0"/>
                <a:ea typeface="Calibri" pitchFamily="34" charset="-122"/>
                <a:cs typeface="Calibri" pitchFamily="34" charset="-120"/>
              </a:rPr>
              <a:t>Registrar en el CRM las oportunidades de Bafar La Piedad y GAO, y pasar sus números.</a:t>
            </a:r>
            <a:endParaRPr lang="en-US" sz="1600" dirty="0"/>
          </a:p>
          <a:p>
            <a:pPr marL="342900" indent="-342900">
              <a:spcAft>
                <a:spcPts val="400"/>
              </a:spcAft>
              <a:buSzPct val="100000"/>
              <a:buChar char="•"/>
            </a:pPr>
            <a:r>
              <a:rPr lang="en-US" sz="1600" dirty="0">
                <a:solidFill>
                  <a:schemeClr val="tx1"/>
                </a:solidFill>
                <a:latin typeface="Calibri" pitchFamily="34" charset="0"/>
                <a:ea typeface="Calibri" pitchFamily="34" charset="-122"/>
                <a:cs typeface="Calibri" pitchFamily="34" charset="-120"/>
              </a:rPr>
              <a:t>Coordinar Bachoco con las regiones que ya lo atienden antes de acercarnos.</a:t>
            </a:r>
            <a:endParaRPr lang="en-US" sz="1600" dirty="0"/>
          </a:p>
          <a:p>
            <a:pPr marL="342900" indent="-342900">
              <a:spcAft>
                <a:spcPts val="400"/>
              </a:spcAft>
              <a:buSzPct val="100000"/>
              <a:buChar char="•"/>
            </a:pPr>
            <a:r>
              <a:rPr lang="en-US" sz="1600" dirty="0">
                <a:solidFill>
                  <a:schemeClr val="tx1"/>
                </a:solidFill>
                <a:latin typeface="Calibri" pitchFamily="34" charset="0"/>
                <a:ea typeface="Calibri" pitchFamily="34" charset="-122"/>
                <a:cs typeface="Calibri" pitchFamily="34" charset="-120"/>
              </a:rPr>
              <a:t>Bachoco Guanajuato: el responsable histórico figura inactivo; designar quién recupera el expediente.</a:t>
            </a:r>
            <a:endParaRPr lang="en-US" sz="1600" dirty="0"/>
          </a:p>
          <a:p>
            <a:pPr marL="342900" indent="-342900">
              <a:spcAft>
                <a:spcPts val="400"/>
              </a:spcAft>
              <a:buSzPct val="100000"/>
              <a:buChar char="•"/>
            </a:pPr>
            <a:r>
              <a:rPr lang="en-US" sz="1600" dirty="0">
                <a:solidFill>
                  <a:schemeClr val="tx1"/>
                </a:solidFill>
                <a:latin typeface="Calibri" pitchFamily="34" charset="0"/>
                <a:ea typeface="Calibri" pitchFamily="34" charset="-122"/>
                <a:cs typeface="Calibri" pitchFamily="34" charset="-120"/>
              </a:rPr>
              <a:t>Cerrar identidades: Tepeji = TIF A-239; Lagos de Moreno = TIF A-183; Lerma = Toluca.</a:t>
            </a:r>
            <a:endParaRPr lang="en-US" sz="1600" dirty="0"/>
          </a:p>
          <a:p>
            <a:pPr marL="342900" indent="-342900">
              <a:buSzPct val="100000"/>
              <a:buChar char="•"/>
            </a:pPr>
            <a:r>
              <a:rPr lang="en-US" sz="1600" dirty="0">
                <a:solidFill>
                  <a:schemeClr val="tx1"/>
                </a:solidFill>
                <a:latin typeface="Calibri" pitchFamily="34" charset="0"/>
                <a:ea typeface="Calibri" pitchFamily="34" charset="-122"/>
                <a:cs typeface="Calibri" pitchFamily="34" charset="-120"/>
              </a:rPr>
              <a:t>Pronóstico 2027 y confirmación INEGI del subsector 311.</a:t>
            </a:r>
            <a:endParaRPr lang="en-US" sz="1600" dirty="0"/>
          </a:p>
        </p:txBody>
      </p:sp>
      <p:sp>
        <p:nvSpPr>
          <p:cNvPr id="7" name="Text 5"/>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gaoaluminio.com (consultado el 14-oct-2026; sin fecha de publicación) · GRUPOS_RANKING.csv · declaraciones de campo de Marcos, 14-oct-2026. El CRM no tiene campo de motivo de pérdida: no se infiere la causa.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fuentes con URL y fecha</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743200"/>
                <a:gridCol w="2377440"/>
                <a:gridCol w="1645920"/>
                <a:gridCol w="432511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PIB primario +4.0%, nacional +0.8%, secundario −1.1%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SIAP/SADER con base en INEGI</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23-feb-2026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gob.mx/agricultura/dgsiap/articulos/el-pib-primario-tiene-su-mejor-desempeno-en-trece-anos-al-crecer-4-0-en-2025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Consumo de carne +4.5%, producción +2.6%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Consejo Mexicano de la Carne, Compendio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 (día exacto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comecarne.org/compendio26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Pie de cría porcino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fas.usda.gov/data/gain/2026/02/mexico-livestock-and-products-semi-annual</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Pollo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 Poultry Annual MX2025-0045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2025 (día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apps.fas.usda.gov/newgainapi/api/Report/DownloadReportByFileName?fileName=Poultry+and+Products+Annual_Mexico+City_Mexico_MX2025-0045.pdf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Pilgrim's: 1,300 mdd 2026–2030</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Presidencia, Plan México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ene-2026 (día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gob.mx/presidencia/prensa/plan-mexico-empresa-global-pilgrim-s-invertira-en-el-pais-mil-300-millones-de-dolares-para-2026-2030-generara-20-mil-empleos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SuKarne: posible venta por más de 2,000 mdd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Financiero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4-ago-2026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elfinanciero.com.mx/empresas/2026/08/04/que-sabemos-de-la-posible-venta-de-sukarne-el-mayor-exportador-de-carne-de-mexico/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+14.8% (2025), +17.1% (2T-2026)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 Bafar; El Heraldo de Chihuahua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2T-2026: 28-jul-2026; 2025: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grupobafar.com/grupo-bafar-incrementa-14-8-sus-ventas-en-2025-y-dispara-173-1-su-utilidad-neta/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4 complejos productivos; La Piedad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Reporte Anual 2024 de Grupo Bafar</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 (archivo con sello ≈ 30-abr-2025)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biva.mx/storage/information-send/RAN/BAFAR/ReporteAnual_2024_BAFAR_1746046978785.pdf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Plantas TIF de SuKarne, Pilgrim's y Bachoco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Directorio TIF, SENASICA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7-sep-2026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gob.mx/cms/uploads/attachment/file/1095992/DIRECTORIO_TIF_07-09-2026.pdf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Bachoco: 64 plantas en 10 complejos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Informe Anual 2024, Bachoco (BMV)</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grupobachoco.com/wp-content/downloads/2025/Informe-Anual-2024-BMV.pdf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6035040"/>
            <a:ext cx="11091672" cy="32004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CRM: Base_Simbiosis.xlsx, hoja DETALLE, Decisión = Elegible, actualización máxima 12-ago-2026. Archivo interno, sin URL.</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Simbiosis IR">
  <a:themeElements>
    <a:clrScheme name="Simbiosis IR">
      <a:dk1>
        <a:srgbClr val="1F2A2E"/>
      </a:dk1>
      <a:lt1>
        <a:srgbClr val="FFFFFF"/>
      </a:lt1>
      <a:dk2>
        <a:srgbClr val="3A4A50"/>
      </a:dk2>
      <a:lt2>
        <a:srgbClr val="F1F3F4"/>
      </a:lt2>
      <a:accent1>
        <a:srgbClr val="A63D2B"/>
      </a:accent1>
      <a:accent2>
        <a:srgbClr val="2F6F62"/>
      </a:accent2>
      <a:accent3>
        <a:srgbClr val="C98A1B"/>
      </a:accent3>
      <a:accent4>
        <a:srgbClr val="7C878C"/>
      </a:accent4>
      <a:accent5>
        <a:srgbClr val="5B7B8C"/>
      </a:accent5>
      <a:accent6>
        <a:srgbClr val="D9DEE0"/>
      </a:accent6>
      <a:hlink>
        <a:srgbClr val="2F6F62"/>
      </a:hlink>
      <a:folHlink>
        <a:srgbClr val="7C878C"/>
      </a:folHlink>
    </a:clrScheme>
    <a:fontScheme name="Simbiosis I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Simbiosis IR - Proteína animal - Entregable 1</dc:title>
  <dc:subject>PptxGenJS Presentation</dc:subject>
  <dc:creator>Programa Simbiosis IR</dc:creator>
  <cp:lastModifiedBy>Programa Simbiosis IR</cp:lastModifiedBy>
  <cp:revision>1</cp:revision>
  <dcterms:created xsi:type="dcterms:W3CDTF">2026-10-14T06:48:41Z</dcterms:created>
  <dcterms:modified xsi:type="dcterms:W3CDTF">2026-10-14T06:48:41Z</dcterms:modified>
</cp:coreProperties>
</file>
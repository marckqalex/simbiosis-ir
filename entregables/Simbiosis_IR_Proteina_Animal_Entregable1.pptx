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Lst>
  <p:notesMasterIdLst>
    <p:notesMasterId r:id="rId38"/>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Lst>
  <p:sldSz cx="16257588" cy="9144000"/>
  <p:notesSz cx="6858000" cy="9144000"/>
  <p:defaultTextStyle>
    <a:defPPr>
      <a:defRPr lang="en-US"/>
    </a:defPPr>
    <a:lvl1pPr marL="0" algn="l" defTabSz="1219261" rtl="0" eaLnBrk="1" latinLnBrk="0" hangingPunct="1">
      <a:defRPr sz="2400" kern="1200">
        <a:solidFill>
          <a:schemeClr val="tx1"/>
        </a:solidFill>
        <a:latin typeface="+mn-lt"/>
        <a:ea typeface="+mn-ea"/>
        <a:cs typeface="+mn-cs"/>
      </a:defRPr>
    </a:lvl1pPr>
    <a:lvl2pPr marL="609630" algn="l" defTabSz="1219261" rtl="0" eaLnBrk="1" latinLnBrk="0" hangingPunct="1">
      <a:defRPr sz="2400" kern="1200">
        <a:solidFill>
          <a:schemeClr val="tx1"/>
        </a:solidFill>
        <a:latin typeface="+mn-lt"/>
        <a:ea typeface="+mn-ea"/>
        <a:cs typeface="+mn-cs"/>
      </a:defRPr>
    </a:lvl2pPr>
    <a:lvl3pPr marL="1219261" algn="l" defTabSz="1219261" rtl="0" eaLnBrk="1" latinLnBrk="0" hangingPunct="1">
      <a:defRPr sz="2400" kern="1200">
        <a:solidFill>
          <a:schemeClr val="tx1"/>
        </a:solidFill>
        <a:latin typeface="+mn-lt"/>
        <a:ea typeface="+mn-ea"/>
        <a:cs typeface="+mn-cs"/>
      </a:defRPr>
    </a:lvl3pPr>
    <a:lvl4pPr marL="1828891" algn="l" defTabSz="1219261" rtl="0" eaLnBrk="1" latinLnBrk="0" hangingPunct="1">
      <a:defRPr sz="2400" kern="1200">
        <a:solidFill>
          <a:schemeClr val="tx1"/>
        </a:solidFill>
        <a:latin typeface="+mn-lt"/>
        <a:ea typeface="+mn-ea"/>
        <a:cs typeface="+mn-cs"/>
      </a:defRPr>
    </a:lvl4pPr>
    <a:lvl5pPr marL="2438522" algn="l" defTabSz="1219261" rtl="0" eaLnBrk="1" latinLnBrk="0" hangingPunct="1">
      <a:defRPr sz="2400" kern="1200">
        <a:solidFill>
          <a:schemeClr val="tx1"/>
        </a:solidFill>
        <a:latin typeface="+mn-lt"/>
        <a:ea typeface="+mn-ea"/>
        <a:cs typeface="+mn-cs"/>
      </a:defRPr>
    </a:lvl5pPr>
    <a:lvl6pPr marL="3048152" algn="l" defTabSz="1219261" rtl="0" eaLnBrk="1" latinLnBrk="0" hangingPunct="1">
      <a:defRPr sz="2400" kern="1200">
        <a:solidFill>
          <a:schemeClr val="tx1"/>
        </a:solidFill>
        <a:latin typeface="+mn-lt"/>
        <a:ea typeface="+mn-ea"/>
        <a:cs typeface="+mn-cs"/>
      </a:defRPr>
    </a:lvl6pPr>
    <a:lvl7pPr marL="3657783" algn="l" defTabSz="1219261" rtl="0" eaLnBrk="1" latinLnBrk="0" hangingPunct="1">
      <a:defRPr sz="2400" kern="1200">
        <a:solidFill>
          <a:schemeClr val="tx1"/>
        </a:solidFill>
        <a:latin typeface="+mn-lt"/>
        <a:ea typeface="+mn-ea"/>
        <a:cs typeface="+mn-cs"/>
      </a:defRPr>
    </a:lvl7pPr>
    <a:lvl8pPr marL="4267413" algn="l" defTabSz="1219261" rtl="0" eaLnBrk="1" latinLnBrk="0" hangingPunct="1">
      <a:defRPr sz="2400" kern="1200">
        <a:solidFill>
          <a:schemeClr val="tx1"/>
        </a:solidFill>
        <a:latin typeface="+mn-lt"/>
        <a:ea typeface="+mn-ea"/>
        <a:cs typeface="+mn-cs"/>
      </a:defRPr>
    </a:lvl8pPr>
    <a:lvl9pPr marL="4877044" algn="l" defTabSz="1219261" rtl="0" eaLnBrk="1" latinLnBrk="0" hangingPunct="1">
      <a:defRPr sz="24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41B30"/>
    <a:srgbClr val="BF2026"/>
    <a:srgbClr val="AD252A"/>
    <a:srgbClr val="C0161C"/>
    <a:srgbClr val="B4242A"/>
    <a:srgbClr val="555559"/>
    <a:srgbClr val="595959"/>
    <a:srgbClr val="F5F5F5"/>
    <a:srgbClr val="EBEBEB"/>
    <a:srgbClr val="727272"/>
  </p:clrMru>
  <p:extLst>
    <p:ext uri="{E76CE94A-603C-4142-B9EB-6D1370010A27}">
      <p14:discardImageEditData xmlns:p14="http://schemas.microsoft.com/office/powerpoint/2010/main" val="0"/>
    </p:ext>
    <p:ext uri="{D31A062A-798A-4329-ABDD-BBA856620510}">
      <p14:defaultImageDpi xmlns:p14="http://schemas.microsoft.com/office/powerpoint/2010/main" val="96"/>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147" autoAdjust="0"/>
    <p:restoredTop sz="94814"/>
  </p:normalViewPr>
  <p:slideViewPr>
    <p:cSldViewPr snapToGrid="0" snapToObjects="1">
      <p:cViewPr varScale="1">
        <p:scale>
          <a:sx n="80" d="100"/>
          <a:sy n="80" d="100"/>
        </p:scale>
        <p:origin x="1260" y="114"/>
      </p:cViewPr>
      <p:guideLst/>
    </p:cSldViewPr>
  </p:slideViewPr>
  <p:notesTextViewPr>
    <p:cViewPr>
      <p:scale>
        <a:sx n="1" d="1"/>
        <a:sy n="1" d="1"/>
      </p:scale>
      <p:origin x="0" y="0"/>
    </p:cViewPr>
  </p:notesTextViewPr>
  <p:sorterViewPr>
    <p:cViewPr varScale="1">
      <p:scale>
        <a:sx n="1" d="1"/>
        <a:sy n="1" d="1"/>
      </p:scale>
      <p:origin x="0" y="-1056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10"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Serie</c:v>
                </c:pt>
              </c:strCache>
            </c:strRef>
          </c:tx>
          <c:dPt>
            <c:idx val="0"/>
            <c:spPr>
              <a:solidFill>
                <a:schemeClr val="accent1"/>
              </a:solidFill>
            </c:spPr>
          </c:dPt>
          <c:dPt>
            <c:idx val="1"/>
            <c:spPr>
              <a:solidFill>
                <a:schemeClr val="accent2"/>
              </a:solidFill>
            </c:spPr>
          </c:dPt>
          <c:dPt>
            <c:idx val="2"/>
            <c:spPr>
              <a:solidFill>
                <a:schemeClr val="accent5"/>
              </a:solidFill>
            </c:spPr>
          </c:dPt>
          <c:cat>
            <c:strRef>
              <c:f>Sheet1!$A$2:$A$4</c:f>
              <c:strCache>
                <c:ptCount val="3"/>
                <c:pt idx="0">
                  <c:v>Sector secundario (industria)</c:v>
                </c:pt>
                <c:pt idx="1">
                  <c:v>PIB nacional</c:v>
                </c:pt>
                <c:pt idx="2">
                  <c:v>PIB primario (agro, ganadería, pesca)</c:v>
                </c:pt>
              </c:strCache>
            </c:strRef>
          </c:cat>
          <c:val>
            <c:numRef>
              <c:f>Sheet1!$B$2:$B$4</c:f>
              <c:numCache>
                <c:formatCode>General</c:formatCode>
                <c:ptCount val="3"/>
                <c:pt idx="0">
                  <c:v>-1.1</c:v>
                </c:pt>
                <c:pt idx="1">
                  <c:v>0.8</c:v>
                </c:pt>
                <c:pt idx="2">
                  <c:v>4.0</c:v>
                </c:pt>
              </c:numCache>
            </c:numRef>
          </c:val>
        </c:ser>
        <c:dLbls>
          <c:numFmt formatCode="0.0" sourceLinked="0"/>
          <c:txPr>
            <a:bodyPr/>
            <a:lstStyle/>
            <a:p>
              <a:pPr>
                <a:defRPr sz="1600">
                  <a:latin typeface="Franklin Gothic Book"/>
                </a:defRPr>
              </a:pPr>
            </a:p>
          </c:txPr>
          <c:dLblPos val="outEnd"/>
          <c:showLegendKey val="0"/>
          <c:showVal val="1"/>
          <c:showCatName val="0"/>
          <c:showSerName val="0"/>
          <c:showPercent val="0"/>
          <c:showBubbleSize val="0"/>
          <c:showLeaderLines val="1"/>
        </c:dLbls>
        <c:gapWidth val="30"/>
        <c:axId val="-2068027336"/>
        <c:axId val="-2113994440"/>
      </c:barChart>
      <c:catAx>
        <c:axId val="-2068027336"/>
        <c:scaling>
          <c:orientation val="minMax"/>
        </c:scaling>
        <c:delete val="0"/>
        <c:axPos val="l"/>
        <c:majorTickMark val="out"/>
        <c:minorTickMark val="none"/>
        <c:tickLblPos val="low"/>
        <c:txPr>
          <a:bodyPr/>
          <a:lstStyle/>
          <a:p>
            <a:pPr>
              <a:defRPr sz="1600">
                <a:latin typeface="Franklin Gothic Book"/>
              </a:defRPr>
            </a:pPr>
          </a:p>
        </c:txPr>
        <c:crossAx val="-2113994440"/>
        <c:crosses val="autoZero"/>
        <c:auto val="1"/>
        <c:lblAlgn val="ctr"/>
        <c:lblOffset val="100"/>
        <c:noMultiLvlLbl val="0"/>
      </c:catAx>
      <c:valAx>
        <c:axId val="-2113994440"/>
        <c:scaling>
          <c:max val="5.0"/>
          <c:min val="-2.0"/>
        </c:scaling>
        <c:delete/>
        <c:axPos val="b"/>
        <c:majorTickMark val="out"/>
        <c:minorTickMark val="none"/>
        <c:tickLblPos val="nextTo"/>
        <c:crossAx val="-2068027336"/>
        <c:crosses val="autoZero"/>
      </c:valAx>
    </c:plotArea>
    <c:dispBlanksAs val="gap"/>
  </c:chart>
  <c:txPr>
    <a:bodyPr/>
    <a:lstStyle/>
    <a:p>
      <a:pPr>
        <a:defRPr sz="1600">
          <a:latin typeface="Franklin Gothic Book"/>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Serie</c:v>
                </c:pt>
              </c:strCache>
            </c:strRef>
          </c:tx>
          <c:dPt>
            <c:idx val="0"/>
            <c:spPr>
              <a:solidFill>
                <a:schemeClr val="accent1"/>
              </a:solidFill>
            </c:spPr>
          </c:dPt>
          <c:dPt>
            <c:idx val="1"/>
            <c:spPr>
              <a:solidFill>
                <a:schemeClr val="accent5"/>
              </a:solidFill>
            </c:spPr>
          </c:dPt>
          <c:cat>
            <c:strRef>
              <c:f>Sheet1!$A$2:$A$3</c:f>
              <c:strCache>
                <c:ptCount val="2"/>
                <c:pt idx="0">
                  <c:v>Consumo de carne</c:v>
                </c:pt>
                <c:pt idx="1">
                  <c:v>Producción de carne</c:v>
                </c:pt>
              </c:strCache>
            </c:strRef>
          </c:cat>
          <c:val>
            <c:numRef>
              <c:f>Sheet1!$B$2:$B$3</c:f>
              <c:numCache>
                <c:formatCode>General</c:formatCode>
                <c:ptCount val="2"/>
                <c:pt idx="0">
                  <c:v>4.5</c:v>
                </c:pt>
                <c:pt idx="1">
                  <c:v>2.6</c:v>
                </c:pt>
              </c:numCache>
            </c:numRef>
          </c:val>
        </c:ser>
        <c:dLbls>
          <c:numFmt formatCode="0.0" sourceLinked="0"/>
          <c:txPr>
            <a:bodyPr/>
            <a:lstStyle/>
            <a:p>
              <a:pPr>
                <a:defRPr sz="1600">
                  <a:latin typeface="Franklin Gothic Book"/>
                </a:defRPr>
              </a:pPr>
            </a:p>
          </c:txPr>
          <c:dLblPos val="outEnd"/>
          <c:showLegendKey val="0"/>
          <c:showVal val="1"/>
          <c:showCatName val="0"/>
          <c:showSerName val="0"/>
          <c:showPercent val="0"/>
          <c:showBubbleSize val="0"/>
          <c:showLeaderLines val="1"/>
        </c:dLbls>
        <c:gapWidth val="30"/>
        <c:axId val="-2068027336"/>
        <c:axId val="-2113994440"/>
      </c:barChart>
      <c:catAx>
        <c:axId val="-2068027336"/>
        <c:scaling>
          <c:orientation val="minMax"/>
        </c:scaling>
        <c:delete val="0"/>
        <c:axPos val="b"/>
        <c:majorTickMark val="out"/>
        <c:minorTickMark val="none"/>
        <c:tickLblPos val="nextTo"/>
        <c:txPr>
          <a:bodyPr/>
          <a:lstStyle/>
          <a:p>
            <a:pPr>
              <a:defRPr sz="1600">
                <a:latin typeface="Franklin Gothic Book"/>
              </a:defRPr>
            </a:pPr>
          </a:p>
        </c:txPr>
        <c:crossAx val="-2113994440"/>
        <c:crosses val="autoZero"/>
        <c:auto val="1"/>
        <c:lblAlgn val="ctr"/>
        <c:lblOffset val="100"/>
        <c:noMultiLvlLbl val="0"/>
      </c:catAx>
      <c:valAx>
        <c:axId val="-2113994440"/>
        <c:scaling>
          <c:max val="6.0"/>
          <c:min val="0.0"/>
        </c:scaling>
        <c:delete/>
        <c:axPos val="l"/>
        <c:majorTickMark val="out"/>
        <c:minorTickMark val="none"/>
        <c:tickLblPos val="nextTo"/>
        <c:crossAx val="-2068027336"/>
        <c:crosses val="autoZero"/>
      </c:valAx>
    </c:plotArea>
    <c:dispBlanksAs val="gap"/>
  </c:chart>
  <c:txPr>
    <a:bodyPr/>
    <a:lstStyle/>
    <a:p>
      <a:pPr>
        <a:defRPr sz="1600">
          <a:latin typeface="Franklin Gothic Book"/>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Serie</c:v>
                </c:pt>
              </c:strCache>
            </c:strRef>
          </c:tx>
          <c:dPt>
            <c:idx val="0"/>
            <c:spPr>
              <a:solidFill>
                <a:schemeClr val="accent2"/>
              </a:solidFill>
            </c:spPr>
          </c:dPt>
          <c:dPt>
            <c:idx val="1"/>
            <c:spPr>
              <a:solidFill>
                <a:schemeClr val="accent5"/>
              </a:solidFill>
            </c:spPr>
          </c:dPt>
          <c:dPt>
            <c:idx val="2"/>
            <c:spPr>
              <a:solidFill>
                <a:schemeClr val="accent4"/>
              </a:solidFill>
            </c:spPr>
          </c:dPt>
          <c:dPt>
            <c:idx val="3"/>
            <c:spPr>
              <a:solidFill>
                <a:schemeClr val="accent1"/>
              </a:solidFill>
            </c:spPr>
          </c:dPt>
          <c:cat>
            <c:strRef>
              <c:f>Sheet1!$A$2:$A$5</c:f>
              <c:strCache>
                <c:ptCount val="4"/>
                <c:pt idx="0">
                  <c:v>Food &amp; Beverage (CRM)</c:v>
                </c:pt>
                <c:pt idx="1">
                  <c:v>Total nacional (CRM)</c:v>
                </c:pt>
                <c:pt idx="2">
                  <c:v>4 grupos de esta presentación</c:v>
                </c:pt>
                <c:pt idx="3">
                  <c:v>Proteína animal (60 claves)</c:v>
                </c:pt>
              </c:strCache>
            </c:strRef>
          </c:cat>
          <c:val>
            <c:numRef>
              <c:f>Sheet1!$B$2:$B$5</c:f>
              <c:numCache>
                <c:formatCode>General</c:formatCode>
                <c:ptCount val="4"/>
                <c:pt idx="0">
                  <c:v>62.5</c:v>
                </c:pt>
                <c:pt idx="1">
                  <c:v>66.2</c:v>
                </c:pt>
                <c:pt idx="2">
                  <c:v>64.6</c:v>
                </c:pt>
                <c:pt idx="3">
                  <c:v>73.4</c:v>
                </c:pt>
              </c:numCache>
            </c:numRef>
          </c:val>
        </c:ser>
        <c:dLbls>
          <c:numFmt formatCode="0.0" sourceLinked="0"/>
          <c:txPr>
            <a:bodyPr/>
            <a:lstStyle/>
            <a:p>
              <a:pPr>
                <a:defRPr sz="1400">
                  <a:latin typeface="Franklin Gothic Book"/>
                </a:defRPr>
              </a:pPr>
            </a:p>
          </c:txPr>
          <c:dLblPos val="outEnd"/>
          <c:showLegendKey val="0"/>
          <c:showVal val="1"/>
          <c:showCatName val="0"/>
          <c:showSerName val="0"/>
          <c:showPercent val="0"/>
          <c:showBubbleSize val="0"/>
          <c:showLeaderLines val="1"/>
        </c:dLbls>
        <c:gapWidth val="30"/>
        <c:axId val="-2068027336"/>
        <c:axId val="-2113994440"/>
      </c:barChart>
      <c:catAx>
        <c:axId val="-2068027336"/>
        <c:scaling>
          <c:orientation val="minMax"/>
        </c:scaling>
        <c:delete val="0"/>
        <c:axPos val="l"/>
        <c:majorTickMark val="out"/>
        <c:minorTickMark val="none"/>
        <c:tickLblPos val="nextTo"/>
        <c:txPr>
          <a:bodyPr/>
          <a:lstStyle/>
          <a:p>
            <a:pPr>
              <a:defRPr sz="1400">
                <a:latin typeface="Franklin Gothic Book"/>
              </a:defRPr>
            </a:pPr>
          </a:p>
        </c:txPr>
        <c:crossAx val="-2113994440"/>
        <c:crosses val="autoZero"/>
        <c:auto val="1"/>
        <c:lblAlgn val="ctr"/>
        <c:lblOffset val="100"/>
        <c:noMultiLvlLbl val="0"/>
      </c:catAx>
      <c:valAx>
        <c:axId val="-2113994440"/>
        <c:scaling>
          <c:max val="90.0"/>
          <c:min val="0.0"/>
        </c:scaling>
        <c:delete/>
        <c:axPos val="b"/>
        <c:majorTickMark val="out"/>
        <c:minorTickMark val="none"/>
        <c:tickLblPos val="nextTo"/>
        <c:crossAx val="-2068027336"/>
        <c:crosses val="autoZero"/>
      </c:valAx>
    </c:plotArea>
    <c:dispBlanksAs val="gap"/>
  </c:chart>
  <c:txPr>
    <a:bodyPr/>
    <a:lstStyle/>
    <a:p>
      <a:pPr>
        <a:defRPr sz="1400">
          <a:latin typeface="Franklin Gothic Book"/>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40D63CD-4C2E-CD47-876D-A356664CF84F}" type="datetimeFigureOut">
              <a:rPr lang="en-US" smtClean="0"/>
              <a:t>10/14/2026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DF460F7-28D0-7341-9079-8A4A42E87C26}" type="slidenum">
              <a:rPr lang="en-US" smtClean="0"/>
              <a:t>‹#›</a:t>
            </a:fld>
            <a:endParaRPr lang="en-US"/>
          </a:p>
        </p:txBody>
      </p:sp>
    </p:spTree>
    <p:extLst>
      <p:ext uri="{BB962C8B-B14F-4D97-AF65-F5344CB8AC3E}">
        <p14:creationId xmlns:p14="http://schemas.microsoft.com/office/powerpoint/2010/main" val="208534871"/>
      </p:ext>
    </p:extLst>
  </p:cSld>
  <p:clrMap bg1="lt1" tx1="dk1" bg2="lt2" tx2="dk2" accent1="accent1" accent2="accent2" accent3="accent3" accent4="accent4" accent5="accent5" accent6="accent6" hlink="hlink" folHlink="folHlink"/>
  <p:notesStyle>
    <a:lvl1pPr marL="0" algn="l" defTabSz="1219261" rtl="0" eaLnBrk="1" latinLnBrk="0" hangingPunct="1">
      <a:defRPr sz="1600" kern="1200">
        <a:solidFill>
          <a:schemeClr val="tx1"/>
        </a:solidFill>
        <a:latin typeface="+mn-lt"/>
        <a:ea typeface="+mn-ea"/>
        <a:cs typeface="+mn-cs"/>
      </a:defRPr>
    </a:lvl1pPr>
    <a:lvl2pPr marL="609630" algn="l" defTabSz="1219261" rtl="0" eaLnBrk="1" latinLnBrk="0" hangingPunct="1">
      <a:defRPr sz="1600" kern="1200">
        <a:solidFill>
          <a:schemeClr val="tx1"/>
        </a:solidFill>
        <a:latin typeface="+mn-lt"/>
        <a:ea typeface="+mn-ea"/>
        <a:cs typeface="+mn-cs"/>
      </a:defRPr>
    </a:lvl2pPr>
    <a:lvl3pPr marL="1219261" algn="l" defTabSz="1219261" rtl="0" eaLnBrk="1" latinLnBrk="0" hangingPunct="1">
      <a:defRPr sz="1600" kern="1200">
        <a:solidFill>
          <a:schemeClr val="tx1"/>
        </a:solidFill>
        <a:latin typeface="+mn-lt"/>
        <a:ea typeface="+mn-ea"/>
        <a:cs typeface="+mn-cs"/>
      </a:defRPr>
    </a:lvl3pPr>
    <a:lvl4pPr marL="1828891" algn="l" defTabSz="1219261" rtl="0" eaLnBrk="1" latinLnBrk="0" hangingPunct="1">
      <a:defRPr sz="1600" kern="1200">
        <a:solidFill>
          <a:schemeClr val="tx1"/>
        </a:solidFill>
        <a:latin typeface="+mn-lt"/>
        <a:ea typeface="+mn-ea"/>
        <a:cs typeface="+mn-cs"/>
      </a:defRPr>
    </a:lvl4pPr>
    <a:lvl5pPr marL="2438522" algn="l" defTabSz="1219261" rtl="0" eaLnBrk="1" latinLnBrk="0" hangingPunct="1">
      <a:defRPr sz="1600" kern="1200">
        <a:solidFill>
          <a:schemeClr val="tx1"/>
        </a:solidFill>
        <a:latin typeface="+mn-lt"/>
        <a:ea typeface="+mn-ea"/>
        <a:cs typeface="+mn-cs"/>
      </a:defRPr>
    </a:lvl5pPr>
    <a:lvl6pPr marL="3048152" algn="l" defTabSz="1219261" rtl="0" eaLnBrk="1" latinLnBrk="0" hangingPunct="1">
      <a:defRPr sz="1600" kern="1200">
        <a:solidFill>
          <a:schemeClr val="tx1"/>
        </a:solidFill>
        <a:latin typeface="+mn-lt"/>
        <a:ea typeface="+mn-ea"/>
        <a:cs typeface="+mn-cs"/>
      </a:defRPr>
    </a:lvl6pPr>
    <a:lvl7pPr marL="3657783" algn="l" defTabSz="1219261" rtl="0" eaLnBrk="1" latinLnBrk="0" hangingPunct="1">
      <a:defRPr sz="1600" kern="1200">
        <a:solidFill>
          <a:schemeClr val="tx1"/>
        </a:solidFill>
        <a:latin typeface="+mn-lt"/>
        <a:ea typeface="+mn-ea"/>
        <a:cs typeface="+mn-cs"/>
      </a:defRPr>
    </a:lvl7pPr>
    <a:lvl8pPr marL="4267413" algn="l" defTabSz="1219261" rtl="0" eaLnBrk="1" latinLnBrk="0" hangingPunct="1">
      <a:defRPr sz="1600" kern="1200">
        <a:solidFill>
          <a:schemeClr val="tx1"/>
        </a:solidFill>
        <a:latin typeface="+mn-lt"/>
        <a:ea typeface="+mn-ea"/>
        <a:cs typeface="+mn-cs"/>
      </a:defRPr>
    </a:lvl8pPr>
    <a:lvl9pPr marL="4877044" algn="l" defTabSz="1219261"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Recorrido: de alimentos y bebidas a proteína animal, luego los cuatro grupos y las plantas concretas por estado; al final, un hallazgo adicional: Sigma. Presenta Marcos Arévalo, Programa Simbiosis IR, 14 de octubre de 2026.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Seis pares planta origen a planta destino. Solo Pilgrim's Tepeji se sostiene, y depende de confirmar que es el mismo sitio que el TIF A-239. Lagos de Moreno es parcial porque no hay áreas verificadas en el destino. El TIF 94 de SuKarne es una planta de cocción sin sacrificio. Programa Simbiosis IR, 14 de octubre de 2026.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contraste entre el campo (+4.0%) y la industria (−1.1%) justifica mirar proteína animal. No prueba demanda de reposición: eso se valida por planta. Fuente: SIAP/SADER, 23 de febrero de 2026 (URL en el apéndice 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proyecto anunciado no es demanda actual: la reposición llega después del arranque, no durante la obra. Para 2027 las fuentes consultadas no publican una cifra de crecimiento, por eso no se estima. Fuentes: Comecarne (citado por prensa), USDA FAS y Presidencia, en el apéndice 1; Reporte Anual 2024 de Bafar, en el apéndice 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Hay que presentarlo con matices. Primero, historial propio: en las 60 claves de proteína animal la tasa de ganancia es 73.4%, pero se concentra en cuatro claves (Gusi, Granjas Carroll, Pecuario San Antonio y Proan) que no son de los grupos de esta presentación; los cuatro grupos juntos están en 64.6%, cerca del promedio nacional de 66.2%. Segundo, el mercado: la producción de carne creció 2.6% y el consumo 4.5%; la diferencia se cubre con importación. Tercero, hay grupos con muchas plantas donde un caso ganado podría replicarse, pero solo una réplica de seis se sostiene con condición. Límites: no hay cifra de 2027; el CRM clasifica distinto al mismo cliente según el año (Food &amp; Beverage no muestra ganadas en 2019 y 2020); las 60 claves se identificaron por nombre. Fuentes: CRM de Gates (corte 12-ago-2026), Comecarne, SIAP/SADER, USDA FAS, Presidencia, Directorio TIF de SENASICA del 7-sep-2026 e informes de cada grupo (apéndices 1 y 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nomenclatura está copiada tal cual del campo Nombre de oportunidad del CRM. El número va solo como referencia. En Lucero hay 6 ganadas y en El Porvenir (Pilgrim's) 3; aquí se citan los casos más cercanos a cada réplica. Fuente: CRM de Gates (oportunidades elegibles, actualización máxima 12-ago-2026); año de cierre según el campo Año cierre.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etiquetas describen el historial en el CRM, no una compra vigente. Bachoco: otras regiones atienden la cuenta; hay que confirmar si incluye Lagos. Bafar: sin ganadas en el CRM, pero La Piedad ya tiene dos oportunidades abiertas. Sumas = potencial anual registrado de ganadas de varios años (2019–2026), no monto anual ni facturación; pueden repetir importes entre años. Fuera de las oportunidades elegibles hay 13 ganadas más de Bachoco y 3 de SuKarne, no contadas. Fuentes en los apéndices 1 y 2: Directorio TIF de SENASICA (7-sep-2026), Informe Anual 2024 de Bachoco, Reporte Anual 2024 de Bafar, El Financiero, Presidencia y CRM de Gates; nomenclaturas de las perdidas de Bafar en el apéndice 3.</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Siete plantas; seis tienen veredicto de réplica. La Piedad no se evaluó como par de réplica: ahí ya hay dos oportunidades abiertas. Solo Tepeji queda como sí, condicionado a confirmar que es el mismo sitio que el TIF A-239. Fuentes: Directorio TIF de SENASICA (7-sep-2026), Reporte Anual 2024 de Bafar, Expansión (12-abr-2023), directorios comerciales para Tepeji, Toluca, Lerma y Lagos, y CRM de Gates (apéndice 2). Todas las réplicas se confirman en visita a planta.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Sigma no estaba en el radar y es el procesador de alimentos con más establecimientos TIF del padrón. Tiene historial en cuatro de sus ocho estados con TIF; en Chihuahua, Guanajuato, Sonora y Yucatán no hay cuenta propia. No sacrifica: procesa carnes frías, igual que Bafar y Qualtia. Con razón social Sigma, Jalisco tampoco tiene cuenta: serían 5 estados sin cuenta propia si Tonalá no resulta de Sigma. Fuentes: Directorio TIF de SENASICA (7-sep-2026), Reporte Anual SIGMA 2024, CRM de Gates (búsqueda por «Sigma», subsidiarias con TIF y marcas; corte 12-ago-2026). Los 15 TIF no incluyen los de Productos Cárnicos de Occidente. Las 65 plantas del reporte 4T25 (11-feb-2026) son globales. Filiales con otro nombre podrían no aparecer. Detalle en el apéndice 4.</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pasos de visita y coordinación dependen de las plantas y del CRM; Sigma es el hallazgo nuevo; para 2027 no hay cifra publicada.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Fuentes de mercado con URL y fecha de publicación.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Fuentes de plantas y grupos con URL y fecha de publicación.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Montos: potencial anual registrado, no facturación.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CRM de Gates (oportunidades elegibles), verificadas el 14-oct-2026. Montos: potencial anual registrado, no facturación; los ganados de Sigma suman 3.11 millones MXN sin Tonalá. Productos Cárnicos de Occidente aparece como subsidiaria de Sigma con TIF propio en nuestro listado de subsidiarias; el CRM la clasifica como independiente, por eso el vínculo está por confirmar.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emf"/><Relationship Id="rId4" Type="http://schemas.openxmlformats.org/officeDocument/2006/relationships/image" Target="../media/image5.emf"/></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4.emf"/><Relationship Id="rId4" Type="http://schemas.openxmlformats.org/officeDocument/2006/relationships/image" Target="../media/image5.em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4.emf"/><Relationship Id="rId4" Type="http://schemas.openxmlformats.org/officeDocument/2006/relationships/image" Target="../media/image5.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4.emf"/><Relationship Id="rId4" Type="http://schemas.openxmlformats.org/officeDocument/2006/relationships/image" Target="../media/image9.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Transition 1">
    <p:spTree>
      <p:nvGrpSpPr>
        <p:cNvPr id="1" name=""/>
        <p:cNvGrpSpPr/>
        <p:nvPr/>
      </p:nvGrpSpPr>
      <p:grpSpPr>
        <a:xfrm>
          <a:off x="0" y="0"/>
          <a:ext cx="0" cy="0"/>
          <a:chOff x="0" y="0"/>
          <a:chExt cx="0" cy="0"/>
        </a:xfrm>
      </p:grpSpPr>
      <p:pic>
        <p:nvPicPr>
          <p:cNvPr id="2" name="Picture 1"/>
          <p:cNvPicPr>
            <a:picLocks noChangeAspect="1"/>
          </p:cNvPicPr>
          <p:nvPr userDrawn="1"/>
        </p:nvPicPr>
        <p:blipFill rotWithShape="1">
          <a:blip r:embed="rId2" cstate="screen">
            <a:extLst>
              <a:ext uri="{28A0092B-C50C-407E-A947-70E740481C1C}">
                <a14:useLocalDpi xmlns:a14="http://schemas.microsoft.com/office/drawing/2010/main"/>
              </a:ext>
            </a:extLst>
          </a:blip>
          <a:srcRect b="15468"/>
          <a:stretch/>
        </p:blipFill>
        <p:spPr>
          <a:xfrm>
            <a:off x="0" y="-2277"/>
            <a:ext cx="16257588" cy="9161932"/>
          </a:xfrm>
          <a:prstGeom prst="rect">
            <a:avLst/>
          </a:prstGeom>
        </p:spPr>
      </p:pic>
      <p:sp>
        <p:nvSpPr>
          <p:cNvPr id="16" name="Rectangle 15"/>
          <p:cNvSpPr/>
          <p:nvPr userDrawn="1"/>
        </p:nvSpPr>
        <p:spPr>
          <a:xfrm>
            <a:off x="2287" y="15655"/>
            <a:ext cx="16255301" cy="9144000"/>
          </a:xfrm>
          <a:prstGeom prst="rect">
            <a:avLst/>
          </a:prstGeom>
          <a:gradFill flip="none" rotWithShape="1">
            <a:gsLst>
              <a:gs pos="0">
                <a:schemeClr val="bg2">
                  <a:lumMod val="10000"/>
                  <a:alpha val="46000"/>
                </a:schemeClr>
              </a:gs>
              <a:gs pos="100000">
                <a:schemeClr val="bg2">
                  <a:lumMod val="25000"/>
                  <a:alpha val="15000"/>
                </a:schemeClr>
              </a:gs>
            </a:gsLst>
            <a:lin ang="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tIns="91440" bIns="91440" rtlCol="0" anchor="ctr"/>
          <a:lstStyle/>
          <a:p>
            <a:pPr algn="ctr"/>
            <a:endParaRPr lang="en-US" sz="1800" dirty="0">
              <a:solidFill>
                <a:schemeClr val="tx1"/>
              </a:solidFill>
              <a:latin typeface="Franklin Gothic Demi" charset="0"/>
              <a:ea typeface="Franklin Gothic Demi" charset="0"/>
              <a:cs typeface="Franklin Gothic Demi" charset="0"/>
            </a:endParaRPr>
          </a:p>
        </p:txBody>
      </p:sp>
      <p:grpSp>
        <p:nvGrpSpPr>
          <p:cNvPr id="22" name="Group 21"/>
          <p:cNvGrpSpPr/>
          <p:nvPr userDrawn="1"/>
        </p:nvGrpSpPr>
        <p:grpSpPr>
          <a:xfrm>
            <a:off x="-296333" y="3406356"/>
            <a:ext cx="15905153" cy="3218910"/>
            <a:chOff x="-296333" y="3514306"/>
            <a:chExt cx="15905153" cy="3218910"/>
          </a:xfrm>
        </p:grpSpPr>
        <p:sp>
          <p:nvSpPr>
            <p:cNvPr id="23" name="TextBox 22"/>
            <p:cNvSpPr txBox="1"/>
            <p:nvPr userDrawn="1"/>
          </p:nvSpPr>
          <p:spPr>
            <a:xfrm>
              <a:off x="-296333" y="6451600"/>
              <a:ext cx="57708" cy="281616"/>
            </a:xfrm>
            <a:prstGeom prst="rect">
              <a:avLst/>
            </a:prstGeom>
            <a:noFill/>
          </p:spPr>
          <p:txBody>
            <a:bodyPr wrap="none" lIns="0" tIns="0" rIns="0" bIns="0" rtlCol="0">
              <a:spAutoFit/>
            </a:bodyPr>
            <a:lstStyle/>
            <a:p>
              <a:pPr>
                <a:lnSpc>
                  <a:spcPct val="110000"/>
                </a:lnSpc>
                <a:spcBef>
                  <a:spcPts val="600"/>
                </a:spcBef>
              </a:pPr>
              <a:r>
                <a:rPr lang="en-US" sz="1800">
                  <a:latin typeface="Franklin Gothic Book" charset="0"/>
                  <a:ea typeface="Franklin Gothic Book" charset="0"/>
                  <a:cs typeface="Franklin Gothic Book" charset="0"/>
                </a:rPr>
                <a:t> </a:t>
              </a:r>
              <a:endParaRPr lang="en-US" sz="1800" dirty="0">
                <a:latin typeface="Franklin Gothic Book" charset="0"/>
                <a:ea typeface="Franklin Gothic Book" charset="0"/>
                <a:cs typeface="Franklin Gothic Book" charset="0"/>
              </a:endParaRPr>
            </a:p>
          </p:txBody>
        </p:sp>
        <p:sp>
          <p:nvSpPr>
            <p:cNvPr id="24" name="TextBox 23"/>
            <p:cNvSpPr txBox="1"/>
            <p:nvPr userDrawn="1"/>
          </p:nvSpPr>
          <p:spPr>
            <a:xfrm>
              <a:off x="-133957" y="6112405"/>
              <a:ext cx="57708" cy="281616"/>
            </a:xfrm>
            <a:prstGeom prst="rect">
              <a:avLst/>
            </a:prstGeom>
            <a:noFill/>
          </p:spPr>
          <p:txBody>
            <a:bodyPr wrap="none" lIns="0" tIns="0" rIns="0" bIns="0" rtlCol="0">
              <a:spAutoFit/>
            </a:bodyPr>
            <a:lstStyle/>
            <a:p>
              <a:pPr>
                <a:lnSpc>
                  <a:spcPct val="110000"/>
                </a:lnSpc>
                <a:spcBef>
                  <a:spcPts val="600"/>
                </a:spcBef>
              </a:pPr>
              <a:r>
                <a:rPr lang="en-US" sz="1800" dirty="0">
                  <a:latin typeface="Franklin Gothic Book" charset="0"/>
                  <a:ea typeface="Franklin Gothic Book" charset="0"/>
                  <a:cs typeface="Franklin Gothic Book" charset="0"/>
                </a:rPr>
                <a:t> </a:t>
              </a:r>
            </a:p>
          </p:txBody>
        </p:sp>
        <p:cxnSp>
          <p:nvCxnSpPr>
            <p:cNvPr id="27" name="Straight Connector 26"/>
            <p:cNvCxnSpPr/>
            <p:nvPr userDrawn="1"/>
          </p:nvCxnSpPr>
          <p:spPr>
            <a:xfrm>
              <a:off x="3478143" y="3514306"/>
              <a:ext cx="0" cy="1635125"/>
            </a:xfrm>
            <a:prstGeom prst="line">
              <a:avLst/>
            </a:prstGeom>
            <a:ln w="254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userDrawn="1"/>
          </p:nvCxnSpPr>
          <p:spPr>
            <a:xfrm>
              <a:off x="956930" y="5138799"/>
              <a:ext cx="14448722" cy="0"/>
            </a:xfrm>
            <a:prstGeom prst="line">
              <a:avLst/>
            </a:prstGeom>
            <a:ln w="25400">
              <a:solidFill>
                <a:schemeClr val="bg1"/>
              </a:solidFill>
            </a:ln>
            <a:effectLst/>
          </p:spPr>
          <p:style>
            <a:lnRef idx="1">
              <a:schemeClr val="accent1"/>
            </a:lnRef>
            <a:fillRef idx="0">
              <a:schemeClr val="accent1"/>
            </a:fillRef>
            <a:effectRef idx="0">
              <a:schemeClr val="accent1"/>
            </a:effectRef>
            <a:fontRef idx="minor">
              <a:schemeClr val="tx1"/>
            </a:fontRef>
          </p:style>
        </p:cxnSp>
        <p:pic>
          <p:nvPicPr>
            <p:cNvPr id="29" name="Picture 28"/>
            <p:cNvPicPr>
              <a:picLocks noChangeAspect="1"/>
            </p:cNvPicPr>
            <p:nvPr userDrawn="1"/>
          </p:nvPicPr>
          <p:blipFill rotWithShape="1">
            <a:blip r:embed="rId3" cstate="screen">
              <a:extLst>
                <a:ext uri="{28A0092B-C50C-407E-A947-70E740481C1C}">
                  <a14:useLocalDpi xmlns:a14="http://schemas.microsoft.com/office/drawing/2010/main"/>
                </a:ext>
              </a:extLst>
            </a:blip>
            <a:srcRect l="6887"/>
            <a:stretch/>
          </p:blipFill>
          <p:spPr>
            <a:xfrm>
              <a:off x="952766" y="5494765"/>
              <a:ext cx="14656054" cy="500031"/>
            </a:xfrm>
            <a:prstGeom prst="rect">
              <a:avLst/>
            </a:prstGeom>
          </p:spPr>
        </p:pic>
        <p:cxnSp>
          <p:nvCxnSpPr>
            <p:cNvPr id="30" name="Straight Connector 29"/>
            <p:cNvCxnSpPr/>
            <p:nvPr userDrawn="1"/>
          </p:nvCxnSpPr>
          <p:spPr>
            <a:xfrm>
              <a:off x="11753463" y="3514306"/>
              <a:ext cx="0" cy="1635125"/>
            </a:xfrm>
            <a:prstGeom prst="line">
              <a:avLst/>
            </a:prstGeom>
            <a:ln w="25400">
              <a:solidFill>
                <a:schemeClr val="bg1"/>
              </a:solidFill>
            </a:ln>
          </p:spPr>
          <p:style>
            <a:lnRef idx="1">
              <a:schemeClr val="accent1"/>
            </a:lnRef>
            <a:fillRef idx="0">
              <a:schemeClr val="accent1"/>
            </a:fillRef>
            <a:effectRef idx="0">
              <a:schemeClr val="accent1"/>
            </a:effectRef>
            <a:fontRef idx="minor">
              <a:schemeClr val="tx1"/>
            </a:fontRef>
          </p:style>
        </p:cxnSp>
      </p:grpSp>
      <p:sp>
        <p:nvSpPr>
          <p:cNvPr id="32" name="Title 1"/>
          <p:cNvSpPr>
            <a:spLocks noGrp="1"/>
          </p:cNvSpPr>
          <p:nvPr>
            <p:ph type="title" hasCustomPrompt="1"/>
          </p:nvPr>
        </p:nvSpPr>
        <p:spPr>
          <a:xfrm>
            <a:off x="3955660" y="3450468"/>
            <a:ext cx="7271934" cy="1550763"/>
          </a:xfrm>
          <a:prstGeom prst="rect">
            <a:avLst/>
          </a:prstGeom>
        </p:spPr>
        <p:txBody>
          <a:bodyPr anchor="ctr"/>
          <a:lstStyle>
            <a:lvl1pPr>
              <a:lnSpc>
                <a:spcPct val="80000"/>
              </a:lnSpc>
              <a:defRPr sz="6000" cap="all" baseline="0">
                <a:solidFill>
                  <a:schemeClr val="bg1"/>
                </a:solidFill>
                <a:latin typeface="Franklin Gothic Heavy" panose="020B0903020102020204" pitchFamily="34" charset="0"/>
              </a:defRPr>
            </a:lvl1pPr>
          </a:lstStyle>
          <a:p>
            <a:r>
              <a:rPr lang="en-US" dirty="0"/>
              <a:t>Click to edit title</a:t>
            </a:r>
          </a:p>
        </p:txBody>
      </p:sp>
      <p:sp>
        <p:nvSpPr>
          <p:cNvPr id="33" name="Text Placeholder 4"/>
          <p:cNvSpPr>
            <a:spLocks noGrp="1"/>
          </p:cNvSpPr>
          <p:nvPr>
            <p:ph type="body" sz="quarter" idx="11" hasCustomPrompt="1"/>
          </p:nvPr>
        </p:nvSpPr>
        <p:spPr>
          <a:xfrm>
            <a:off x="12078581" y="3511371"/>
            <a:ext cx="2600325" cy="1414463"/>
          </a:xfrm>
          <a:prstGeom prst="rect">
            <a:avLst/>
          </a:prstGeom>
        </p:spPr>
        <p:txBody>
          <a:bodyPr anchor="ctr"/>
          <a:lstStyle>
            <a:lvl1pPr marL="0" indent="0">
              <a:lnSpc>
                <a:spcPct val="80000"/>
              </a:lnSpc>
              <a:spcBef>
                <a:spcPts val="0"/>
              </a:spcBef>
              <a:buNone/>
              <a:defRPr sz="3000" cap="all">
                <a:solidFill>
                  <a:schemeClr val="bg1"/>
                </a:solidFill>
                <a:latin typeface="Franklin Gothic Heavy" panose="020B0903020102020204" pitchFamily="34" charset="0"/>
              </a:defRPr>
            </a:lvl1pPr>
            <a:lvl2pPr>
              <a:defRPr cap="all">
                <a:solidFill>
                  <a:schemeClr val="bg1"/>
                </a:solidFill>
                <a:latin typeface="+mj-lt"/>
              </a:defRPr>
            </a:lvl2pPr>
            <a:lvl3pPr>
              <a:defRPr cap="all">
                <a:solidFill>
                  <a:schemeClr val="bg1"/>
                </a:solidFill>
                <a:latin typeface="+mj-lt"/>
              </a:defRPr>
            </a:lvl3pPr>
            <a:lvl4pPr>
              <a:defRPr cap="all">
                <a:solidFill>
                  <a:schemeClr val="bg1"/>
                </a:solidFill>
                <a:latin typeface="+mj-lt"/>
              </a:defRPr>
            </a:lvl4pPr>
            <a:lvl5pPr>
              <a:defRPr cap="all">
                <a:solidFill>
                  <a:schemeClr val="bg1"/>
                </a:solidFill>
                <a:latin typeface="+mj-lt"/>
              </a:defRPr>
            </a:lvl5pPr>
          </a:lstStyle>
          <a:p>
            <a:pPr lvl="0"/>
            <a:r>
              <a:rPr lang="en-US" dirty="0"/>
              <a:t>Click to edit Sub title</a:t>
            </a:r>
          </a:p>
        </p:txBody>
      </p:sp>
      <p:pic>
        <p:nvPicPr>
          <p:cNvPr id="17" name="Picture 16"/>
          <p:cNvPicPr>
            <a:picLocks noChangeAspect="1"/>
          </p:cNvPicPr>
          <p:nvPr userDrawn="1"/>
        </p:nvPicPr>
        <p:blipFill>
          <a:blip r:embed="rId4" cstate="email">
            <a:extLst>
              <a:ext uri="{28A0092B-C50C-407E-A947-70E740481C1C}">
                <a14:useLocalDpi xmlns:a14="http://schemas.microsoft.com/office/drawing/2010/main" val="0"/>
              </a:ext>
            </a:extLst>
          </a:blip>
          <a:stretch>
            <a:fillRect/>
          </a:stretch>
        </p:blipFill>
        <p:spPr>
          <a:xfrm>
            <a:off x="996229" y="3404979"/>
            <a:ext cx="2185210" cy="1243801"/>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Transition Long 2">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446"/>
            <a:ext cx="16257588" cy="9143106"/>
          </a:xfrm>
          <a:prstGeom prst="rect">
            <a:avLst/>
          </a:prstGeom>
        </p:spPr>
      </p:pic>
      <p:sp>
        <p:nvSpPr>
          <p:cNvPr id="24" name="Rectangle 23"/>
          <p:cNvSpPr/>
          <p:nvPr userDrawn="1"/>
        </p:nvSpPr>
        <p:spPr>
          <a:xfrm>
            <a:off x="0" y="0"/>
            <a:ext cx="14879783" cy="9144000"/>
          </a:xfrm>
          <a:prstGeom prst="rect">
            <a:avLst/>
          </a:prstGeom>
          <a:gradFill flip="none" rotWithShape="1">
            <a:gsLst>
              <a:gs pos="0">
                <a:schemeClr val="bg2">
                  <a:lumMod val="10000"/>
                  <a:alpha val="63000"/>
                </a:schemeClr>
              </a:gs>
              <a:gs pos="83000">
                <a:schemeClr val="bg2">
                  <a:lumMod val="25000"/>
                  <a:alpha val="0"/>
                </a:schemeClr>
              </a:gs>
            </a:gsLst>
            <a:lin ang="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tIns="91440" bIns="91440" rtlCol="0" anchor="ctr"/>
          <a:lstStyle/>
          <a:p>
            <a:pPr algn="ctr"/>
            <a:endParaRPr lang="en-US" sz="1800" dirty="0">
              <a:solidFill>
                <a:schemeClr val="tx1"/>
              </a:solidFill>
              <a:latin typeface="Franklin Gothic Demi" charset="0"/>
              <a:ea typeface="Franklin Gothic Demi" charset="0"/>
              <a:cs typeface="Franklin Gothic Demi" charset="0"/>
            </a:endParaRPr>
          </a:p>
        </p:txBody>
      </p:sp>
      <p:sp>
        <p:nvSpPr>
          <p:cNvPr id="21" name="TextBox 20"/>
          <p:cNvSpPr txBox="1"/>
          <p:nvPr userDrawn="1"/>
        </p:nvSpPr>
        <p:spPr>
          <a:xfrm>
            <a:off x="-296333" y="6451600"/>
            <a:ext cx="57708" cy="281616"/>
          </a:xfrm>
          <a:prstGeom prst="rect">
            <a:avLst/>
          </a:prstGeom>
          <a:noFill/>
        </p:spPr>
        <p:txBody>
          <a:bodyPr wrap="none" lIns="0" tIns="0" rIns="0" bIns="0" rtlCol="0">
            <a:spAutoFit/>
          </a:bodyPr>
          <a:lstStyle/>
          <a:p>
            <a:pPr>
              <a:lnSpc>
                <a:spcPct val="110000"/>
              </a:lnSpc>
              <a:spcBef>
                <a:spcPts val="600"/>
              </a:spcBef>
            </a:pPr>
            <a:r>
              <a:rPr lang="en-US" sz="1800">
                <a:latin typeface="Franklin Gothic Book" charset="0"/>
                <a:ea typeface="Franklin Gothic Book" charset="0"/>
                <a:cs typeface="Franklin Gothic Book" charset="0"/>
              </a:rPr>
              <a:t> </a:t>
            </a:r>
            <a:endParaRPr lang="en-US" sz="1800" dirty="0">
              <a:latin typeface="Franklin Gothic Book" charset="0"/>
              <a:ea typeface="Franklin Gothic Book" charset="0"/>
              <a:cs typeface="Franklin Gothic Book" charset="0"/>
            </a:endParaRPr>
          </a:p>
        </p:txBody>
      </p:sp>
      <p:sp>
        <p:nvSpPr>
          <p:cNvPr id="13" name="TextBox 12"/>
          <p:cNvSpPr txBox="1"/>
          <p:nvPr userDrawn="1"/>
        </p:nvSpPr>
        <p:spPr>
          <a:xfrm>
            <a:off x="-133957" y="5853325"/>
            <a:ext cx="57708" cy="281616"/>
          </a:xfrm>
          <a:prstGeom prst="rect">
            <a:avLst/>
          </a:prstGeom>
          <a:noFill/>
        </p:spPr>
        <p:txBody>
          <a:bodyPr wrap="none" lIns="0" tIns="0" rIns="0" bIns="0" rtlCol="0">
            <a:spAutoFit/>
          </a:bodyPr>
          <a:lstStyle/>
          <a:p>
            <a:pPr>
              <a:lnSpc>
                <a:spcPct val="110000"/>
              </a:lnSpc>
              <a:spcBef>
                <a:spcPts val="600"/>
              </a:spcBef>
            </a:pPr>
            <a:r>
              <a:rPr lang="en-US" sz="1800" dirty="0">
                <a:latin typeface="Franklin Gothic Book" charset="0"/>
                <a:ea typeface="Franklin Gothic Book" charset="0"/>
                <a:cs typeface="Franklin Gothic Book" charset="0"/>
              </a:rPr>
              <a:t> </a:t>
            </a:r>
          </a:p>
        </p:txBody>
      </p:sp>
      <p:sp>
        <p:nvSpPr>
          <p:cNvPr id="23" name="TextBox 22"/>
          <p:cNvSpPr txBox="1"/>
          <p:nvPr userDrawn="1"/>
        </p:nvSpPr>
        <p:spPr>
          <a:xfrm>
            <a:off x="-133957" y="6112405"/>
            <a:ext cx="57708" cy="281616"/>
          </a:xfrm>
          <a:prstGeom prst="rect">
            <a:avLst/>
          </a:prstGeom>
          <a:noFill/>
        </p:spPr>
        <p:txBody>
          <a:bodyPr wrap="none" lIns="0" tIns="0" rIns="0" bIns="0" rtlCol="0">
            <a:spAutoFit/>
          </a:bodyPr>
          <a:lstStyle/>
          <a:p>
            <a:pPr>
              <a:lnSpc>
                <a:spcPct val="110000"/>
              </a:lnSpc>
              <a:spcBef>
                <a:spcPts val="600"/>
              </a:spcBef>
            </a:pPr>
            <a:r>
              <a:rPr lang="en-US" sz="1800" dirty="0">
                <a:latin typeface="Franklin Gothic Book" charset="0"/>
                <a:ea typeface="Franklin Gothic Book" charset="0"/>
                <a:cs typeface="Franklin Gothic Book" charset="0"/>
              </a:rPr>
              <a:t> </a:t>
            </a:r>
          </a:p>
        </p:txBody>
      </p:sp>
      <p:grpSp>
        <p:nvGrpSpPr>
          <p:cNvPr id="25" name="Group 24"/>
          <p:cNvGrpSpPr/>
          <p:nvPr userDrawn="1"/>
        </p:nvGrpSpPr>
        <p:grpSpPr>
          <a:xfrm>
            <a:off x="952766" y="3391155"/>
            <a:ext cx="14656054" cy="2480490"/>
            <a:chOff x="952766" y="3431076"/>
            <a:chExt cx="14656054" cy="2480490"/>
          </a:xfrm>
        </p:grpSpPr>
        <p:cxnSp>
          <p:nvCxnSpPr>
            <p:cNvPr id="27" name="Straight Connector 26"/>
            <p:cNvCxnSpPr/>
            <p:nvPr userDrawn="1"/>
          </p:nvCxnSpPr>
          <p:spPr>
            <a:xfrm>
              <a:off x="3478143" y="3431076"/>
              <a:ext cx="0" cy="1635125"/>
            </a:xfrm>
            <a:prstGeom prst="line">
              <a:avLst/>
            </a:prstGeom>
            <a:ln w="254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userDrawn="1"/>
          </p:nvCxnSpPr>
          <p:spPr>
            <a:xfrm>
              <a:off x="956930" y="5055569"/>
              <a:ext cx="14448722" cy="0"/>
            </a:xfrm>
            <a:prstGeom prst="line">
              <a:avLst/>
            </a:prstGeom>
            <a:ln w="25400">
              <a:solidFill>
                <a:schemeClr val="bg1"/>
              </a:solidFill>
            </a:ln>
            <a:effectLst/>
          </p:spPr>
          <p:style>
            <a:lnRef idx="1">
              <a:schemeClr val="accent1"/>
            </a:lnRef>
            <a:fillRef idx="0">
              <a:schemeClr val="accent1"/>
            </a:fillRef>
            <a:effectRef idx="0">
              <a:schemeClr val="accent1"/>
            </a:effectRef>
            <a:fontRef idx="minor">
              <a:schemeClr val="tx1"/>
            </a:fontRef>
          </p:style>
        </p:cxnSp>
        <p:pic>
          <p:nvPicPr>
            <p:cNvPr id="30" name="Picture 29"/>
            <p:cNvPicPr>
              <a:picLocks noChangeAspect="1"/>
            </p:cNvPicPr>
            <p:nvPr userDrawn="1"/>
          </p:nvPicPr>
          <p:blipFill rotWithShape="1">
            <a:blip r:embed="rId3" cstate="screen">
              <a:extLst>
                <a:ext uri="{28A0092B-C50C-407E-A947-70E740481C1C}">
                  <a14:useLocalDpi xmlns:a14="http://schemas.microsoft.com/office/drawing/2010/main"/>
                </a:ext>
              </a:extLst>
            </a:blip>
            <a:srcRect l="6887"/>
            <a:stretch/>
          </p:blipFill>
          <p:spPr>
            <a:xfrm>
              <a:off x="952766" y="5411535"/>
              <a:ext cx="14656054" cy="500031"/>
            </a:xfrm>
            <a:prstGeom prst="rect">
              <a:avLst/>
            </a:prstGeom>
          </p:spPr>
        </p:pic>
      </p:grpSp>
      <p:sp>
        <p:nvSpPr>
          <p:cNvPr id="15" name="Title 1"/>
          <p:cNvSpPr>
            <a:spLocks noGrp="1"/>
          </p:cNvSpPr>
          <p:nvPr>
            <p:ph type="title" hasCustomPrompt="1"/>
          </p:nvPr>
        </p:nvSpPr>
        <p:spPr>
          <a:xfrm>
            <a:off x="3955660" y="3450468"/>
            <a:ext cx="11449992" cy="1550763"/>
          </a:xfrm>
          <a:prstGeom prst="rect">
            <a:avLst/>
          </a:prstGeom>
        </p:spPr>
        <p:txBody>
          <a:bodyPr anchor="ctr"/>
          <a:lstStyle>
            <a:lvl1pPr>
              <a:lnSpc>
                <a:spcPct val="80000"/>
              </a:lnSpc>
              <a:defRPr sz="6000" cap="all" baseline="0">
                <a:solidFill>
                  <a:schemeClr val="bg1"/>
                </a:solidFill>
                <a:latin typeface="Franklin Gothic Heavy" panose="020B0903020102020204" pitchFamily="34" charset="0"/>
              </a:defRPr>
            </a:lvl1pPr>
          </a:lstStyle>
          <a:p>
            <a:r>
              <a:rPr lang="en-US" dirty="0"/>
              <a:t>Click to edit title for very long titles</a:t>
            </a:r>
          </a:p>
        </p:txBody>
      </p:sp>
      <p:pic>
        <p:nvPicPr>
          <p:cNvPr id="16" name="Picture 15"/>
          <p:cNvPicPr>
            <a:picLocks noChangeAspect="1"/>
          </p:cNvPicPr>
          <p:nvPr userDrawn="1"/>
        </p:nvPicPr>
        <p:blipFill>
          <a:blip r:embed="rId4" cstate="email">
            <a:extLst>
              <a:ext uri="{28A0092B-C50C-407E-A947-70E740481C1C}">
                <a14:useLocalDpi xmlns:a14="http://schemas.microsoft.com/office/drawing/2010/main" val="0"/>
              </a:ext>
            </a:extLst>
          </a:blip>
          <a:stretch>
            <a:fillRect/>
          </a:stretch>
        </p:blipFill>
        <p:spPr>
          <a:xfrm>
            <a:off x="996229" y="3404979"/>
            <a:ext cx="2185210" cy="1243801"/>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le/Transition Long 3">
    <p:spTree>
      <p:nvGrpSpPr>
        <p:cNvPr id="1" name=""/>
        <p:cNvGrpSpPr/>
        <p:nvPr/>
      </p:nvGrpSpPr>
      <p:grpSpPr>
        <a:xfrm>
          <a:off x="0" y="0"/>
          <a:ext cx="0" cy="0"/>
          <a:chOff x="0" y="0"/>
          <a:chExt cx="0" cy="0"/>
        </a:xfrm>
      </p:grpSpPr>
      <p:pic>
        <p:nvPicPr>
          <p:cNvPr id="12" name="Picture 11"/>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794" y="0"/>
            <a:ext cx="16256000" cy="9144000"/>
          </a:xfrm>
          <a:prstGeom prst="rect">
            <a:avLst/>
          </a:prstGeom>
        </p:spPr>
      </p:pic>
      <p:grpSp>
        <p:nvGrpSpPr>
          <p:cNvPr id="4" name="Group 3"/>
          <p:cNvGrpSpPr/>
          <p:nvPr userDrawn="1"/>
        </p:nvGrpSpPr>
        <p:grpSpPr>
          <a:xfrm>
            <a:off x="952766" y="3398844"/>
            <a:ext cx="14656054" cy="2480490"/>
            <a:chOff x="952766" y="3431076"/>
            <a:chExt cx="14656054" cy="2480490"/>
          </a:xfrm>
        </p:grpSpPr>
        <p:cxnSp>
          <p:nvCxnSpPr>
            <p:cNvPr id="6" name="Straight Connector 5"/>
            <p:cNvCxnSpPr/>
            <p:nvPr userDrawn="1"/>
          </p:nvCxnSpPr>
          <p:spPr>
            <a:xfrm>
              <a:off x="3478143" y="3431076"/>
              <a:ext cx="0" cy="1635125"/>
            </a:xfrm>
            <a:prstGeom prst="line">
              <a:avLst/>
            </a:prstGeom>
            <a:ln w="254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userDrawn="1"/>
          </p:nvCxnSpPr>
          <p:spPr>
            <a:xfrm>
              <a:off x="956930" y="5055569"/>
              <a:ext cx="14448722" cy="0"/>
            </a:xfrm>
            <a:prstGeom prst="line">
              <a:avLst/>
            </a:prstGeom>
            <a:ln w="25400">
              <a:solidFill>
                <a:schemeClr val="bg1"/>
              </a:solidFill>
            </a:ln>
            <a:effectLst/>
          </p:spPr>
          <p:style>
            <a:lnRef idx="1">
              <a:schemeClr val="accent1"/>
            </a:lnRef>
            <a:fillRef idx="0">
              <a:schemeClr val="accent1"/>
            </a:fillRef>
            <a:effectRef idx="0">
              <a:schemeClr val="accent1"/>
            </a:effectRef>
            <a:fontRef idx="minor">
              <a:schemeClr val="tx1"/>
            </a:fontRef>
          </p:style>
        </p:cxnSp>
        <p:pic>
          <p:nvPicPr>
            <p:cNvPr id="9" name="Picture 8"/>
            <p:cNvPicPr>
              <a:picLocks noChangeAspect="1"/>
            </p:cNvPicPr>
            <p:nvPr userDrawn="1"/>
          </p:nvPicPr>
          <p:blipFill rotWithShape="1">
            <a:blip r:embed="rId3" cstate="screen">
              <a:extLst>
                <a:ext uri="{28A0092B-C50C-407E-A947-70E740481C1C}">
                  <a14:useLocalDpi xmlns:a14="http://schemas.microsoft.com/office/drawing/2010/main"/>
                </a:ext>
              </a:extLst>
            </a:blip>
            <a:srcRect l="6887"/>
            <a:stretch/>
          </p:blipFill>
          <p:spPr>
            <a:xfrm>
              <a:off x="952766" y="5411535"/>
              <a:ext cx="14656054" cy="500031"/>
            </a:xfrm>
            <a:prstGeom prst="rect">
              <a:avLst/>
            </a:prstGeom>
          </p:spPr>
        </p:pic>
      </p:grpSp>
      <p:sp>
        <p:nvSpPr>
          <p:cNvPr id="11" name="Title 1"/>
          <p:cNvSpPr>
            <a:spLocks noGrp="1"/>
          </p:cNvSpPr>
          <p:nvPr>
            <p:ph type="title" hasCustomPrompt="1"/>
          </p:nvPr>
        </p:nvSpPr>
        <p:spPr>
          <a:xfrm>
            <a:off x="3955660" y="3450468"/>
            <a:ext cx="11449992" cy="1550763"/>
          </a:xfrm>
          <a:prstGeom prst="rect">
            <a:avLst/>
          </a:prstGeom>
        </p:spPr>
        <p:txBody>
          <a:bodyPr anchor="ctr"/>
          <a:lstStyle>
            <a:lvl1pPr>
              <a:lnSpc>
                <a:spcPct val="80000"/>
              </a:lnSpc>
              <a:defRPr sz="6000" cap="all" baseline="0">
                <a:solidFill>
                  <a:schemeClr val="bg1"/>
                </a:solidFill>
                <a:latin typeface="Franklin Gothic Heavy" panose="020B0903020102020204" pitchFamily="34" charset="0"/>
              </a:defRPr>
            </a:lvl1pPr>
          </a:lstStyle>
          <a:p>
            <a:r>
              <a:rPr lang="en-US" dirty="0"/>
              <a:t>Click to edit title for very long titles</a:t>
            </a:r>
          </a:p>
        </p:txBody>
      </p:sp>
      <p:pic>
        <p:nvPicPr>
          <p:cNvPr id="13" name="Picture 12"/>
          <p:cNvPicPr>
            <a:picLocks noChangeAspect="1"/>
          </p:cNvPicPr>
          <p:nvPr userDrawn="1"/>
        </p:nvPicPr>
        <p:blipFill>
          <a:blip r:embed="rId4" cstate="email">
            <a:extLst>
              <a:ext uri="{28A0092B-C50C-407E-A947-70E740481C1C}">
                <a14:useLocalDpi xmlns:a14="http://schemas.microsoft.com/office/drawing/2010/main" val="0"/>
              </a:ext>
            </a:extLst>
          </a:blip>
          <a:stretch>
            <a:fillRect/>
          </a:stretch>
        </p:blipFill>
        <p:spPr>
          <a:xfrm>
            <a:off x="996229" y="3404979"/>
            <a:ext cx="2185210" cy="1243801"/>
          </a:xfrm>
          <a:prstGeom prst="rect">
            <a:avLst/>
          </a:prstGeom>
        </p:spPr>
      </p:pic>
    </p:spTree>
    <p:extLst>
      <p:ext uri="{BB962C8B-B14F-4D97-AF65-F5344CB8AC3E}">
        <p14:creationId xmlns:p14="http://schemas.microsoft.com/office/powerpoint/2010/main" val="30862762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ransition Slide 2">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794" y="-1"/>
            <a:ext cx="16256794" cy="9144447"/>
          </a:xfrm>
          <a:prstGeom prst="rect">
            <a:avLst/>
          </a:prstGeom>
        </p:spPr>
      </p:pic>
      <p:grpSp>
        <p:nvGrpSpPr>
          <p:cNvPr id="22" name="Group 21"/>
          <p:cNvGrpSpPr/>
          <p:nvPr userDrawn="1"/>
        </p:nvGrpSpPr>
        <p:grpSpPr>
          <a:xfrm>
            <a:off x="952766" y="3413241"/>
            <a:ext cx="14656054" cy="2480490"/>
            <a:chOff x="952766" y="3255226"/>
            <a:chExt cx="14656054" cy="2480490"/>
          </a:xfrm>
        </p:grpSpPr>
        <p:cxnSp>
          <p:nvCxnSpPr>
            <p:cNvPr id="24" name="Straight Connector 23"/>
            <p:cNvCxnSpPr/>
            <p:nvPr userDrawn="1"/>
          </p:nvCxnSpPr>
          <p:spPr>
            <a:xfrm>
              <a:off x="3478143" y="3255226"/>
              <a:ext cx="0" cy="1635125"/>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userDrawn="1"/>
          </p:nvCxnSpPr>
          <p:spPr>
            <a:xfrm>
              <a:off x="956930" y="4879719"/>
              <a:ext cx="14448722" cy="0"/>
            </a:xfrm>
            <a:prstGeom prst="line">
              <a:avLst/>
            </a:prstGeom>
            <a:ln w="25400">
              <a:solidFill>
                <a:schemeClr val="tx1"/>
              </a:solidFill>
            </a:ln>
            <a:effectLst/>
          </p:spPr>
          <p:style>
            <a:lnRef idx="1">
              <a:schemeClr val="accent1"/>
            </a:lnRef>
            <a:fillRef idx="0">
              <a:schemeClr val="accent1"/>
            </a:fillRef>
            <a:effectRef idx="0">
              <a:schemeClr val="accent1"/>
            </a:effectRef>
            <a:fontRef idx="minor">
              <a:schemeClr val="tx1"/>
            </a:fontRef>
          </p:style>
        </p:cxnSp>
        <p:pic>
          <p:nvPicPr>
            <p:cNvPr id="27" name="Picture 26"/>
            <p:cNvPicPr>
              <a:picLocks noChangeAspect="1"/>
            </p:cNvPicPr>
            <p:nvPr userDrawn="1"/>
          </p:nvPicPr>
          <p:blipFill rotWithShape="1">
            <a:blip r:embed="rId3" cstate="screen">
              <a:lum bright="-100000"/>
              <a:extLst>
                <a:ext uri="{28A0092B-C50C-407E-A947-70E740481C1C}">
                  <a14:useLocalDpi xmlns:a14="http://schemas.microsoft.com/office/drawing/2010/main"/>
                </a:ext>
              </a:extLst>
            </a:blip>
            <a:srcRect l="6887"/>
            <a:stretch/>
          </p:blipFill>
          <p:spPr>
            <a:xfrm>
              <a:off x="952766" y="5235685"/>
              <a:ext cx="14656054" cy="500031"/>
            </a:xfrm>
            <a:prstGeom prst="rect">
              <a:avLst/>
            </a:prstGeom>
          </p:spPr>
        </p:pic>
      </p:grpSp>
      <p:pic>
        <p:nvPicPr>
          <p:cNvPr id="11" name="Picture 10"/>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a:off x="999555" y="3407236"/>
            <a:ext cx="2174423" cy="1240186"/>
          </a:xfrm>
          <a:prstGeom prst="rect">
            <a:avLst/>
          </a:prstGeom>
        </p:spPr>
      </p:pic>
      <p:sp>
        <p:nvSpPr>
          <p:cNvPr id="9" name="Title 1"/>
          <p:cNvSpPr>
            <a:spLocks noGrp="1"/>
          </p:cNvSpPr>
          <p:nvPr>
            <p:ph type="title" hasCustomPrompt="1"/>
          </p:nvPr>
        </p:nvSpPr>
        <p:spPr>
          <a:xfrm>
            <a:off x="3955660" y="3450468"/>
            <a:ext cx="11449992" cy="1550763"/>
          </a:xfrm>
          <a:prstGeom prst="rect">
            <a:avLst/>
          </a:prstGeom>
        </p:spPr>
        <p:txBody>
          <a:bodyPr anchor="ctr"/>
          <a:lstStyle>
            <a:lvl1pPr>
              <a:lnSpc>
                <a:spcPct val="80000"/>
              </a:lnSpc>
              <a:defRPr sz="6000" cap="all" baseline="0">
                <a:solidFill>
                  <a:schemeClr val="tx1"/>
                </a:solidFill>
                <a:latin typeface="Franklin Gothic Heavy" panose="020B0903020102020204" pitchFamily="34" charset="0"/>
              </a:defRPr>
            </a:lvl1pPr>
          </a:lstStyle>
          <a:p>
            <a:r>
              <a:rPr lang="en-US" dirty="0"/>
              <a:t>Click to edit title for very long titles</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 Single Block (with Takeaway Box)">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6" name="Slide Number Placeholder 5"/>
          <p:cNvSpPr>
            <a:spLocks noGrp="1"/>
          </p:cNvSpPr>
          <p:nvPr>
            <p:ph type="sldNum" sz="quarter" idx="12"/>
          </p:nvPr>
        </p:nvSpPr>
        <p:spPr/>
        <p:txBody>
          <a:bodyPr/>
          <a:lstStyle/>
          <a:p>
            <a:fld id="{5F9B62A2-F893-D445-AA6E-547C886B98E8}" type="slidenum">
              <a:rPr lang="en-US" smtClean="0"/>
              <a:t>‹#›</a:t>
            </a:fld>
            <a:endParaRPr lang="en-US"/>
          </a:p>
        </p:txBody>
      </p:sp>
      <p:sp>
        <p:nvSpPr>
          <p:cNvPr id="8" name="Text Placeholder 7"/>
          <p:cNvSpPr>
            <a:spLocks noGrp="1"/>
          </p:cNvSpPr>
          <p:nvPr>
            <p:ph type="body" sz="quarter" idx="13"/>
          </p:nvPr>
        </p:nvSpPr>
        <p:spPr>
          <a:xfrm>
            <a:off x="467179" y="8158162"/>
            <a:ext cx="15328473" cy="523875"/>
          </a:xfrm>
          <a:solidFill>
            <a:schemeClr val="accent1"/>
          </a:solidFill>
        </p:spPr>
        <p:txBody>
          <a:bodyPr anchor="ctr">
            <a:noAutofit/>
          </a:bodyPr>
          <a:lstStyle>
            <a:lvl1pPr algn="ctr">
              <a:defRPr sz="2000" b="0" cap="all" baseline="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p:txBody>
      </p:sp>
      <p:sp>
        <p:nvSpPr>
          <p:cNvPr id="7" name="Content Placeholder 2">
            <a:extLst>
              <a:ext uri="{FF2B5EF4-FFF2-40B4-BE49-F238E27FC236}">
                <a16:creationId xmlns:a16="http://schemas.microsoft.com/office/drawing/2014/main" id="{1DAC4A4F-4A37-4669-86B0-FF767B069BEE}"/>
              </a:ext>
            </a:extLst>
          </p:cNvPr>
          <p:cNvSpPr>
            <a:spLocks noGrp="1"/>
          </p:cNvSpPr>
          <p:nvPr>
            <p:ph sz="half" idx="1" hasCustomPrompt="1"/>
          </p:nvPr>
        </p:nvSpPr>
        <p:spPr>
          <a:xfrm>
            <a:off x="700087" y="1981200"/>
            <a:ext cx="14988539" cy="54864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Footer Placeholder 4"/>
          <p:cNvSpPr>
            <a:spLocks noGrp="1"/>
          </p:cNvSpPr>
          <p:nvPr>
            <p:ph type="ftr" sz="quarter" idx="3"/>
          </p:nvPr>
        </p:nvSpPr>
        <p:spPr>
          <a:xfrm>
            <a:off x="467180" y="8804134"/>
            <a:ext cx="6443417" cy="177287"/>
          </a:xfrm>
          <a:prstGeom prst="rect">
            <a:avLst/>
          </a:prstGeom>
        </p:spPr>
        <p:txBody>
          <a:bodyPr vert="horz" lIns="0" tIns="0" rIns="0" bIns="0" rtlCol="0" anchor="ctr"/>
          <a:lstStyle>
            <a:lvl1pPr algn="l">
              <a:defRPr sz="900">
                <a:solidFill>
                  <a:srgbClr val="797979"/>
                </a:solidFill>
                <a:latin typeface="Franklin Gothic Book" charset="0"/>
                <a:ea typeface="Franklin Gothic Book" charset="0"/>
                <a:cs typeface="Franklin Gothic Book" charset="0"/>
              </a:defRPr>
            </a:lvl1pPr>
          </a:lstStyle>
          <a:p>
            <a:r>
              <a:rPr lang="en-US" dirty="0"/>
              <a:t>Confidential Information. Use and disclosure limited for Gates business purposes only. ©2018 Gates Inc. All rights reserved. </a:t>
            </a:r>
          </a:p>
        </p:txBody>
      </p:sp>
    </p:spTree>
    <p:extLst>
      <p:ext uri="{BB962C8B-B14F-4D97-AF65-F5344CB8AC3E}">
        <p14:creationId xmlns:p14="http://schemas.microsoft.com/office/powerpoint/2010/main" val="2139517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ntent Single Block (no Takeaway Box)">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Slide Number Placeholder 3"/>
          <p:cNvSpPr>
            <a:spLocks noGrp="1"/>
          </p:cNvSpPr>
          <p:nvPr>
            <p:ph type="sldNum" sz="quarter" idx="11"/>
          </p:nvPr>
        </p:nvSpPr>
        <p:spPr/>
        <p:txBody>
          <a:bodyPr/>
          <a:lstStyle/>
          <a:p>
            <a:fld id="{5F9B62A2-F893-D445-AA6E-547C886B98E8}" type="slidenum">
              <a:rPr lang="en-US" smtClean="0"/>
              <a:pPr/>
              <a:t>‹#›</a:t>
            </a:fld>
            <a:endParaRPr lang="en-US" dirty="0"/>
          </a:p>
        </p:txBody>
      </p:sp>
      <p:sp>
        <p:nvSpPr>
          <p:cNvPr id="5" name="Content Placeholder 2">
            <a:extLst>
              <a:ext uri="{FF2B5EF4-FFF2-40B4-BE49-F238E27FC236}">
                <a16:creationId xmlns:a16="http://schemas.microsoft.com/office/drawing/2014/main" id="{1DAC4A4F-4A37-4669-86B0-FF767B069BEE}"/>
              </a:ext>
            </a:extLst>
          </p:cNvPr>
          <p:cNvSpPr>
            <a:spLocks noGrp="1"/>
          </p:cNvSpPr>
          <p:nvPr>
            <p:ph sz="half" idx="1" hasCustomPrompt="1"/>
          </p:nvPr>
        </p:nvSpPr>
        <p:spPr>
          <a:xfrm>
            <a:off x="700087" y="1981200"/>
            <a:ext cx="14988539" cy="627070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4"/>
          <p:cNvSpPr>
            <a:spLocks noGrp="1"/>
          </p:cNvSpPr>
          <p:nvPr>
            <p:ph type="ftr" sz="quarter" idx="3"/>
          </p:nvPr>
        </p:nvSpPr>
        <p:spPr>
          <a:xfrm>
            <a:off x="467180" y="8804134"/>
            <a:ext cx="6443417" cy="177287"/>
          </a:xfrm>
          <a:prstGeom prst="rect">
            <a:avLst/>
          </a:prstGeom>
        </p:spPr>
        <p:txBody>
          <a:bodyPr vert="horz" lIns="0" tIns="0" rIns="0" bIns="0" rtlCol="0" anchor="ctr"/>
          <a:lstStyle>
            <a:lvl1pPr algn="l">
              <a:defRPr sz="900">
                <a:solidFill>
                  <a:srgbClr val="797979"/>
                </a:solidFill>
                <a:latin typeface="Franklin Gothic Book" charset="0"/>
                <a:ea typeface="Franklin Gothic Book" charset="0"/>
                <a:cs typeface="Franklin Gothic Book" charset="0"/>
              </a:defRPr>
            </a:lvl1pPr>
          </a:lstStyle>
          <a:p>
            <a:r>
              <a:rPr lang="en-US" dirty="0"/>
              <a:t>Confidential Information. Use and disclosure limited for Gates business purposes only. ©2018 Gates Inc. All rights reserved. </a:t>
            </a:r>
          </a:p>
        </p:txBody>
      </p:sp>
    </p:spTree>
    <p:extLst>
      <p:ext uri="{BB962C8B-B14F-4D97-AF65-F5344CB8AC3E}">
        <p14:creationId xmlns:p14="http://schemas.microsoft.com/office/powerpoint/2010/main" val="12853496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 Single Block Larg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6" name="Slide Number Placeholder 5"/>
          <p:cNvSpPr>
            <a:spLocks noGrp="1"/>
          </p:cNvSpPr>
          <p:nvPr>
            <p:ph type="sldNum" sz="quarter" idx="12"/>
          </p:nvPr>
        </p:nvSpPr>
        <p:spPr/>
        <p:txBody>
          <a:bodyPr/>
          <a:lstStyle/>
          <a:p>
            <a:fld id="{5F9B62A2-F893-D445-AA6E-547C886B98E8}" type="slidenum">
              <a:rPr lang="en-US" smtClean="0"/>
              <a:t>‹#›</a:t>
            </a:fld>
            <a:endParaRPr lang="en-US"/>
          </a:p>
        </p:txBody>
      </p:sp>
      <p:sp>
        <p:nvSpPr>
          <p:cNvPr id="7" name="Content Placeholder 2">
            <a:extLst>
              <a:ext uri="{FF2B5EF4-FFF2-40B4-BE49-F238E27FC236}">
                <a16:creationId xmlns:a16="http://schemas.microsoft.com/office/drawing/2014/main" id="{1DAC4A4F-4A37-4669-86B0-FF767B069BEE}"/>
              </a:ext>
            </a:extLst>
          </p:cNvPr>
          <p:cNvSpPr>
            <a:spLocks noGrp="1"/>
          </p:cNvSpPr>
          <p:nvPr>
            <p:ph sz="half" idx="1" hasCustomPrompt="1"/>
          </p:nvPr>
        </p:nvSpPr>
        <p:spPr>
          <a:xfrm>
            <a:off x="700087" y="1981200"/>
            <a:ext cx="14988539" cy="5486400"/>
          </a:xfrm>
        </p:spPr>
        <p:txBody>
          <a:bodyPr/>
          <a:lstStyle>
            <a:lvl1pPr marL="287338" indent="-287338">
              <a:tabLst/>
              <a:defRPr sz="3000"/>
            </a:lvl1pPr>
            <a:lvl2pPr marL="576263" indent="-274638">
              <a:tabLst/>
              <a:defRPr sz="2400"/>
            </a:lvl2pPr>
            <a:lvl3pPr marL="865188" indent="-288925">
              <a:tabLst/>
              <a:defRPr sz="2400"/>
            </a:lvl3pPr>
            <a:lvl4pPr marL="1095375" indent="-273050">
              <a:tabLst/>
              <a:defRPr sz="1800"/>
            </a:lvl4pPr>
            <a:lvl5pPr marL="1384300" indent="-288925">
              <a:tabLst/>
              <a:defRPr sz="1800"/>
            </a:lvl5pPr>
            <a:lvl6pPr marL="914400">
              <a:defRPr sz="1800"/>
            </a:lvl6pPr>
            <a:lvl7pPr marL="1188720" indent="-228600">
              <a:defRPr sz="1400"/>
            </a:lvl7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Text Placeholder 7"/>
          <p:cNvSpPr>
            <a:spLocks noGrp="1"/>
          </p:cNvSpPr>
          <p:nvPr>
            <p:ph type="body" sz="quarter" idx="13"/>
          </p:nvPr>
        </p:nvSpPr>
        <p:spPr>
          <a:xfrm>
            <a:off x="467179" y="8158162"/>
            <a:ext cx="15328473" cy="523875"/>
          </a:xfrm>
          <a:solidFill>
            <a:schemeClr val="accent1"/>
          </a:solidFill>
        </p:spPr>
        <p:txBody>
          <a:bodyPr anchor="ctr">
            <a:noAutofit/>
          </a:bodyPr>
          <a:lstStyle>
            <a:lvl1pPr algn="ctr">
              <a:defRPr sz="2000" b="0" cap="all" baseline="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p:txBody>
      </p:sp>
      <p:sp>
        <p:nvSpPr>
          <p:cNvPr id="10" name="Footer Placeholder 4"/>
          <p:cNvSpPr>
            <a:spLocks noGrp="1"/>
          </p:cNvSpPr>
          <p:nvPr>
            <p:ph type="ftr" sz="quarter" idx="3"/>
          </p:nvPr>
        </p:nvSpPr>
        <p:spPr>
          <a:xfrm>
            <a:off x="467180" y="8804134"/>
            <a:ext cx="6443417" cy="177287"/>
          </a:xfrm>
          <a:prstGeom prst="rect">
            <a:avLst/>
          </a:prstGeom>
        </p:spPr>
        <p:txBody>
          <a:bodyPr vert="horz" lIns="0" tIns="0" rIns="0" bIns="0" rtlCol="0" anchor="ctr"/>
          <a:lstStyle>
            <a:lvl1pPr algn="l">
              <a:defRPr sz="900">
                <a:solidFill>
                  <a:srgbClr val="797979"/>
                </a:solidFill>
                <a:latin typeface="Franklin Gothic Book" charset="0"/>
                <a:ea typeface="Franklin Gothic Book" charset="0"/>
                <a:cs typeface="Franklin Gothic Book" charset="0"/>
              </a:defRPr>
            </a:lvl1pPr>
          </a:lstStyle>
          <a:p>
            <a:r>
              <a:rPr lang="en-US" dirty="0"/>
              <a:t>Confidential Information. Use and disclosure limited for Gates business purposes only. ©2018 Gates Inc. All rights reserved. </a:t>
            </a: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clusion Slid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6" name="Slide Number Placeholder 5"/>
          <p:cNvSpPr>
            <a:spLocks noGrp="1"/>
          </p:cNvSpPr>
          <p:nvPr>
            <p:ph type="sldNum" sz="quarter" idx="12"/>
          </p:nvPr>
        </p:nvSpPr>
        <p:spPr/>
        <p:txBody>
          <a:bodyPr/>
          <a:lstStyle/>
          <a:p>
            <a:fld id="{5F9B62A2-F893-D445-AA6E-547C886B98E8}" type="slidenum">
              <a:rPr lang="en-US" smtClean="0"/>
              <a:t>‹#›</a:t>
            </a:fld>
            <a:endParaRPr lang="en-US"/>
          </a:p>
        </p:txBody>
      </p:sp>
      <p:sp>
        <p:nvSpPr>
          <p:cNvPr id="7" name="Content Placeholder 2">
            <a:extLst>
              <a:ext uri="{FF2B5EF4-FFF2-40B4-BE49-F238E27FC236}">
                <a16:creationId xmlns:a16="http://schemas.microsoft.com/office/drawing/2014/main" id="{1DAC4A4F-4A37-4669-86B0-FF767B069BEE}"/>
              </a:ext>
            </a:extLst>
          </p:cNvPr>
          <p:cNvSpPr>
            <a:spLocks noGrp="1"/>
          </p:cNvSpPr>
          <p:nvPr>
            <p:ph sz="half" idx="1" hasCustomPrompt="1"/>
          </p:nvPr>
        </p:nvSpPr>
        <p:spPr>
          <a:xfrm>
            <a:off x="700087" y="1981200"/>
            <a:ext cx="14988539" cy="5486400"/>
          </a:xfrm>
        </p:spPr>
        <p:txBody>
          <a:bodyPr/>
          <a:lstStyle>
            <a:lvl1pPr marL="0" marR="0" indent="0" algn="l" defTabSz="1219170" rtl="0" eaLnBrk="1" fontAlgn="auto" latinLnBrk="0" hangingPunct="1">
              <a:lnSpc>
                <a:spcPct val="90000"/>
              </a:lnSpc>
              <a:spcBef>
                <a:spcPts val="1333"/>
              </a:spcBef>
              <a:spcAft>
                <a:spcPts val="0"/>
              </a:spcAft>
              <a:buClr>
                <a:srgbClr val="C02026"/>
              </a:buClr>
              <a:buSzTx/>
              <a:buFont typeface="Wingdings" pitchFamily="2" charset="2"/>
              <a:buNone/>
              <a:tabLst/>
              <a:defRPr sz="2400">
                <a:latin typeface="+mj-lt"/>
              </a:defRPr>
            </a:lvl1pPr>
            <a:lvl2pPr marL="576263" marR="0" indent="-303213" algn="l" defTabSz="1219170" rtl="0" eaLnBrk="1" fontAlgn="auto" latinLnBrk="0" hangingPunct="1">
              <a:lnSpc>
                <a:spcPct val="110000"/>
              </a:lnSpc>
              <a:spcBef>
                <a:spcPts val="1200"/>
              </a:spcBef>
              <a:spcAft>
                <a:spcPts val="0"/>
              </a:spcAft>
              <a:buClr>
                <a:srgbClr val="C02026"/>
              </a:buClr>
              <a:buSzTx/>
              <a:buFont typeface="Wingdings" pitchFamily="2" charset="2"/>
              <a:buChar char="§"/>
              <a:tabLst/>
              <a:defRPr sz="2000">
                <a:latin typeface="+mn-lt"/>
              </a:defRPr>
            </a:lvl2pPr>
            <a:lvl3pPr marL="865188" marR="0" indent="-317500" algn="l" defTabSz="1219170" rtl="0" eaLnBrk="1" fontAlgn="auto" latinLnBrk="0" hangingPunct="1">
              <a:lnSpc>
                <a:spcPct val="110000"/>
              </a:lnSpc>
              <a:spcBef>
                <a:spcPts val="1200"/>
              </a:spcBef>
              <a:spcAft>
                <a:spcPts val="0"/>
              </a:spcAft>
              <a:buClr>
                <a:srgbClr val="686868"/>
              </a:buClr>
              <a:buSzTx/>
              <a:buFont typeface="Arial" panose="020B0604020202020204" pitchFamily="34" charset="0"/>
              <a:buChar char="•"/>
              <a:tabLst/>
              <a:defRPr sz="2000">
                <a:latin typeface="Franklin Gothic Book" charset="0"/>
                <a:ea typeface="Franklin Gothic Book" charset="0"/>
                <a:cs typeface="Franklin Gothic Book" charset="0"/>
              </a:defRPr>
            </a:lvl3pPr>
            <a:lvl4pPr marL="1154113" marR="0" indent="-317500" algn="l" defTabSz="1219170" rtl="0" eaLnBrk="1" fontAlgn="auto" latinLnBrk="0" hangingPunct="1">
              <a:lnSpc>
                <a:spcPct val="110000"/>
              </a:lnSpc>
              <a:spcBef>
                <a:spcPts val="800"/>
              </a:spcBef>
              <a:spcAft>
                <a:spcPts val="0"/>
              </a:spcAft>
              <a:buClr>
                <a:srgbClr val="686868"/>
              </a:buClr>
              <a:buSzTx/>
              <a:buFont typeface="Arial" panose="020B0604020202020204" pitchFamily="34" charset="0"/>
              <a:buChar char="•"/>
              <a:tabLst/>
              <a:defRPr sz="1800"/>
            </a:lvl4pPr>
            <a:lvl5pPr marL="1443038" marR="0" indent="-317500" algn="l" defTabSz="1219170" rtl="0" eaLnBrk="1" fontAlgn="auto" latinLnBrk="0" hangingPunct="1">
              <a:lnSpc>
                <a:spcPct val="110000"/>
              </a:lnSpc>
              <a:spcBef>
                <a:spcPts val="600"/>
              </a:spcBef>
              <a:spcAft>
                <a:spcPts val="0"/>
              </a:spcAft>
              <a:buClr>
                <a:srgbClr val="686868"/>
              </a:buClr>
              <a:buSzTx/>
              <a:buFont typeface="Arial" panose="020B0604020202020204" pitchFamily="34" charset="0"/>
              <a:buChar char="•"/>
              <a:tabLst/>
              <a:defRPr sz="1800"/>
            </a:lvl5pPr>
            <a:lvl6pPr marL="1552575" indent="0">
              <a:tabLst/>
              <a:defRPr sz="1800"/>
            </a:lvl6pPr>
            <a:lvl7pPr marL="1717675" indent="-165100">
              <a:tabLst/>
              <a:defRPr sz="1400"/>
            </a:lvl7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a:p>
            <a:pPr marL="287338" marR="0" lvl="0" indent="-287338" algn="l" defTabSz="1219170" rtl="0" eaLnBrk="1" fontAlgn="auto" latinLnBrk="0" hangingPunct="1">
              <a:lnSpc>
                <a:spcPct val="90000"/>
              </a:lnSpc>
              <a:spcBef>
                <a:spcPts val="1333"/>
              </a:spcBef>
              <a:spcAft>
                <a:spcPts val="0"/>
              </a:spcAft>
              <a:buClr>
                <a:srgbClr val="C02026"/>
              </a:buClr>
              <a:buSzTx/>
              <a:buFont typeface="Wingdings" pitchFamily="2" charset="2"/>
              <a:buChar char="§"/>
              <a:tabLst/>
              <a:defRPr/>
            </a:pPr>
            <a:endParaRPr kumimoji="0" lang="en-US" sz="1400" b="0" i="0" u="none" strike="noStrike" kern="1200" cap="none" spc="0" normalizeH="0" baseline="0" noProof="0" dirty="0">
              <a:ln>
                <a:noFill/>
              </a:ln>
              <a:solidFill>
                <a:srgbClr val="000000"/>
              </a:solidFill>
              <a:effectLst/>
              <a:uLnTx/>
              <a:uFillTx/>
              <a:latin typeface="Franklin Gothic Book" charset="0"/>
            </a:endParaRPr>
          </a:p>
        </p:txBody>
      </p:sp>
      <p:sp>
        <p:nvSpPr>
          <p:cNvPr id="9" name="Text Placeholder 7"/>
          <p:cNvSpPr>
            <a:spLocks noGrp="1"/>
          </p:cNvSpPr>
          <p:nvPr>
            <p:ph type="body" sz="quarter" idx="13"/>
          </p:nvPr>
        </p:nvSpPr>
        <p:spPr>
          <a:xfrm>
            <a:off x="467179" y="8158162"/>
            <a:ext cx="15328473" cy="523875"/>
          </a:xfrm>
          <a:solidFill>
            <a:schemeClr val="accent1"/>
          </a:solidFill>
        </p:spPr>
        <p:txBody>
          <a:bodyPr anchor="ctr">
            <a:noAutofit/>
          </a:bodyPr>
          <a:lstStyle>
            <a:lvl1pPr algn="ctr">
              <a:defRPr sz="2000" b="0" cap="all" baseline="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p:txBody>
      </p:sp>
      <p:sp>
        <p:nvSpPr>
          <p:cNvPr id="10" name="Footer Placeholder 4"/>
          <p:cNvSpPr>
            <a:spLocks noGrp="1"/>
          </p:cNvSpPr>
          <p:nvPr>
            <p:ph type="ftr" sz="quarter" idx="3"/>
          </p:nvPr>
        </p:nvSpPr>
        <p:spPr>
          <a:xfrm>
            <a:off x="467180" y="8804134"/>
            <a:ext cx="6443417" cy="177287"/>
          </a:xfrm>
          <a:prstGeom prst="rect">
            <a:avLst/>
          </a:prstGeom>
        </p:spPr>
        <p:txBody>
          <a:bodyPr vert="horz" lIns="0" tIns="0" rIns="0" bIns="0" rtlCol="0" anchor="ctr"/>
          <a:lstStyle>
            <a:lvl1pPr algn="l">
              <a:defRPr sz="900">
                <a:solidFill>
                  <a:srgbClr val="797979"/>
                </a:solidFill>
                <a:latin typeface="Franklin Gothic Book" charset="0"/>
                <a:ea typeface="Franklin Gothic Book" charset="0"/>
                <a:cs typeface="Franklin Gothic Book" charset="0"/>
              </a:defRPr>
            </a:lvl1pPr>
          </a:lstStyle>
          <a:p>
            <a:r>
              <a:rPr lang="en-US" dirty="0"/>
              <a:t>Confidential Information. Use and disclosure limited for Gates business purposes only. ©2018 Gates Inc. All rights reserved. </a:t>
            </a: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ent Two Column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hasCustomPrompt="1"/>
          </p:nvPr>
        </p:nvSpPr>
        <p:spPr>
          <a:xfrm>
            <a:off x="509588" y="1981200"/>
            <a:ext cx="7132320" cy="5486400"/>
          </a:xfrm>
        </p:spPr>
        <p:txBody>
          <a:bodyPr/>
          <a:lstStyle>
            <a:lvl2pPr>
              <a:defRPr>
                <a:latin typeface="+mn-lt"/>
              </a:defRPr>
            </a:lvl2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hasCustomPrompt="1"/>
          </p:nvPr>
        </p:nvSpPr>
        <p:spPr>
          <a:xfrm>
            <a:off x="8575503" y="1981200"/>
            <a:ext cx="7132320" cy="5486400"/>
          </a:xfrm>
        </p:spPr>
        <p:txBody>
          <a:bodyPr/>
          <a:lstStyle>
            <a:lvl2pPr>
              <a:defRPr>
                <a:latin typeface="+mn-lt"/>
              </a:defRPr>
            </a:lvl2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6"/>
          <p:cNvSpPr>
            <a:spLocks noGrp="1"/>
          </p:cNvSpPr>
          <p:nvPr>
            <p:ph type="sldNum" sz="quarter" idx="12"/>
          </p:nvPr>
        </p:nvSpPr>
        <p:spPr/>
        <p:txBody>
          <a:bodyPr/>
          <a:lstStyle/>
          <a:p>
            <a:fld id="{5F9B62A2-F893-D445-AA6E-547C886B98E8}" type="slidenum">
              <a:rPr lang="en-US" smtClean="0"/>
              <a:t>‹#›</a:t>
            </a:fld>
            <a:endParaRPr lang="en-US"/>
          </a:p>
        </p:txBody>
      </p:sp>
      <p:sp>
        <p:nvSpPr>
          <p:cNvPr id="8" name="Text Placeholder 7"/>
          <p:cNvSpPr>
            <a:spLocks noGrp="1"/>
          </p:cNvSpPr>
          <p:nvPr>
            <p:ph type="body" sz="quarter" idx="13"/>
          </p:nvPr>
        </p:nvSpPr>
        <p:spPr>
          <a:xfrm>
            <a:off x="467179" y="8158162"/>
            <a:ext cx="15328473" cy="523875"/>
          </a:xfrm>
          <a:solidFill>
            <a:schemeClr val="accent1"/>
          </a:solidFill>
        </p:spPr>
        <p:txBody>
          <a:bodyPr anchor="ctr">
            <a:noAutofit/>
          </a:bodyPr>
          <a:lstStyle>
            <a:lvl1pPr algn="ctr">
              <a:defRPr sz="2000" b="0" cap="all" baseline="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p:txBody>
      </p:sp>
      <p:sp>
        <p:nvSpPr>
          <p:cNvPr id="9" name="Footer Placeholder 4"/>
          <p:cNvSpPr>
            <a:spLocks noGrp="1"/>
          </p:cNvSpPr>
          <p:nvPr>
            <p:ph type="ftr" sz="quarter" idx="3"/>
          </p:nvPr>
        </p:nvSpPr>
        <p:spPr>
          <a:xfrm>
            <a:off x="467180" y="8804134"/>
            <a:ext cx="6443417" cy="177287"/>
          </a:xfrm>
          <a:prstGeom prst="rect">
            <a:avLst/>
          </a:prstGeom>
        </p:spPr>
        <p:txBody>
          <a:bodyPr vert="horz" lIns="0" tIns="0" rIns="0" bIns="0" rtlCol="0" anchor="ctr"/>
          <a:lstStyle>
            <a:lvl1pPr algn="l">
              <a:defRPr sz="900">
                <a:solidFill>
                  <a:srgbClr val="797979"/>
                </a:solidFill>
                <a:latin typeface="Franklin Gothic Book" charset="0"/>
                <a:ea typeface="Franklin Gothic Book" charset="0"/>
                <a:cs typeface="Franklin Gothic Book" charset="0"/>
              </a:defRPr>
            </a:lvl1pPr>
          </a:lstStyle>
          <a:p>
            <a:r>
              <a:rPr lang="en-US" dirty="0"/>
              <a:t>Confidential Information. Use and disclosure limited for Gates business purposes only. ©2018 Gates Inc. All rights reserved. </a:t>
            </a:r>
          </a:p>
        </p:txBody>
      </p:sp>
    </p:spTree>
    <p:extLst>
      <p:ext uri="{BB962C8B-B14F-4D97-AF65-F5344CB8AC3E}">
        <p14:creationId xmlns:p14="http://schemas.microsoft.com/office/powerpoint/2010/main" val="11078437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Flag Lef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hasCustomPrompt="1"/>
          </p:nvPr>
        </p:nvSpPr>
        <p:spPr>
          <a:xfrm>
            <a:off x="509588" y="1981200"/>
            <a:ext cx="7132320" cy="54864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hasCustomPrompt="1"/>
          </p:nvPr>
        </p:nvSpPr>
        <p:spPr>
          <a:xfrm>
            <a:off x="8125428" y="1981200"/>
            <a:ext cx="7582395" cy="235930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6"/>
          <p:cNvSpPr>
            <a:spLocks noGrp="1"/>
          </p:cNvSpPr>
          <p:nvPr>
            <p:ph type="sldNum" sz="quarter" idx="12"/>
          </p:nvPr>
        </p:nvSpPr>
        <p:spPr/>
        <p:txBody>
          <a:bodyPr/>
          <a:lstStyle/>
          <a:p>
            <a:fld id="{5F9B62A2-F893-D445-AA6E-547C886B98E8}" type="slidenum">
              <a:rPr lang="en-US" smtClean="0"/>
              <a:t>‹#›</a:t>
            </a:fld>
            <a:endParaRPr lang="en-US"/>
          </a:p>
        </p:txBody>
      </p:sp>
      <p:cxnSp>
        <p:nvCxnSpPr>
          <p:cNvPr id="8" name="Straight Connector 7"/>
          <p:cNvCxnSpPr/>
          <p:nvPr userDrawn="1"/>
        </p:nvCxnSpPr>
        <p:spPr>
          <a:xfrm flipH="1">
            <a:off x="8125428" y="4748228"/>
            <a:ext cx="7652737" cy="0"/>
          </a:xfrm>
          <a:prstGeom prst="line">
            <a:avLst/>
          </a:prstGeom>
          <a:ln w="12700">
            <a:solidFill>
              <a:srgbClr val="727272">
                <a:alpha val="20000"/>
              </a:srgbClr>
            </a:solidFill>
          </a:ln>
        </p:spPr>
        <p:style>
          <a:lnRef idx="1">
            <a:schemeClr val="accent1"/>
          </a:lnRef>
          <a:fillRef idx="0">
            <a:schemeClr val="accent1"/>
          </a:fillRef>
          <a:effectRef idx="0">
            <a:schemeClr val="accent1"/>
          </a:effectRef>
          <a:fontRef idx="minor">
            <a:schemeClr val="tx1"/>
          </a:fontRef>
        </p:style>
      </p:cxnSp>
      <p:sp>
        <p:nvSpPr>
          <p:cNvPr id="9" name="Content Placeholder 3"/>
          <p:cNvSpPr>
            <a:spLocks noGrp="1"/>
          </p:cNvSpPr>
          <p:nvPr>
            <p:ph sz="half" idx="15" hasCustomPrompt="1"/>
          </p:nvPr>
        </p:nvSpPr>
        <p:spPr>
          <a:xfrm>
            <a:off x="8125428" y="5152664"/>
            <a:ext cx="7582395" cy="235930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Text Placeholder 7"/>
          <p:cNvSpPr>
            <a:spLocks noGrp="1"/>
          </p:cNvSpPr>
          <p:nvPr>
            <p:ph type="body" sz="quarter" idx="13"/>
          </p:nvPr>
        </p:nvSpPr>
        <p:spPr>
          <a:xfrm>
            <a:off x="467179" y="8158162"/>
            <a:ext cx="15328473" cy="523875"/>
          </a:xfrm>
          <a:solidFill>
            <a:schemeClr val="accent1"/>
          </a:solidFill>
        </p:spPr>
        <p:txBody>
          <a:bodyPr anchor="ctr">
            <a:noAutofit/>
          </a:bodyPr>
          <a:lstStyle>
            <a:lvl1pPr algn="ctr">
              <a:defRPr sz="2000" b="0" cap="all" baseline="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p:txBody>
      </p:sp>
      <p:sp>
        <p:nvSpPr>
          <p:cNvPr id="12" name="Footer Placeholder 4"/>
          <p:cNvSpPr>
            <a:spLocks noGrp="1"/>
          </p:cNvSpPr>
          <p:nvPr>
            <p:ph type="ftr" sz="quarter" idx="3"/>
          </p:nvPr>
        </p:nvSpPr>
        <p:spPr>
          <a:xfrm>
            <a:off x="467180" y="8804134"/>
            <a:ext cx="6443417" cy="177287"/>
          </a:xfrm>
          <a:prstGeom prst="rect">
            <a:avLst/>
          </a:prstGeom>
        </p:spPr>
        <p:txBody>
          <a:bodyPr vert="horz" lIns="0" tIns="0" rIns="0" bIns="0" rtlCol="0" anchor="ctr"/>
          <a:lstStyle>
            <a:lvl1pPr algn="l">
              <a:defRPr sz="900">
                <a:solidFill>
                  <a:srgbClr val="797979"/>
                </a:solidFill>
                <a:latin typeface="Franklin Gothic Book" charset="0"/>
                <a:ea typeface="Franklin Gothic Book" charset="0"/>
                <a:cs typeface="Franklin Gothic Book" charset="0"/>
              </a:defRPr>
            </a:lvl1pPr>
          </a:lstStyle>
          <a:p>
            <a:r>
              <a:rPr lang="en-US" dirty="0"/>
              <a:t>Confidential Information. Use and disclosure limited for Gates business purposes only. ©2018 Gates Inc. All rights reserved. </a:t>
            </a: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Flag Righ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hasCustomPrompt="1"/>
          </p:nvPr>
        </p:nvSpPr>
        <p:spPr>
          <a:xfrm>
            <a:off x="8635015" y="1981200"/>
            <a:ext cx="7132320" cy="54864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hasCustomPrompt="1"/>
          </p:nvPr>
        </p:nvSpPr>
        <p:spPr>
          <a:xfrm>
            <a:off x="509287" y="1981200"/>
            <a:ext cx="7582395" cy="235930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6"/>
          <p:cNvSpPr>
            <a:spLocks noGrp="1"/>
          </p:cNvSpPr>
          <p:nvPr>
            <p:ph type="sldNum" sz="quarter" idx="12"/>
          </p:nvPr>
        </p:nvSpPr>
        <p:spPr/>
        <p:txBody>
          <a:bodyPr/>
          <a:lstStyle/>
          <a:p>
            <a:fld id="{5F9B62A2-F893-D445-AA6E-547C886B98E8}" type="slidenum">
              <a:rPr lang="en-US" smtClean="0"/>
              <a:t>‹#›</a:t>
            </a:fld>
            <a:endParaRPr lang="en-US"/>
          </a:p>
        </p:txBody>
      </p:sp>
      <p:cxnSp>
        <p:nvCxnSpPr>
          <p:cNvPr id="8" name="Straight Connector 7"/>
          <p:cNvCxnSpPr/>
          <p:nvPr userDrawn="1"/>
        </p:nvCxnSpPr>
        <p:spPr>
          <a:xfrm flipH="1">
            <a:off x="509287" y="4748228"/>
            <a:ext cx="7652737" cy="0"/>
          </a:xfrm>
          <a:prstGeom prst="line">
            <a:avLst/>
          </a:prstGeom>
          <a:ln w="12700">
            <a:solidFill>
              <a:srgbClr val="727272">
                <a:alpha val="20000"/>
              </a:srgbClr>
            </a:solidFill>
          </a:ln>
        </p:spPr>
        <p:style>
          <a:lnRef idx="1">
            <a:schemeClr val="accent1"/>
          </a:lnRef>
          <a:fillRef idx="0">
            <a:schemeClr val="accent1"/>
          </a:fillRef>
          <a:effectRef idx="0">
            <a:schemeClr val="accent1"/>
          </a:effectRef>
          <a:fontRef idx="minor">
            <a:schemeClr val="tx1"/>
          </a:fontRef>
        </p:style>
      </p:cxnSp>
      <p:sp>
        <p:nvSpPr>
          <p:cNvPr id="9" name="Content Placeholder 3"/>
          <p:cNvSpPr>
            <a:spLocks noGrp="1"/>
          </p:cNvSpPr>
          <p:nvPr>
            <p:ph sz="half" idx="15" hasCustomPrompt="1"/>
          </p:nvPr>
        </p:nvSpPr>
        <p:spPr>
          <a:xfrm>
            <a:off x="509287" y="5152664"/>
            <a:ext cx="7582395" cy="235930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Text Placeholder 7"/>
          <p:cNvSpPr>
            <a:spLocks noGrp="1"/>
          </p:cNvSpPr>
          <p:nvPr>
            <p:ph type="body" sz="quarter" idx="13"/>
          </p:nvPr>
        </p:nvSpPr>
        <p:spPr>
          <a:xfrm>
            <a:off x="467179" y="8158162"/>
            <a:ext cx="15328473" cy="523875"/>
          </a:xfrm>
          <a:solidFill>
            <a:schemeClr val="accent1"/>
          </a:solidFill>
        </p:spPr>
        <p:txBody>
          <a:bodyPr anchor="ctr">
            <a:noAutofit/>
          </a:bodyPr>
          <a:lstStyle>
            <a:lvl1pPr algn="ctr">
              <a:defRPr sz="2000" b="0" cap="all" baseline="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p:txBody>
      </p:sp>
      <p:sp>
        <p:nvSpPr>
          <p:cNvPr id="12" name="Footer Placeholder 4"/>
          <p:cNvSpPr>
            <a:spLocks noGrp="1"/>
          </p:cNvSpPr>
          <p:nvPr>
            <p:ph type="ftr" sz="quarter" idx="3"/>
          </p:nvPr>
        </p:nvSpPr>
        <p:spPr>
          <a:xfrm>
            <a:off x="467180" y="8804134"/>
            <a:ext cx="6443417" cy="177287"/>
          </a:xfrm>
          <a:prstGeom prst="rect">
            <a:avLst/>
          </a:prstGeom>
        </p:spPr>
        <p:txBody>
          <a:bodyPr vert="horz" lIns="0" tIns="0" rIns="0" bIns="0" rtlCol="0" anchor="ctr"/>
          <a:lstStyle>
            <a:lvl1pPr algn="l">
              <a:defRPr sz="900">
                <a:solidFill>
                  <a:srgbClr val="797979"/>
                </a:solidFill>
                <a:latin typeface="Franklin Gothic Book" charset="0"/>
                <a:ea typeface="Franklin Gothic Book" charset="0"/>
                <a:cs typeface="Franklin Gothic Book" charset="0"/>
              </a:defRPr>
            </a:lvl1pPr>
          </a:lstStyle>
          <a:p>
            <a:r>
              <a:rPr lang="en-US" dirty="0"/>
              <a:t>Confidential Information. Use and disclosure limited for Gates business purposes only. ©2018 Gates Inc. All rights reserved. </a:t>
            </a: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ntent Photo and Descripti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6" name="Slide Number Placeholder 5"/>
          <p:cNvSpPr>
            <a:spLocks noGrp="1"/>
          </p:cNvSpPr>
          <p:nvPr>
            <p:ph type="sldNum" sz="quarter" idx="12"/>
          </p:nvPr>
        </p:nvSpPr>
        <p:spPr/>
        <p:txBody>
          <a:bodyPr/>
          <a:lstStyle/>
          <a:p>
            <a:fld id="{5F9B62A2-F893-D445-AA6E-547C886B98E8}" type="slidenum">
              <a:rPr lang="en-US" smtClean="0"/>
              <a:t>‹#›</a:t>
            </a:fld>
            <a:endParaRPr lang="en-US"/>
          </a:p>
        </p:txBody>
      </p:sp>
      <p:sp>
        <p:nvSpPr>
          <p:cNvPr id="10" name="Text Placeholder 9"/>
          <p:cNvSpPr>
            <a:spLocks noGrp="1"/>
          </p:cNvSpPr>
          <p:nvPr>
            <p:ph type="body" sz="quarter" idx="15"/>
          </p:nvPr>
        </p:nvSpPr>
        <p:spPr>
          <a:xfrm>
            <a:off x="2391061" y="1981200"/>
            <a:ext cx="3108674" cy="5524500"/>
          </a:xfrm>
        </p:spPr>
        <p:txBody>
          <a:bodyPr>
            <a:noAutofit/>
          </a:bodyPr>
          <a:lstStyle>
            <a:lvl1pPr marL="0" indent="0">
              <a:lnSpc>
                <a:spcPct val="110000"/>
              </a:lnSpc>
              <a:buNone/>
              <a:defRPr sz="1800" b="0" i="1" cap="none" baseline="0">
                <a:latin typeface="Franklin Gothic Book" charset="0"/>
                <a:ea typeface="Franklin Gothic Book" charset="0"/>
                <a:cs typeface="Franklin Gothic Book" charset="0"/>
              </a:defRPr>
            </a:lvl1pPr>
            <a:lvl2pPr>
              <a:lnSpc>
                <a:spcPct val="110000"/>
              </a:lnSpc>
              <a:defRPr sz="1800" b="0" i="1" cap="none" baseline="0">
                <a:latin typeface="Franklin Gothic Book" charset="0"/>
                <a:ea typeface="Franklin Gothic Book" charset="0"/>
                <a:cs typeface="Franklin Gothic Book" charset="0"/>
              </a:defRPr>
            </a:lvl2pPr>
            <a:lvl3pPr>
              <a:lnSpc>
                <a:spcPct val="110000"/>
              </a:lnSpc>
              <a:defRPr sz="1800" b="0" i="1" cap="none" baseline="0">
                <a:latin typeface="Franklin Gothic Book" charset="0"/>
                <a:ea typeface="Franklin Gothic Book" charset="0"/>
                <a:cs typeface="Franklin Gothic Book" charset="0"/>
              </a:defRPr>
            </a:lvl3pPr>
            <a:lvl4pPr>
              <a:lnSpc>
                <a:spcPct val="110000"/>
              </a:lnSpc>
              <a:defRPr sz="1800" b="0" i="1" cap="none" baseline="0">
                <a:latin typeface="Franklin Gothic Book" charset="0"/>
                <a:ea typeface="Franklin Gothic Book" charset="0"/>
                <a:cs typeface="Franklin Gothic Book" charset="0"/>
              </a:defRPr>
            </a:lvl4pPr>
            <a:lvl5pPr>
              <a:lnSpc>
                <a:spcPct val="110000"/>
              </a:lnSpc>
              <a:defRPr sz="1800" b="0" i="1" cap="none" baseline="0">
                <a:latin typeface="Franklin Gothic Book" charset="0"/>
                <a:ea typeface="Franklin Gothic Book" charset="0"/>
                <a:cs typeface="Franklin Gothic Book" charset="0"/>
              </a:defRPr>
            </a:lvl5pPr>
          </a:lstStyle>
          <a:p>
            <a:pPr lvl="0"/>
            <a:r>
              <a:rPr lang="en-US" dirty="0"/>
              <a:t>Click to edit Master text styles</a:t>
            </a:r>
          </a:p>
        </p:txBody>
      </p:sp>
      <p:sp>
        <p:nvSpPr>
          <p:cNvPr id="11" name="Picture Placeholder 7"/>
          <p:cNvSpPr>
            <a:spLocks noGrp="1"/>
          </p:cNvSpPr>
          <p:nvPr>
            <p:ph type="pic" sz="quarter" idx="14"/>
          </p:nvPr>
        </p:nvSpPr>
        <p:spPr>
          <a:xfrm>
            <a:off x="5954713" y="1981200"/>
            <a:ext cx="10302875" cy="5588295"/>
          </a:xfrm>
          <a:solidFill>
            <a:schemeClr val="accent2"/>
          </a:solidFill>
        </p:spPr>
        <p:txBody>
          <a:bodyPr anchor="ctr"/>
          <a:lstStyle>
            <a:lvl1pPr marL="0" indent="0" algn="ctr">
              <a:buNone/>
              <a:defRPr/>
            </a:lvl1pPr>
          </a:lstStyle>
          <a:p>
            <a:endParaRPr lang="en-US"/>
          </a:p>
        </p:txBody>
      </p:sp>
      <p:sp>
        <p:nvSpPr>
          <p:cNvPr id="8" name="Text Placeholder 7"/>
          <p:cNvSpPr>
            <a:spLocks noGrp="1"/>
          </p:cNvSpPr>
          <p:nvPr>
            <p:ph type="body" sz="quarter" idx="13"/>
          </p:nvPr>
        </p:nvSpPr>
        <p:spPr>
          <a:xfrm>
            <a:off x="467179" y="8158162"/>
            <a:ext cx="15328473" cy="523875"/>
          </a:xfrm>
          <a:solidFill>
            <a:schemeClr val="accent1"/>
          </a:solidFill>
        </p:spPr>
        <p:txBody>
          <a:bodyPr anchor="ctr">
            <a:noAutofit/>
          </a:bodyPr>
          <a:lstStyle>
            <a:lvl1pPr algn="ctr">
              <a:defRPr sz="2000" b="0" cap="all" baseline="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p:txBody>
      </p:sp>
      <p:sp>
        <p:nvSpPr>
          <p:cNvPr id="9" name="Footer Placeholder 4"/>
          <p:cNvSpPr>
            <a:spLocks noGrp="1"/>
          </p:cNvSpPr>
          <p:nvPr>
            <p:ph type="ftr" sz="quarter" idx="3"/>
          </p:nvPr>
        </p:nvSpPr>
        <p:spPr>
          <a:xfrm>
            <a:off x="467180" y="8804134"/>
            <a:ext cx="6443417" cy="177287"/>
          </a:xfrm>
          <a:prstGeom prst="rect">
            <a:avLst/>
          </a:prstGeom>
        </p:spPr>
        <p:txBody>
          <a:bodyPr vert="horz" lIns="0" tIns="0" rIns="0" bIns="0" rtlCol="0" anchor="ctr"/>
          <a:lstStyle>
            <a:lvl1pPr algn="l">
              <a:defRPr sz="900">
                <a:solidFill>
                  <a:srgbClr val="797979"/>
                </a:solidFill>
                <a:latin typeface="Franklin Gothic Book" charset="0"/>
                <a:ea typeface="Franklin Gothic Book" charset="0"/>
                <a:cs typeface="Franklin Gothic Book" charset="0"/>
              </a:defRPr>
            </a:lvl1pPr>
          </a:lstStyle>
          <a:p>
            <a:r>
              <a:rPr lang="en-US" dirty="0"/>
              <a:t>Confidential Information. Use and disclosure limited for Gates business purposes only. ©2018 Gates Inc. All rights reserved. </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ntent Text and Imag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5" name="Slide Number Placeholder 4"/>
          <p:cNvSpPr>
            <a:spLocks noGrp="1"/>
          </p:cNvSpPr>
          <p:nvPr>
            <p:ph type="sldNum" sz="quarter" idx="12"/>
          </p:nvPr>
        </p:nvSpPr>
        <p:spPr/>
        <p:txBody>
          <a:bodyPr/>
          <a:lstStyle/>
          <a:p>
            <a:fld id="{5F9B62A2-F893-D445-AA6E-547C886B98E8}" type="slidenum">
              <a:rPr lang="en-US" smtClean="0"/>
              <a:t>‹#›</a:t>
            </a:fld>
            <a:endParaRPr lang="en-US"/>
          </a:p>
        </p:txBody>
      </p:sp>
      <p:sp>
        <p:nvSpPr>
          <p:cNvPr id="23" name="Picture Placeholder 7"/>
          <p:cNvSpPr>
            <a:spLocks noGrp="1"/>
          </p:cNvSpPr>
          <p:nvPr>
            <p:ph type="pic" sz="quarter" idx="14"/>
          </p:nvPr>
        </p:nvSpPr>
        <p:spPr>
          <a:xfrm>
            <a:off x="10678623" y="1981201"/>
            <a:ext cx="5029200" cy="5486400"/>
          </a:xfrm>
          <a:solidFill>
            <a:schemeClr val="accent2"/>
          </a:solidFill>
        </p:spPr>
        <p:txBody>
          <a:bodyPr anchor="ctr"/>
          <a:lstStyle>
            <a:lvl1pPr marL="0" indent="0" algn="ctr">
              <a:buNone/>
              <a:defRPr/>
            </a:lvl1pPr>
          </a:lstStyle>
          <a:p>
            <a:endParaRPr lang="en-US"/>
          </a:p>
        </p:txBody>
      </p:sp>
      <p:sp>
        <p:nvSpPr>
          <p:cNvPr id="8" name="Content Placeholder 2"/>
          <p:cNvSpPr>
            <a:spLocks noGrp="1"/>
          </p:cNvSpPr>
          <p:nvPr>
            <p:ph sz="half" idx="1" hasCustomPrompt="1"/>
          </p:nvPr>
        </p:nvSpPr>
        <p:spPr>
          <a:xfrm>
            <a:off x="700088" y="1981201"/>
            <a:ext cx="9418320" cy="54864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Text Placeholder 7"/>
          <p:cNvSpPr>
            <a:spLocks noGrp="1"/>
          </p:cNvSpPr>
          <p:nvPr>
            <p:ph type="body" sz="quarter" idx="13"/>
          </p:nvPr>
        </p:nvSpPr>
        <p:spPr>
          <a:xfrm>
            <a:off x="467179" y="8158162"/>
            <a:ext cx="15328473" cy="523875"/>
          </a:xfrm>
          <a:solidFill>
            <a:schemeClr val="accent1"/>
          </a:solidFill>
        </p:spPr>
        <p:txBody>
          <a:bodyPr anchor="ctr">
            <a:noAutofit/>
          </a:bodyPr>
          <a:lstStyle>
            <a:lvl1pPr algn="ctr">
              <a:defRPr sz="2000" b="0" cap="all" baseline="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p:txBody>
      </p:sp>
      <p:sp>
        <p:nvSpPr>
          <p:cNvPr id="10" name="Footer Placeholder 4"/>
          <p:cNvSpPr>
            <a:spLocks noGrp="1"/>
          </p:cNvSpPr>
          <p:nvPr>
            <p:ph type="ftr" sz="quarter" idx="3"/>
          </p:nvPr>
        </p:nvSpPr>
        <p:spPr>
          <a:xfrm>
            <a:off x="467180" y="8804134"/>
            <a:ext cx="6443417" cy="177287"/>
          </a:xfrm>
          <a:prstGeom prst="rect">
            <a:avLst/>
          </a:prstGeom>
        </p:spPr>
        <p:txBody>
          <a:bodyPr vert="horz" lIns="0" tIns="0" rIns="0" bIns="0" rtlCol="0" anchor="ctr"/>
          <a:lstStyle>
            <a:lvl1pPr algn="l">
              <a:defRPr sz="900">
                <a:solidFill>
                  <a:srgbClr val="797979"/>
                </a:solidFill>
                <a:latin typeface="Franklin Gothic Book" charset="0"/>
                <a:ea typeface="Franklin Gothic Book" charset="0"/>
                <a:cs typeface="Franklin Gothic Book" charset="0"/>
              </a:defRPr>
            </a:lvl1pPr>
          </a:lstStyle>
          <a:p>
            <a:r>
              <a:rPr lang="en-US" dirty="0"/>
              <a:t>Confidential Information. Use and disclosure limited for Gates business purposes only. ©2018 Gates Inc. All rights reserved. </a:t>
            </a: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ontent Four Column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4" name="Slide Number Placeholder 3"/>
          <p:cNvSpPr>
            <a:spLocks noGrp="1"/>
          </p:cNvSpPr>
          <p:nvPr>
            <p:ph type="sldNum" sz="quarter" idx="11"/>
          </p:nvPr>
        </p:nvSpPr>
        <p:spPr/>
        <p:txBody>
          <a:bodyPr/>
          <a:lstStyle/>
          <a:p>
            <a:fld id="{5F9B62A2-F893-D445-AA6E-547C886B98E8}" type="slidenum">
              <a:rPr lang="en-US" smtClean="0"/>
              <a:pPr/>
              <a:t>‹#›</a:t>
            </a:fld>
            <a:endParaRPr lang="en-US" dirty="0"/>
          </a:p>
        </p:txBody>
      </p:sp>
      <p:sp>
        <p:nvSpPr>
          <p:cNvPr id="11" name="Content Placeholder 2"/>
          <p:cNvSpPr>
            <a:spLocks noGrp="1"/>
          </p:cNvSpPr>
          <p:nvPr>
            <p:ph idx="15" hasCustomPrompt="1"/>
          </p:nvPr>
        </p:nvSpPr>
        <p:spPr>
          <a:xfrm>
            <a:off x="492040" y="1981200"/>
            <a:ext cx="3821452" cy="3505200"/>
          </a:xfrm>
          <a:solidFill>
            <a:srgbClr val="EBEBEB"/>
          </a:solidFill>
        </p:spPr>
        <p:txBody>
          <a:bodyPr lIns="182880" tIns="137160" rIns="137160" bIns="182880"/>
          <a:lstStyle>
            <a:lvl1pPr marL="0" marR="0" indent="0" algn="l" defTabSz="1219170" rtl="0" eaLnBrk="1" fontAlgn="auto" latinLnBrk="0" hangingPunct="1">
              <a:lnSpc>
                <a:spcPct val="90000"/>
              </a:lnSpc>
              <a:spcBef>
                <a:spcPts val="1333"/>
              </a:spcBef>
              <a:spcAft>
                <a:spcPts val="0"/>
              </a:spcAft>
              <a:buClr>
                <a:srgbClr val="C02026"/>
              </a:buClr>
              <a:buSzTx/>
              <a:buFont typeface="Wingdings" pitchFamily="2" charset="2"/>
              <a:buNone/>
              <a:tabLst/>
              <a:defRPr sz="2400" b="0" i="0" cap="none" baseline="0">
                <a:latin typeface="Franklin Gothic Demi" charset="0"/>
              </a:defRPr>
            </a:lvl1pPr>
            <a:lvl2pPr marL="558800" marR="0" indent="-285750" algn="l" defTabSz="1219170" rtl="0" eaLnBrk="1" fontAlgn="auto" latinLnBrk="0" hangingPunct="1">
              <a:lnSpc>
                <a:spcPct val="110000"/>
              </a:lnSpc>
              <a:spcBef>
                <a:spcPts val="1200"/>
              </a:spcBef>
              <a:spcAft>
                <a:spcPts val="0"/>
              </a:spcAft>
              <a:buClr>
                <a:srgbClr val="C02026"/>
              </a:buClr>
              <a:buSzTx/>
              <a:buFont typeface="Arial" panose="020B0604020202020204" pitchFamily="34" charset="0"/>
              <a:buChar char="•"/>
              <a:tabLst/>
              <a:defRPr sz="1800" baseline="0">
                <a:latin typeface="+mn-lt"/>
                <a:ea typeface="Franklin Gothic Book" charset="0"/>
                <a:cs typeface="Franklin Gothic Book" charset="0"/>
              </a:defRPr>
            </a:lvl2pPr>
            <a:lvl3pPr marL="865188" marR="0" indent="-317500" algn="l" defTabSz="1219170" rtl="0" eaLnBrk="1" fontAlgn="auto" latinLnBrk="0" hangingPunct="1">
              <a:lnSpc>
                <a:spcPct val="110000"/>
              </a:lnSpc>
              <a:spcBef>
                <a:spcPts val="1200"/>
              </a:spcBef>
              <a:spcAft>
                <a:spcPts val="0"/>
              </a:spcAft>
              <a:buClr>
                <a:srgbClr val="686868"/>
              </a:buClr>
              <a:buSzTx/>
              <a:buFont typeface="Arial" panose="020B0604020202020204" pitchFamily="34" charset="0"/>
              <a:buChar char="•"/>
              <a:tabLst/>
              <a:defRPr b="0" i="0">
                <a:latin typeface="Franklin Gothic Book" panose="020B0503020102020204" pitchFamily="34" charset="0"/>
                <a:ea typeface="Franklin Gothic Book" panose="020B0503020102020204" pitchFamily="34" charset="0"/>
                <a:cs typeface="Franklin Gothic Book" panose="020B0503020102020204" pitchFamily="34" charset="0"/>
              </a:defRPr>
            </a:lvl3pPr>
            <a:lvl4pPr marL="1154113" marR="0" indent="-317500" algn="l" defTabSz="1219170" rtl="0" eaLnBrk="1" fontAlgn="auto" latinLnBrk="0" hangingPunct="1">
              <a:lnSpc>
                <a:spcPct val="110000"/>
              </a:lnSpc>
              <a:spcBef>
                <a:spcPts val="800"/>
              </a:spcBef>
              <a:spcAft>
                <a:spcPts val="0"/>
              </a:spcAft>
              <a:buClr>
                <a:srgbClr val="686868"/>
              </a:buClr>
              <a:buSzTx/>
              <a:buFont typeface="Arial" panose="020B0604020202020204" pitchFamily="34" charset="0"/>
              <a:buChar char="•"/>
              <a:tabLst/>
              <a:defRPr sz="1400"/>
            </a:lvl4pPr>
            <a:lvl5pPr marL="1443038" marR="0" indent="-317500" algn="l" defTabSz="1219170" rtl="0" eaLnBrk="1" fontAlgn="auto" latinLnBrk="0" hangingPunct="1">
              <a:lnSpc>
                <a:spcPct val="110000"/>
              </a:lnSpc>
              <a:spcBef>
                <a:spcPts val="600"/>
              </a:spcBef>
              <a:spcAft>
                <a:spcPts val="0"/>
              </a:spcAft>
              <a:buClr>
                <a:srgbClr val="686868"/>
              </a:buClr>
              <a:buSzTx/>
              <a:buFont typeface="Arial" panose="020B0604020202020204" pitchFamily="34" charset="0"/>
              <a:buChar char="•"/>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a:p>
            <a:pPr marL="287338" marR="0" lvl="0" indent="-287338" algn="l" defTabSz="1219170" rtl="0" eaLnBrk="1" fontAlgn="auto" latinLnBrk="0" hangingPunct="1">
              <a:lnSpc>
                <a:spcPct val="90000"/>
              </a:lnSpc>
              <a:spcBef>
                <a:spcPts val="1333"/>
              </a:spcBef>
              <a:spcAft>
                <a:spcPts val="0"/>
              </a:spcAft>
              <a:buClr>
                <a:srgbClr val="C02026"/>
              </a:buClr>
              <a:buSzTx/>
              <a:buFont typeface="Wingdings" pitchFamily="2" charset="2"/>
              <a:buChar char="§"/>
              <a:tabLst/>
              <a:defRPr/>
            </a:pPr>
            <a:endParaRPr kumimoji="0" lang="en-US" sz="1400" b="0" i="0" u="none" strike="noStrike" kern="1200" cap="none" spc="0" normalizeH="0" baseline="0" noProof="0" dirty="0">
              <a:ln>
                <a:noFill/>
              </a:ln>
              <a:solidFill>
                <a:srgbClr val="000000"/>
              </a:solidFill>
              <a:effectLst/>
              <a:uLnTx/>
              <a:uFillTx/>
              <a:latin typeface="Franklin Gothic Book" charset="0"/>
            </a:endParaRPr>
          </a:p>
        </p:txBody>
      </p:sp>
      <p:sp>
        <p:nvSpPr>
          <p:cNvPr id="10" name="Content Placeholder 2"/>
          <p:cNvSpPr>
            <a:spLocks noGrp="1"/>
          </p:cNvSpPr>
          <p:nvPr>
            <p:ph idx="16" hasCustomPrompt="1"/>
          </p:nvPr>
        </p:nvSpPr>
        <p:spPr>
          <a:xfrm>
            <a:off x="4291372" y="1981200"/>
            <a:ext cx="3821452" cy="3505200"/>
          </a:xfrm>
          <a:solidFill>
            <a:srgbClr val="F5F5F5"/>
          </a:solidFill>
        </p:spPr>
        <p:txBody>
          <a:bodyPr lIns="182880" tIns="137160" rIns="137160" bIns="182880"/>
          <a:lstStyle>
            <a:lvl1pPr marL="0" marR="0" indent="0" algn="l" defTabSz="1219170" rtl="0" eaLnBrk="1" fontAlgn="auto" latinLnBrk="0" hangingPunct="1">
              <a:lnSpc>
                <a:spcPct val="90000"/>
              </a:lnSpc>
              <a:spcBef>
                <a:spcPts val="1333"/>
              </a:spcBef>
              <a:spcAft>
                <a:spcPts val="0"/>
              </a:spcAft>
              <a:buClr>
                <a:srgbClr val="C02026"/>
              </a:buClr>
              <a:buSzTx/>
              <a:buFont typeface="Wingdings" pitchFamily="2" charset="2"/>
              <a:buNone/>
              <a:tabLst/>
              <a:defRPr sz="2400" b="0" i="0" cap="none" baseline="0">
                <a:latin typeface="Franklin Gothic Demi" charset="0"/>
              </a:defRPr>
            </a:lvl1pPr>
            <a:lvl2pPr marL="576263" marR="0" indent="-303213" algn="l" defTabSz="1219170" rtl="0" eaLnBrk="1" fontAlgn="auto" latinLnBrk="0" hangingPunct="1">
              <a:lnSpc>
                <a:spcPct val="110000"/>
              </a:lnSpc>
              <a:spcBef>
                <a:spcPts val="1200"/>
              </a:spcBef>
              <a:spcAft>
                <a:spcPts val="0"/>
              </a:spcAft>
              <a:buClr>
                <a:srgbClr val="C02026"/>
              </a:buClr>
              <a:buSzTx/>
              <a:buFont typeface="Wingdings" pitchFamily="2" charset="2"/>
              <a:buChar char="§"/>
              <a:tabLst/>
              <a:defRPr sz="1800">
                <a:latin typeface="+mn-lt"/>
                <a:ea typeface="Franklin Gothic Book" charset="0"/>
                <a:cs typeface="Franklin Gothic Book" charset="0"/>
              </a:defRPr>
            </a:lvl2pPr>
            <a:lvl3pPr marL="865188" marR="0" indent="-317500" algn="l" defTabSz="1219170" rtl="0" eaLnBrk="1" fontAlgn="auto" latinLnBrk="0" hangingPunct="1">
              <a:lnSpc>
                <a:spcPct val="110000"/>
              </a:lnSpc>
              <a:spcBef>
                <a:spcPts val="1200"/>
              </a:spcBef>
              <a:spcAft>
                <a:spcPts val="0"/>
              </a:spcAft>
              <a:buClr>
                <a:srgbClr val="686868"/>
              </a:buClr>
              <a:buSzTx/>
              <a:buFont typeface="Arial" panose="020B0604020202020204" pitchFamily="34" charset="0"/>
              <a:buChar char="•"/>
              <a:tabLst/>
              <a:defRPr b="0" i="0">
                <a:latin typeface="Franklin Gothic Book" panose="020B0503020102020204" pitchFamily="34" charset="0"/>
                <a:ea typeface="Franklin Gothic Book" panose="020B0503020102020204" pitchFamily="34" charset="0"/>
                <a:cs typeface="Franklin Gothic Book" panose="020B0503020102020204" pitchFamily="34" charset="0"/>
              </a:defRPr>
            </a:lvl3pPr>
            <a:lvl4pPr marL="1154113" marR="0" indent="-317500" algn="l" defTabSz="1219170" rtl="0" eaLnBrk="1" fontAlgn="auto" latinLnBrk="0" hangingPunct="1">
              <a:lnSpc>
                <a:spcPct val="110000"/>
              </a:lnSpc>
              <a:spcBef>
                <a:spcPts val="800"/>
              </a:spcBef>
              <a:spcAft>
                <a:spcPts val="0"/>
              </a:spcAft>
              <a:buClr>
                <a:srgbClr val="686868"/>
              </a:buClr>
              <a:buSzTx/>
              <a:buFont typeface="Arial" panose="020B0604020202020204" pitchFamily="34" charset="0"/>
              <a:buChar char="•"/>
              <a:tabLst/>
              <a:defRPr sz="1400"/>
            </a:lvl4pPr>
            <a:lvl5pPr marL="1443038" marR="0" indent="-317500" algn="l" defTabSz="1219170" rtl="0" eaLnBrk="1" fontAlgn="auto" latinLnBrk="0" hangingPunct="1">
              <a:lnSpc>
                <a:spcPct val="110000"/>
              </a:lnSpc>
              <a:spcBef>
                <a:spcPts val="600"/>
              </a:spcBef>
              <a:spcAft>
                <a:spcPts val="0"/>
              </a:spcAft>
              <a:buClr>
                <a:srgbClr val="686868"/>
              </a:buClr>
              <a:buSzTx/>
              <a:buFont typeface="Arial" panose="020B0604020202020204" pitchFamily="34" charset="0"/>
              <a:buChar char="•"/>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a:p>
            <a:pPr marL="287338" marR="0" lvl="0" indent="-287338" algn="l" defTabSz="1219170" rtl="0" eaLnBrk="1" fontAlgn="auto" latinLnBrk="0" hangingPunct="1">
              <a:lnSpc>
                <a:spcPct val="90000"/>
              </a:lnSpc>
              <a:spcBef>
                <a:spcPts val="1333"/>
              </a:spcBef>
              <a:spcAft>
                <a:spcPts val="0"/>
              </a:spcAft>
              <a:buClr>
                <a:srgbClr val="C02026"/>
              </a:buClr>
              <a:buSzTx/>
              <a:buFont typeface="Wingdings" pitchFamily="2" charset="2"/>
              <a:buChar char="§"/>
              <a:tabLst/>
              <a:defRPr/>
            </a:pPr>
            <a:endParaRPr kumimoji="0" lang="en-US" sz="1400" b="0" i="0" u="none" strike="noStrike" kern="1200" cap="none" spc="0" normalizeH="0" baseline="0" noProof="0" dirty="0">
              <a:ln>
                <a:noFill/>
              </a:ln>
              <a:solidFill>
                <a:srgbClr val="000000"/>
              </a:solidFill>
              <a:effectLst/>
              <a:uLnTx/>
              <a:uFillTx/>
              <a:latin typeface="Franklin Gothic Book" charset="0"/>
            </a:endParaRPr>
          </a:p>
          <a:p>
            <a:pPr marL="287338" marR="0" lvl="0" indent="-287338" algn="l" defTabSz="1219170" rtl="0" eaLnBrk="1" fontAlgn="auto" latinLnBrk="0" hangingPunct="1">
              <a:lnSpc>
                <a:spcPct val="90000"/>
              </a:lnSpc>
              <a:spcBef>
                <a:spcPts val="1333"/>
              </a:spcBef>
              <a:spcAft>
                <a:spcPts val="0"/>
              </a:spcAft>
              <a:buClr>
                <a:srgbClr val="C02026"/>
              </a:buClr>
              <a:buSzTx/>
              <a:buFont typeface="Wingdings" pitchFamily="2" charset="2"/>
              <a:buChar char="§"/>
              <a:tabLst/>
              <a:defRPr/>
            </a:pPr>
            <a:endParaRPr kumimoji="0" lang="en-US" sz="1400" b="0" i="0" u="none" strike="noStrike" kern="1200" cap="none" spc="0" normalizeH="0" baseline="0" noProof="0" dirty="0">
              <a:ln>
                <a:noFill/>
              </a:ln>
              <a:solidFill>
                <a:srgbClr val="000000"/>
              </a:solidFill>
              <a:effectLst/>
              <a:uLnTx/>
              <a:uFillTx/>
              <a:latin typeface="Franklin Gothic Book" charset="0"/>
            </a:endParaRPr>
          </a:p>
        </p:txBody>
      </p:sp>
      <p:sp>
        <p:nvSpPr>
          <p:cNvPr id="12" name="Content Placeholder 2"/>
          <p:cNvSpPr>
            <a:spLocks noGrp="1"/>
          </p:cNvSpPr>
          <p:nvPr>
            <p:ph idx="17" hasCustomPrompt="1"/>
          </p:nvPr>
        </p:nvSpPr>
        <p:spPr>
          <a:xfrm>
            <a:off x="8090704" y="1981200"/>
            <a:ext cx="3821452" cy="3505200"/>
          </a:xfrm>
          <a:solidFill>
            <a:srgbClr val="EBEBEB"/>
          </a:solidFill>
        </p:spPr>
        <p:txBody>
          <a:bodyPr lIns="182880" tIns="137160" rIns="137160" bIns="182880"/>
          <a:lstStyle>
            <a:lvl1pPr marL="0" marR="0" indent="0" algn="l" defTabSz="1219170" rtl="0" eaLnBrk="1" fontAlgn="auto" latinLnBrk="0" hangingPunct="1">
              <a:lnSpc>
                <a:spcPct val="90000"/>
              </a:lnSpc>
              <a:spcBef>
                <a:spcPts val="1333"/>
              </a:spcBef>
              <a:spcAft>
                <a:spcPts val="0"/>
              </a:spcAft>
              <a:buClr>
                <a:srgbClr val="C02026"/>
              </a:buClr>
              <a:buSzTx/>
              <a:buFont typeface="Wingdings" pitchFamily="2" charset="2"/>
              <a:buNone/>
              <a:tabLst/>
              <a:defRPr sz="2400" b="0" i="0" cap="none" baseline="0">
                <a:latin typeface="Franklin Gothic Demi" charset="0"/>
              </a:defRPr>
            </a:lvl1pPr>
            <a:lvl2pPr marL="576263" marR="0" indent="-303213" algn="l" defTabSz="1219170" rtl="0" eaLnBrk="1" fontAlgn="auto" latinLnBrk="0" hangingPunct="1">
              <a:lnSpc>
                <a:spcPct val="110000"/>
              </a:lnSpc>
              <a:spcBef>
                <a:spcPts val="1200"/>
              </a:spcBef>
              <a:spcAft>
                <a:spcPts val="0"/>
              </a:spcAft>
              <a:buClr>
                <a:srgbClr val="C02026"/>
              </a:buClr>
              <a:buSzTx/>
              <a:buFont typeface="Wingdings" pitchFamily="2" charset="2"/>
              <a:buChar char="§"/>
              <a:tabLst/>
              <a:defRPr sz="1800">
                <a:latin typeface="+mn-lt"/>
                <a:ea typeface="Franklin Gothic Book" charset="0"/>
                <a:cs typeface="Franklin Gothic Book" charset="0"/>
              </a:defRPr>
            </a:lvl2pPr>
            <a:lvl3pPr marL="865188" marR="0" indent="-317500" algn="l" defTabSz="1219170" rtl="0" eaLnBrk="1" fontAlgn="auto" latinLnBrk="0" hangingPunct="1">
              <a:lnSpc>
                <a:spcPct val="110000"/>
              </a:lnSpc>
              <a:spcBef>
                <a:spcPts val="1200"/>
              </a:spcBef>
              <a:spcAft>
                <a:spcPts val="0"/>
              </a:spcAft>
              <a:buClr>
                <a:srgbClr val="686868"/>
              </a:buClr>
              <a:buSzTx/>
              <a:buFont typeface="Arial" panose="020B0604020202020204" pitchFamily="34" charset="0"/>
              <a:buChar char="•"/>
              <a:tabLst/>
              <a:defRPr b="0" i="0">
                <a:latin typeface="Franklin Gothic Book" panose="020B0503020102020204" pitchFamily="34" charset="0"/>
                <a:ea typeface="Franklin Gothic Book" panose="020B0503020102020204" pitchFamily="34" charset="0"/>
                <a:cs typeface="Franklin Gothic Book" panose="020B0503020102020204" pitchFamily="34" charset="0"/>
              </a:defRPr>
            </a:lvl3pPr>
            <a:lvl4pPr marL="1154113" marR="0" indent="-317500" algn="l" defTabSz="1219170" rtl="0" eaLnBrk="1" fontAlgn="auto" latinLnBrk="0" hangingPunct="1">
              <a:lnSpc>
                <a:spcPct val="110000"/>
              </a:lnSpc>
              <a:spcBef>
                <a:spcPts val="800"/>
              </a:spcBef>
              <a:spcAft>
                <a:spcPts val="0"/>
              </a:spcAft>
              <a:buClr>
                <a:srgbClr val="686868"/>
              </a:buClr>
              <a:buSzTx/>
              <a:buFont typeface="Arial" panose="020B0604020202020204" pitchFamily="34" charset="0"/>
              <a:buChar char="•"/>
              <a:tabLst/>
              <a:defRPr sz="1400"/>
            </a:lvl4pPr>
            <a:lvl5pPr marL="1443038" marR="0" indent="-317500" algn="l" defTabSz="1219170" rtl="0" eaLnBrk="1" fontAlgn="auto" latinLnBrk="0" hangingPunct="1">
              <a:lnSpc>
                <a:spcPct val="110000"/>
              </a:lnSpc>
              <a:spcBef>
                <a:spcPts val="600"/>
              </a:spcBef>
              <a:spcAft>
                <a:spcPts val="0"/>
              </a:spcAft>
              <a:buClr>
                <a:srgbClr val="686868"/>
              </a:buClr>
              <a:buSzTx/>
              <a:buFont typeface="Arial" panose="020B0604020202020204" pitchFamily="34" charset="0"/>
              <a:buChar char="•"/>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a:p>
            <a:pPr marL="287338" marR="0" lvl="0" indent="-287338" algn="l" defTabSz="1219170" rtl="0" eaLnBrk="1" fontAlgn="auto" latinLnBrk="0" hangingPunct="1">
              <a:lnSpc>
                <a:spcPct val="90000"/>
              </a:lnSpc>
              <a:spcBef>
                <a:spcPts val="1333"/>
              </a:spcBef>
              <a:spcAft>
                <a:spcPts val="0"/>
              </a:spcAft>
              <a:buClr>
                <a:srgbClr val="C02026"/>
              </a:buClr>
              <a:buSzTx/>
              <a:buFont typeface="Wingdings" pitchFamily="2" charset="2"/>
              <a:buChar char="§"/>
              <a:tabLst/>
              <a:defRPr/>
            </a:pPr>
            <a:endParaRPr kumimoji="0" lang="en-US" sz="1400" b="0" i="0" u="none" strike="noStrike" kern="1200" cap="none" spc="0" normalizeH="0" baseline="0" noProof="0" dirty="0">
              <a:ln>
                <a:noFill/>
              </a:ln>
              <a:solidFill>
                <a:srgbClr val="000000"/>
              </a:solidFill>
              <a:effectLst/>
              <a:uLnTx/>
              <a:uFillTx/>
              <a:latin typeface="Franklin Gothic Book" charset="0"/>
            </a:endParaRPr>
          </a:p>
          <a:p>
            <a:pPr marL="287338" marR="0" lvl="0" indent="-287338" algn="l" defTabSz="1219170" rtl="0" eaLnBrk="1" fontAlgn="auto" latinLnBrk="0" hangingPunct="1">
              <a:lnSpc>
                <a:spcPct val="90000"/>
              </a:lnSpc>
              <a:spcBef>
                <a:spcPts val="1333"/>
              </a:spcBef>
              <a:spcAft>
                <a:spcPts val="0"/>
              </a:spcAft>
              <a:buClr>
                <a:srgbClr val="C02026"/>
              </a:buClr>
              <a:buSzTx/>
              <a:buFont typeface="Wingdings" pitchFamily="2" charset="2"/>
              <a:buChar char="§"/>
              <a:tabLst/>
              <a:defRPr/>
            </a:pPr>
            <a:endParaRPr kumimoji="0" lang="en-US" sz="1400" b="0" i="0" u="none" strike="noStrike" kern="1200" cap="none" spc="0" normalizeH="0" baseline="0" noProof="0" dirty="0">
              <a:ln>
                <a:noFill/>
              </a:ln>
              <a:solidFill>
                <a:srgbClr val="000000"/>
              </a:solidFill>
              <a:effectLst/>
              <a:uLnTx/>
              <a:uFillTx/>
              <a:latin typeface="Franklin Gothic Book" charset="0"/>
            </a:endParaRPr>
          </a:p>
        </p:txBody>
      </p:sp>
      <p:sp>
        <p:nvSpPr>
          <p:cNvPr id="13" name="Content Placeholder 2"/>
          <p:cNvSpPr>
            <a:spLocks noGrp="1"/>
          </p:cNvSpPr>
          <p:nvPr>
            <p:ph idx="18" hasCustomPrompt="1"/>
          </p:nvPr>
        </p:nvSpPr>
        <p:spPr>
          <a:xfrm>
            <a:off x="11890036" y="1981200"/>
            <a:ext cx="3821452" cy="3505200"/>
          </a:xfrm>
          <a:solidFill>
            <a:srgbClr val="F5F5F5"/>
          </a:solidFill>
        </p:spPr>
        <p:txBody>
          <a:bodyPr lIns="182880" tIns="137160" rIns="137160" bIns="182880"/>
          <a:lstStyle>
            <a:lvl1pPr marL="0" marR="0" indent="0" algn="l" defTabSz="1219170" rtl="0" eaLnBrk="1" fontAlgn="auto" latinLnBrk="0" hangingPunct="1">
              <a:lnSpc>
                <a:spcPct val="90000"/>
              </a:lnSpc>
              <a:spcBef>
                <a:spcPts val="1333"/>
              </a:spcBef>
              <a:spcAft>
                <a:spcPts val="0"/>
              </a:spcAft>
              <a:buClr>
                <a:srgbClr val="C02026"/>
              </a:buClr>
              <a:buSzTx/>
              <a:buFont typeface="Wingdings" pitchFamily="2" charset="2"/>
              <a:buNone/>
              <a:tabLst/>
              <a:defRPr sz="2400" b="0" i="0" cap="none" baseline="0">
                <a:latin typeface="Franklin Gothic Demi" charset="0"/>
              </a:defRPr>
            </a:lvl1pPr>
            <a:lvl2pPr marL="576263" marR="0" indent="-303213" algn="l" defTabSz="1219170" rtl="0" eaLnBrk="1" fontAlgn="auto" latinLnBrk="0" hangingPunct="1">
              <a:lnSpc>
                <a:spcPct val="110000"/>
              </a:lnSpc>
              <a:spcBef>
                <a:spcPts val="1200"/>
              </a:spcBef>
              <a:spcAft>
                <a:spcPts val="0"/>
              </a:spcAft>
              <a:buClr>
                <a:srgbClr val="C02026"/>
              </a:buClr>
              <a:buSzTx/>
              <a:buFont typeface="Wingdings" pitchFamily="2" charset="2"/>
              <a:buChar char="§"/>
              <a:tabLst/>
              <a:defRPr sz="1800">
                <a:latin typeface="+mn-lt"/>
                <a:ea typeface="Franklin Gothic Book" charset="0"/>
                <a:cs typeface="Franklin Gothic Book" charset="0"/>
              </a:defRPr>
            </a:lvl2pPr>
            <a:lvl3pPr marL="865188" marR="0" indent="-317500" algn="l" defTabSz="1219170" rtl="0" eaLnBrk="1" fontAlgn="auto" latinLnBrk="0" hangingPunct="1">
              <a:lnSpc>
                <a:spcPct val="110000"/>
              </a:lnSpc>
              <a:spcBef>
                <a:spcPts val="1200"/>
              </a:spcBef>
              <a:spcAft>
                <a:spcPts val="0"/>
              </a:spcAft>
              <a:buClr>
                <a:srgbClr val="686868"/>
              </a:buClr>
              <a:buSzTx/>
              <a:buFont typeface="Arial" panose="020B0604020202020204" pitchFamily="34" charset="0"/>
              <a:buChar char="•"/>
              <a:tabLst/>
              <a:defRPr b="0" i="0">
                <a:latin typeface="Franklin Gothic Book" panose="020B0503020102020204" pitchFamily="34" charset="0"/>
                <a:ea typeface="Franklin Gothic Book" panose="020B0503020102020204" pitchFamily="34" charset="0"/>
                <a:cs typeface="Franklin Gothic Book" panose="020B0503020102020204" pitchFamily="34" charset="0"/>
              </a:defRPr>
            </a:lvl3pPr>
            <a:lvl4pPr marL="1154113" marR="0" indent="-317500" algn="l" defTabSz="1219170" rtl="0" eaLnBrk="1" fontAlgn="auto" latinLnBrk="0" hangingPunct="1">
              <a:lnSpc>
                <a:spcPct val="110000"/>
              </a:lnSpc>
              <a:spcBef>
                <a:spcPts val="800"/>
              </a:spcBef>
              <a:spcAft>
                <a:spcPts val="0"/>
              </a:spcAft>
              <a:buClr>
                <a:srgbClr val="686868"/>
              </a:buClr>
              <a:buSzTx/>
              <a:buFont typeface="Arial" panose="020B0604020202020204" pitchFamily="34" charset="0"/>
              <a:buChar char="•"/>
              <a:tabLst/>
              <a:defRPr sz="1400"/>
            </a:lvl4pPr>
            <a:lvl5pPr marL="1443038" marR="0" indent="-317500" algn="l" defTabSz="1219170" rtl="0" eaLnBrk="1" fontAlgn="auto" latinLnBrk="0" hangingPunct="1">
              <a:lnSpc>
                <a:spcPct val="110000"/>
              </a:lnSpc>
              <a:spcBef>
                <a:spcPts val="600"/>
              </a:spcBef>
              <a:spcAft>
                <a:spcPts val="0"/>
              </a:spcAft>
              <a:buClr>
                <a:srgbClr val="686868"/>
              </a:buClr>
              <a:buSzTx/>
              <a:buFont typeface="Arial" panose="020B0604020202020204" pitchFamily="34" charset="0"/>
              <a:buChar char="•"/>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a:p>
            <a:pPr marL="287338" marR="0" lvl="0" indent="-287338" algn="l" defTabSz="1219170" rtl="0" eaLnBrk="1" fontAlgn="auto" latinLnBrk="0" hangingPunct="1">
              <a:lnSpc>
                <a:spcPct val="90000"/>
              </a:lnSpc>
              <a:spcBef>
                <a:spcPts val="1333"/>
              </a:spcBef>
              <a:spcAft>
                <a:spcPts val="0"/>
              </a:spcAft>
              <a:buClr>
                <a:srgbClr val="C02026"/>
              </a:buClr>
              <a:buSzTx/>
              <a:buFont typeface="Wingdings" pitchFamily="2" charset="2"/>
              <a:buChar char="§"/>
              <a:tabLst/>
              <a:defRPr/>
            </a:pPr>
            <a:endParaRPr kumimoji="0" lang="en-US" sz="1400" b="0" i="0" u="none" strike="noStrike" kern="1200" cap="none" spc="0" normalizeH="0" baseline="0" noProof="0" dirty="0">
              <a:ln>
                <a:noFill/>
              </a:ln>
              <a:solidFill>
                <a:srgbClr val="000000"/>
              </a:solidFill>
              <a:effectLst/>
              <a:uLnTx/>
              <a:uFillTx/>
              <a:latin typeface="Franklin Gothic Book" charset="0"/>
            </a:endParaRPr>
          </a:p>
          <a:p>
            <a:pPr marL="287338" marR="0" lvl="0" indent="-287338" algn="l" defTabSz="1219170" rtl="0" eaLnBrk="1" fontAlgn="auto" latinLnBrk="0" hangingPunct="1">
              <a:lnSpc>
                <a:spcPct val="90000"/>
              </a:lnSpc>
              <a:spcBef>
                <a:spcPts val="1333"/>
              </a:spcBef>
              <a:spcAft>
                <a:spcPts val="0"/>
              </a:spcAft>
              <a:buClr>
                <a:srgbClr val="C02026"/>
              </a:buClr>
              <a:buSzTx/>
              <a:buFont typeface="Wingdings" pitchFamily="2" charset="2"/>
              <a:buChar char="§"/>
              <a:tabLst/>
              <a:defRPr/>
            </a:pPr>
            <a:endParaRPr kumimoji="0" lang="en-US" sz="1400" b="0" i="0" u="none" strike="noStrike" kern="1200" cap="none" spc="0" normalizeH="0" baseline="0" noProof="0" dirty="0">
              <a:ln>
                <a:noFill/>
              </a:ln>
              <a:solidFill>
                <a:srgbClr val="000000"/>
              </a:solidFill>
              <a:effectLst/>
              <a:uLnTx/>
              <a:uFillTx/>
              <a:latin typeface="Franklin Gothic Book" charset="0"/>
            </a:endParaRPr>
          </a:p>
        </p:txBody>
      </p:sp>
      <p:sp>
        <p:nvSpPr>
          <p:cNvPr id="14" name="Content Placeholder 7"/>
          <p:cNvSpPr>
            <a:spLocks noGrp="1"/>
          </p:cNvSpPr>
          <p:nvPr>
            <p:ph sz="half" idx="1" hasCustomPrompt="1"/>
          </p:nvPr>
        </p:nvSpPr>
        <p:spPr>
          <a:xfrm>
            <a:off x="671332" y="5833641"/>
            <a:ext cx="15017294" cy="1828801"/>
          </a:xfrm>
        </p:spPr>
        <p:txBody>
          <a:bodyPr/>
          <a:lstStyle/>
          <a:p>
            <a:r>
              <a:rPr lang="en-US" dirty="0"/>
              <a:t>Title Text Level 1 (24pt Demi)</a:t>
            </a:r>
          </a:p>
          <a:p>
            <a:pPr lvl="1"/>
            <a:r>
              <a:rPr lang="en-US" dirty="0"/>
              <a:t>A bullet item can have a text block below – Level 2.  A bullet item can have a text block below.  A bullet item can have a text block below.  A bullet item can have a text block below.  A bullet item can have a text block below.  (18pt Book) </a:t>
            </a:r>
          </a:p>
        </p:txBody>
      </p:sp>
      <p:sp>
        <p:nvSpPr>
          <p:cNvPr id="15" name="Text Placeholder 7"/>
          <p:cNvSpPr>
            <a:spLocks noGrp="1"/>
          </p:cNvSpPr>
          <p:nvPr>
            <p:ph type="body" sz="quarter" idx="13"/>
          </p:nvPr>
        </p:nvSpPr>
        <p:spPr>
          <a:xfrm>
            <a:off x="467179" y="8158162"/>
            <a:ext cx="15328473" cy="523875"/>
          </a:xfrm>
          <a:solidFill>
            <a:schemeClr val="accent1"/>
          </a:solidFill>
        </p:spPr>
        <p:txBody>
          <a:bodyPr anchor="ctr">
            <a:noAutofit/>
          </a:bodyPr>
          <a:lstStyle>
            <a:lvl1pPr algn="ctr">
              <a:defRPr sz="2000" b="0" cap="all" baseline="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p:txBody>
      </p:sp>
      <p:sp>
        <p:nvSpPr>
          <p:cNvPr id="16" name="Footer Placeholder 4"/>
          <p:cNvSpPr>
            <a:spLocks noGrp="1"/>
          </p:cNvSpPr>
          <p:nvPr>
            <p:ph type="ftr" sz="quarter" idx="3"/>
          </p:nvPr>
        </p:nvSpPr>
        <p:spPr>
          <a:xfrm>
            <a:off x="467180" y="8804134"/>
            <a:ext cx="6443417" cy="177287"/>
          </a:xfrm>
          <a:prstGeom prst="rect">
            <a:avLst/>
          </a:prstGeom>
        </p:spPr>
        <p:txBody>
          <a:bodyPr vert="horz" lIns="0" tIns="0" rIns="0" bIns="0" rtlCol="0" anchor="ctr"/>
          <a:lstStyle>
            <a:lvl1pPr algn="l">
              <a:defRPr sz="900">
                <a:solidFill>
                  <a:srgbClr val="797979"/>
                </a:solidFill>
                <a:latin typeface="Franklin Gothic Book" charset="0"/>
                <a:ea typeface="Franklin Gothic Book" charset="0"/>
                <a:cs typeface="Franklin Gothic Book" charset="0"/>
              </a:defRPr>
            </a:lvl1pPr>
          </a:lstStyle>
          <a:p>
            <a:r>
              <a:rPr lang="en-US" dirty="0"/>
              <a:t>Confidential Information. Use and disclosure limited for Gates business purposes only. ©2018 Gates Inc. All rights reserved. </a:t>
            </a: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tent Quads ">
    <p:spTree>
      <p:nvGrpSpPr>
        <p:cNvPr id="1" name=""/>
        <p:cNvGrpSpPr/>
        <p:nvPr/>
      </p:nvGrpSpPr>
      <p:grpSpPr>
        <a:xfrm>
          <a:off x="0" y="0"/>
          <a:ext cx="0" cy="0"/>
          <a:chOff x="0" y="0"/>
          <a:chExt cx="0" cy="0"/>
        </a:xfrm>
      </p:grpSpPr>
      <p:sp>
        <p:nvSpPr>
          <p:cNvPr id="37" name="Content Placeholder 2"/>
          <p:cNvSpPr>
            <a:spLocks noGrp="1"/>
          </p:cNvSpPr>
          <p:nvPr>
            <p:ph idx="32"/>
          </p:nvPr>
        </p:nvSpPr>
        <p:spPr>
          <a:xfrm>
            <a:off x="8329138" y="2017058"/>
            <a:ext cx="3470430" cy="2560320"/>
          </a:xfrm>
        </p:spPr>
        <p:txBody>
          <a:bodyPr lIns="0" tIns="0" rIns="0" bIns="0"/>
          <a:lstStyle>
            <a:lvl1pPr marL="0" indent="0">
              <a:buNone/>
              <a:defRPr sz="2400" b="0" i="0" cap="none" baseline="0">
                <a:latin typeface="Franklin Gothic Demi" charset="0"/>
              </a:defRPr>
            </a:lvl1pPr>
            <a:lvl2pPr marL="4763" indent="0">
              <a:spcBef>
                <a:spcPts val="600"/>
              </a:spcBef>
              <a:buNone/>
              <a:tabLst/>
              <a:defRPr sz="1800">
                <a:latin typeface="Franklin Gothic Book" charset="0"/>
                <a:ea typeface="Franklin Gothic Book" charset="0"/>
                <a:cs typeface="Franklin Gothic Book" charset="0"/>
              </a:defRPr>
            </a:lvl2pPr>
            <a:lvl3pPr marL="274320" indent="-182880">
              <a:buClr>
                <a:schemeClr val="accent1"/>
              </a:buClr>
              <a:buFont typeface="Wingdings" charset="2"/>
              <a:buChar char="§"/>
              <a:tabLst/>
              <a:defRPr b="0" i="0">
                <a:latin typeface="Franklin Gothic Book" charset="0"/>
                <a:ea typeface="Franklin Gothic Book" charset="0"/>
                <a:cs typeface="Franklin Gothic Book" charset="0"/>
              </a:defRPr>
            </a:lvl3pPr>
            <a:lvl4pPr marL="274320" indent="0">
              <a:spcBef>
                <a:spcPts val="400"/>
              </a:spcBef>
              <a:buNone/>
              <a:tabLst/>
              <a:defRPr sz="1400"/>
            </a:lvl4pPr>
            <a:lvl5pPr marL="640080" indent="-137160">
              <a:buFont typeface="Arial" charset="0"/>
              <a:buChar char="•"/>
              <a:tabLst/>
              <a:defRPr sz="1400"/>
            </a:lvl5pPr>
          </a:lstStyle>
          <a:p>
            <a:pPr lvl="0"/>
            <a:r>
              <a:rPr lang="en-US" dirty="0"/>
              <a:t>Click to edit Master text styles</a:t>
            </a:r>
          </a:p>
        </p:txBody>
      </p:sp>
      <p:sp>
        <p:nvSpPr>
          <p:cNvPr id="38" name="Content Placeholder 2"/>
          <p:cNvSpPr>
            <a:spLocks noGrp="1"/>
          </p:cNvSpPr>
          <p:nvPr>
            <p:ph idx="33"/>
          </p:nvPr>
        </p:nvSpPr>
        <p:spPr>
          <a:xfrm>
            <a:off x="8329138" y="4916245"/>
            <a:ext cx="3470430" cy="2560320"/>
          </a:xfrm>
        </p:spPr>
        <p:txBody>
          <a:bodyPr lIns="0" tIns="0" rIns="0" bIns="0"/>
          <a:lstStyle>
            <a:lvl1pPr marL="0" indent="0">
              <a:buNone/>
              <a:defRPr sz="2400" b="0" i="0" cap="none" baseline="0">
                <a:latin typeface="Franklin Gothic Demi" charset="0"/>
              </a:defRPr>
            </a:lvl1pPr>
            <a:lvl2pPr marL="4763" indent="0">
              <a:spcBef>
                <a:spcPts val="600"/>
              </a:spcBef>
              <a:buNone/>
              <a:tabLst/>
              <a:defRPr sz="1800">
                <a:latin typeface="Franklin Gothic Book" charset="0"/>
                <a:ea typeface="Franklin Gothic Book" charset="0"/>
                <a:cs typeface="Franklin Gothic Book" charset="0"/>
              </a:defRPr>
            </a:lvl2pPr>
            <a:lvl3pPr marL="274320" indent="-182880">
              <a:buClr>
                <a:schemeClr val="accent1"/>
              </a:buClr>
              <a:buFont typeface="Wingdings" charset="2"/>
              <a:buChar char="§"/>
              <a:tabLst/>
              <a:defRPr b="0" i="0">
                <a:latin typeface="Franklin Gothic Book" charset="0"/>
                <a:ea typeface="Franklin Gothic Book" charset="0"/>
                <a:cs typeface="Franklin Gothic Book" charset="0"/>
              </a:defRPr>
            </a:lvl3pPr>
            <a:lvl4pPr marL="274320" indent="0">
              <a:spcBef>
                <a:spcPts val="400"/>
              </a:spcBef>
              <a:buNone/>
              <a:tabLst/>
              <a:defRPr sz="1400"/>
            </a:lvl4pPr>
            <a:lvl5pPr marL="640080" indent="-137160">
              <a:buFont typeface="Arial" charset="0"/>
              <a:buChar char="•"/>
              <a:tabLst/>
              <a:defRPr sz="1400"/>
            </a:lvl5pPr>
          </a:lstStyle>
          <a:p>
            <a:pPr lvl="0"/>
            <a:r>
              <a:rPr lang="en-US" dirty="0"/>
              <a:t>Click to edit Master text styles</a:t>
            </a:r>
          </a:p>
        </p:txBody>
      </p:sp>
      <p:sp>
        <p:nvSpPr>
          <p:cNvPr id="2" name="Title 1"/>
          <p:cNvSpPr>
            <a:spLocks noGrp="1"/>
          </p:cNvSpPr>
          <p:nvPr>
            <p:ph type="title"/>
          </p:nvPr>
        </p:nvSpPr>
        <p:spPr/>
        <p:txBody>
          <a:bodyPr/>
          <a:lstStyle/>
          <a:p>
            <a:r>
              <a:rPr lang="en-US"/>
              <a:t>Click to edit Master title style</a:t>
            </a:r>
          </a:p>
        </p:txBody>
      </p:sp>
      <p:sp>
        <p:nvSpPr>
          <p:cNvPr id="5" name="Slide Number Placeholder 4"/>
          <p:cNvSpPr>
            <a:spLocks noGrp="1"/>
          </p:cNvSpPr>
          <p:nvPr>
            <p:ph type="sldNum" sz="quarter" idx="12"/>
          </p:nvPr>
        </p:nvSpPr>
        <p:spPr>
          <a:xfrm>
            <a:off x="14777734" y="362268"/>
            <a:ext cx="933754" cy="486833"/>
          </a:xfrm>
        </p:spPr>
        <p:txBody>
          <a:bodyPr/>
          <a:lstStyle/>
          <a:p>
            <a:fld id="{5F9B62A2-F893-D445-AA6E-547C886B98E8}" type="slidenum">
              <a:rPr lang="en-US" smtClean="0"/>
              <a:t>‹#›</a:t>
            </a:fld>
            <a:endParaRPr lang="en-US"/>
          </a:p>
        </p:txBody>
      </p:sp>
      <p:cxnSp>
        <p:nvCxnSpPr>
          <p:cNvPr id="23" name="Straight Connector 22"/>
          <p:cNvCxnSpPr/>
          <p:nvPr userDrawn="1"/>
        </p:nvCxnSpPr>
        <p:spPr>
          <a:xfrm flipH="1">
            <a:off x="467181" y="4748228"/>
            <a:ext cx="15310982" cy="0"/>
          </a:xfrm>
          <a:prstGeom prst="line">
            <a:avLst/>
          </a:prstGeom>
          <a:ln w="12700">
            <a:solidFill>
              <a:srgbClr val="727272">
                <a:alpha val="20000"/>
              </a:srgb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p:nvPr userDrawn="1"/>
        </p:nvCxnSpPr>
        <p:spPr>
          <a:xfrm flipV="1">
            <a:off x="8095365" y="2017058"/>
            <a:ext cx="0" cy="5486400"/>
          </a:xfrm>
          <a:prstGeom prst="line">
            <a:avLst/>
          </a:prstGeom>
          <a:ln w="12700">
            <a:solidFill>
              <a:srgbClr val="727272">
                <a:alpha val="20000"/>
              </a:srgbClr>
            </a:solidFill>
          </a:ln>
        </p:spPr>
        <p:style>
          <a:lnRef idx="1">
            <a:schemeClr val="accent1"/>
          </a:lnRef>
          <a:fillRef idx="0">
            <a:schemeClr val="accent1"/>
          </a:fillRef>
          <a:effectRef idx="0">
            <a:schemeClr val="accent1"/>
          </a:effectRef>
          <a:fontRef idx="minor">
            <a:schemeClr val="tx1"/>
          </a:fontRef>
        </p:style>
      </p:cxnSp>
      <p:sp>
        <p:nvSpPr>
          <p:cNvPr id="29" name="Text Placeholder 5"/>
          <p:cNvSpPr>
            <a:spLocks noGrp="1"/>
          </p:cNvSpPr>
          <p:nvPr>
            <p:ph type="body" sz="quarter" idx="25" hasCustomPrompt="1"/>
          </p:nvPr>
        </p:nvSpPr>
        <p:spPr>
          <a:xfrm>
            <a:off x="4417218" y="2017058"/>
            <a:ext cx="3474720" cy="256032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0" name="Text Placeholder 5"/>
          <p:cNvSpPr>
            <a:spLocks noGrp="1"/>
          </p:cNvSpPr>
          <p:nvPr>
            <p:ph type="body" sz="quarter" idx="26" hasCustomPrompt="1"/>
          </p:nvPr>
        </p:nvSpPr>
        <p:spPr>
          <a:xfrm>
            <a:off x="4417218" y="4916245"/>
            <a:ext cx="3474720" cy="256032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3" name="Text Placeholder 5"/>
          <p:cNvSpPr>
            <a:spLocks noGrp="1"/>
          </p:cNvSpPr>
          <p:nvPr>
            <p:ph type="body" sz="quarter" idx="29" hasCustomPrompt="1"/>
          </p:nvPr>
        </p:nvSpPr>
        <p:spPr>
          <a:xfrm>
            <a:off x="12236768" y="2017058"/>
            <a:ext cx="3474720" cy="256032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4" name="Text Placeholder 5"/>
          <p:cNvSpPr>
            <a:spLocks noGrp="1"/>
          </p:cNvSpPr>
          <p:nvPr>
            <p:ph type="body" sz="quarter" idx="30" hasCustomPrompt="1"/>
          </p:nvPr>
        </p:nvSpPr>
        <p:spPr>
          <a:xfrm>
            <a:off x="12236768" y="4916245"/>
            <a:ext cx="3474720" cy="256032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5" name="Content Placeholder 2"/>
          <p:cNvSpPr>
            <a:spLocks noGrp="1"/>
          </p:cNvSpPr>
          <p:nvPr>
            <p:ph idx="15"/>
          </p:nvPr>
        </p:nvSpPr>
        <p:spPr>
          <a:xfrm>
            <a:off x="509588" y="2017058"/>
            <a:ext cx="3470430" cy="2560320"/>
          </a:xfrm>
        </p:spPr>
        <p:txBody>
          <a:bodyPr lIns="0" tIns="0" rIns="0" bIns="0"/>
          <a:lstStyle>
            <a:lvl1pPr marL="0" indent="0">
              <a:buNone/>
              <a:defRPr sz="2400" b="0" i="0" cap="none" baseline="0">
                <a:latin typeface="Franklin Gothic Demi" charset="0"/>
              </a:defRPr>
            </a:lvl1pPr>
            <a:lvl2pPr marL="4763" indent="0">
              <a:spcBef>
                <a:spcPts val="600"/>
              </a:spcBef>
              <a:buNone/>
              <a:tabLst/>
              <a:defRPr sz="1800">
                <a:latin typeface="Franklin Gothic Book" charset="0"/>
                <a:ea typeface="Franklin Gothic Book" charset="0"/>
                <a:cs typeface="Franklin Gothic Book" charset="0"/>
              </a:defRPr>
            </a:lvl2pPr>
            <a:lvl3pPr marL="274320" indent="-182880">
              <a:buClr>
                <a:schemeClr val="accent1"/>
              </a:buClr>
              <a:buFont typeface="Wingdings" charset="2"/>
              <a:buChar char="§"/>
              <a:tabLst/>
              <a:defRPr b="0" i="0">
                <a:latin typeface="Franklin Gothic Book" charset="0"/>
                <a:ea typeface="Franklin Gothic Book" charset="0"/>
                <a:cs typeface="Franklin Gothic Book" charset="0"/>
              </a:defRPr>
            </a:lvl3pPr>
            <a:lvl4pPr marL="274320" indent="0">
              <a:spcBef>
                <a:spcPts val="400"/>
              </a:spcBef>
              <a:buNone/>
              <a:tabLst/>
              <a:defRPr sz="1400"/>
            </a:lvl4pPr>
            <a:lvl5pPr marL="640080" indent="-137160">
              <a:buFont typeface="Arial" charset="0"/>
              <a:buChar char="•"/>
              <a:tabLst/>
              <a:defRPr sz="1400"/>
            </a:lvl5pPr>
          </a:lstStyle>
          <a:p>
            <a:pPr lvl="0"/>
            <a:r>
              <a:rPr lang="en-US" dirty="0"/>
              <a:t>Click to edit Master text styles</a:t>
            </a:r>
          </a:p>
        </p:txBody>
      </p:sp>
      <p:sp>
        <p:nvSpPr>
          <p:cNvPr id="36" name="Content Placeholder 2"/>
          <p:cNvSpPr>
            <a:spLocks noGrp="1"/>
          </p:cNvSpPr>
          <p:nvPr>
            <p:ph idx="31"/>
          </p:nvPr>
        </p:nvSpPr>
        <p:spPr>
          <a:xfrm>
            <a:off x="509588" y="4916245"/>
            <a:ext cx="3470430" cy="2560320"/>
          </a:xfrm>
        </p:spPr>
        <p:txBody>
          <a:bodyPr lIns="0" tIns="0" rIns="0" bIns="0"/>
          <a:lstStyle>
            <a:lvl1pPr marL="0" indent="0">
              <a:buNone/>
              <a:defRPr sz="2400" b="0" i="0" cap="none" baseline="0">
                <a:latin typeface="Franklin Gothic Demi" charset="0"/>
              </a:defRPr>
            </a:lvl1pPr>
            <a:lvl2pPr marL="4763" indent="0">
              <a:spcBef>
                <a:spcPts val="600"/>
              </a:spcBef>
              <a:buNone/>
              <a:tabLst/>
              <a:defRPr sz="1800">
                <a:latin typeface="Franklin Gothic Book" charset="0"/>
                <a:ea typeface="Franklin Gothic Book" charset="0"/>
                <a:cs typeface="Franklin Gothic Book" charset="0"/>
              </a:defRPr>
            </a:lvl2pPr>
            <a:lvl3pPr marL="274320" indent="-182880">
              <a:buClr>
                <a:schemeClr val="accent1"/>
              </a:buClr>
              <a:buFont typeface="Wingdings" charset="2"/>
              <a:buChar char="§"/>
              <a:tabLst/>
              <a:defRPr b="0" i="0">
                <a:latin typeface="Franklin Gothic Book" charset="0"/>
                <a:ea typeface="Franklin Gothic Book" charset="0"/>
                <a:cs typeface="Franklin Gothic Book" charset="0"/>
              </a:defRPr>
            </a:lvl3pPr>
            <a:lvl4pPr marL="274320" indent="0">
              <a:spcBef>
                <a:spcPts val="400"/>
              </a:spcBef>
              <a:buNone/>
              <a:tabLst/>
              <a:defRPr sz="1400"/>
            </a:lvl4pPr>
            <a:lvl5pPr marL="640080" indent="-137160">
              <a:buFont typeface="Arial" charset="0"/>
              <a:buChar char="•"/>
              <a:tabLst/>
              <a:defRPr sz="1400"/>
            </a:lvl5pPr>
          </a:lstStyle>
          <a:p>
            <a:pPr lvl="0"/>
            <a:r>
              <a:rPr lang="en-US" dirty="0"/>
              <a:t>Click to edit Master text styles</a:t>
            </a:r>
          </a:p>
        </p:txBody>
      </p:sp>
      <p:sp>
        <p:nvSpPr>
          <p:cNvPr id="16" name="Text Placeholder 7"/>
          <p:cNvSpPr>
            <a:spLocks noGrp="1"/>
          </p:cNvSpPr>
          <p:nvPr>
            <p:ph type="body" sz="quarter" idx="13"/>
          </p:nvPr>
        </p:nvSpPr>
        <p:spPr>
          <a:xfrm>
            <a:off x="467179" y="8158162"/>
            <a:ext cx="15328473" cy="523875"/>
          </a:xfrm>
          <a:solidFill>
            <a:schemeClr val="accent1"/>
          </a:solidFill>
        </p:spPr>
        <p:txBody>
          <a:bodyPr anchor="ctr">
            <a:noAutofit/>
          </a:bodyPr>
          <a:lstStyle>
            <a:lvl1pPr algn="ctr">
              <a:defRPr sz="2000" b="0" cap="all" baseline="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p:txBody>
      </p:sp>
      <p:sp>
        <p:nvSpPr>
          <p:cNvPr id="17" name="Footer Placeholder 4"/>
          <p:cNvSpPr>
            <a:spLocks noGrp="1"/>
          </p:cNvSpPr>
          <p:nvPr>
            <p:ph type="ftr" sz="quarter" idx="3"/>
          </p:nvPr>
        </p:nvSpPr>
        <p:spPr>
          <a:xfrm>
            <a:off x="467180" y="8804134"/>
            <a:ext cx="6443417" cy="177287"/>
          </a:xfrm>
          <a:prstGeom prst="rect">
            <a:avLst/>
          </a:prstGeom>
        </p:spPr>
        <p:txBody>
          <a:bodyPr vert="horz" lIns="0" tIns="0" rIns="0" bIns="0" rtlCol="0" anchor="ctr"/>
          <a:lstStyle>
            <a:lvl1pPr algn="l">
              <a:defRPr sz="900">
                <a:solidFill>
                  <a:srgbClr val="797979"/>
                </a:solidFill>
                <a:latin typeface="Franklin Gothic Book" charset="0"/>
                <a:ea typeface="Franklin Gothic Book" charset="0"/>
                <a:cs typeface="Franklin Gothic Book" charset="0"/>
              </a:defRPr>
            </a:lvl1pPr>
          </a:lstStyle>
          <a:p>
            <a:r>
              <a:rPr lang="en-US" dirty="0"/>
              <a:t>Confidential Information. Use and disclosure limited for Gates business purposes only. ©2018 Gates Inc. All rights reserved. </a:t>
            </a:r>
          </a:p>
        </p:txBody>
      </p:sp>
    </p:spTree>
    <p:extLst>
      <p:ext uri="{BB962C8B-B14F-4D97-AF65-F5344CB8AC3E}">
        <p14:creationId xmlns:p14="http://schemas.microsoft.com/office/powerpoint/2010/main" val="160268079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ent Quads Fram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5" name="Slide Number Placeholder 4"/>
          <p:cNvSpPr>
            <a:spLocks noGrp="1"/>
          </p:cNvSpPr>
          <p:nvPr>
            <p:ph type="sldNum" sz="quarter" idx="12"/>
          </p:nvPr>
        </p:nvSpPr>
        <p:spPr>
          <a:xfrm>
            <a:off x="14777734" y="362268"/>
            <a:ext cx="933754" cy="486833"/>
          </a:xfrm>
        </p:spPr>
        <p:txBody>
          <a:bodyPr/>
          <a:lstStyle/>
          <a:p>
            <a:fld id="{5F9B62A2-F893-D445-AA6E-547C886B98E8}" type="slidenum">
              <a:rPr lang="en-US" smtClean="0"/>
              <a:t>‹#›</a:t>
            </a:fld>
            <a:endParaRPr lang="en-US"/>
          </a:p>
        </p:txBody>
      </p:sp>
      <p:sp>
        <p:nvSpPr>
          <p:cNvPr id="29" name="Text Placeholder 5"/>
          <p:cNvSpPr>
            <a:spLocks noGrp="1"/>
          </p:cNvSpPr>
          <p:nvPr>
            <p:ph type="body" sz="quarter" idx="25"/>
          </p:nvPr>
        </p:nvSpPr>
        <p:spPr>
          <a:xfrm>
            <a:off x="4417218" y="2017058"/>
            <a:ext cx="3474720" cy="256032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0" name="Text Placeholder 5"/>
          <p:cNvSpPr>
            <a:spLocks noGrp="1"/>
          </p:cNvSpPr>
          <p:nvPr>
            <p:ph type="body" sz="quarter" idx="26"/>
          </p:nvPr>
        </p:nvSpPr>
        <p:spPr>
          <a:xfrm>
            <a:off x="4417218" y="4916245"/>
            <a:ext cx="3474720" cy="25603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3" name="Text Placeholder 5"/>
          <p:cNvSpPr>
            <a:spLocks noGrp="1"/>
          </p:cNvSpPr>
          <p:nvPr>
            <p:ph type="body" sz="quarter" idx="29"/>
          </p:nvPr>
        </p:nvSpPr>
        <p:spPr>
          <a:xfrm>
            <a:off x="12236768" y="2017058"/>
            <a:ext cx="3474720" cy="256032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4" name="Text Placeholder 5"/>
          <p:cNvSpPr>
            <a:spLocks noGrp="1"/>
          </p:cNvSpPr>
          <p:nvPr>
            <p:ph type="body" sz="quarter" idx="30"/>
          </p:nvPr>
        </p:nvSpPr>
        <p:spPr>
          <a:xfrm>
            <a:off x="12236768" y="4916245"/>
            <a:ext cx="3474720" cy="25603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Rectangle 15"/>
          <p:cNvSpPr/>
          <p:nvPr userDrawn="1"/>
        </p:nvSpPr>
        <p:spPr>
          <a:xfrm>
            <a:off x="8329885" y="2005216"/>
            <a:ext cx="3657600" cy="2560320"/>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p:cNvSpPr/>
          <p:nvPr userDrawn="1"/>
        </p:nvSpPr>
        <p:spPr>
          <a:xfrm>
            <a:off x="8329885" y="4907280"/>
            <a:ext cx="3657600" cy="2560320"/>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p:cNvSpPr/>
          <p:nvPr userDrawn="1"/>
        </p:nvSpPr>
        <p:spPr>
          <a:xfrm>
            <a:off x="504322" y="2005216"/>
            <a:ext cx="3657600" cy="2560320"/>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p:cNvSpPr/>
          <p:nvPr userDrawn="1"/>
        </p:nvSpPr>
        <p:spPr>
          <a:xfrm>
            <a:off x="504322" y="4907280"/>
            <a:ext cx="3657600" cy="2560320"/>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Content Placeholder 2"/>
          <p:cNvSpPr>
            <a:spLocks noGrp="1"/>
          </p:cNvSpPr>
          <p:nvPr>
            <p:ph idx="15"/>
          </p:nvPr>
        </p:nvSpPr>
        <p:spPr>
          <a:xfrm>
            <a:off x="612050" y="2110180"/>
            <a:ext cx="3474720" cy="2377440"/>
          </a:xfrm>
        </p:spPr>
        <p:txBody>
          <a:bodyPr lIns="0" tIns="0" rIns="0" bIns="0"/>
          <a:lstStyle>
            <a:lvl1pPr marL="0" indent="0">
              <a:buNone/>
              <a:defRPr sz="2400" b="0" i="0" cap="none" baseline="0">
                <a:latin typeface="Franklin Gothic Demi" charset="0"/>
              </a:defRPr>
            </a:lvl1pPr>
            <a:lvl2pPr marL="4763" indent="0">
              <a:spcBef>
                <a:spcPts val="600"/>
              </a:spcBef>
              <a:buNone/>
              <a:tabLst/>
              <a:defRPr sz="1800">
                <a:latin typeface="Franklin Gothic Book" charset="0"/>
                <a:ea typeface="Franklin Gothic Book" charset="0"/>
                <a:cs typeface="Franklin Gothic Book" charset="0"/>
              </a:defRPr>
            </a:lvl2pPr>
            <a:lvl3pPr marL="274320" indent="-182880">
              <a:buClr>
                <a:schemeClr val="accent1"/>
              </a:buClr>
              <a:buFont typeface="Wingdings" charset="2"/>
              <a:buChar char="§"/>
              <a:tabLst/>
              <a:defRPr b="0" i="0">
                <a:latin typeface="Franklin Gothic Book" charset="0"/>
                <a:ea typeface="Franklin Gothic Book" charset="0"/>
                <a:cs typeface="Franklin Gothic Book" charset="0"/>
              </a:defRPr>
            </a:lvl3pPr>
            <a:lvl4pPr marL="274320" indent="0">
              <a:spcBef>
                <a:spcPts val="400"/>
              </a:spcBef>
              <a:buNone/>
              <a:tabLst/>
              <a:defRPr sz="1400"/>
            </a:lvl4pPr>
            <a:lvl5pPr marL="640080" indent="-137160">
              <a:buFont typeface="Arial" charset="0"/>
              <a:buChar char="•"/>
              <a:tabLst/>
              <a:defRPr sz="1400"/>
            </a:lvl5pPr>
          </a:lstStyle>
          <a:p>
            <a:pPr lvl="0"/>
            <a:r>
              <a:rPr lang="en-US" dirty="0"/>
              <a:t>Click to edit Master text styles</a:t>
            </a:r>
          </a:p>
        </p:txBody>
      </p:sp>
      <p:sp>
        <p:nvSpPr>
          <p:cNvPr id="36" name="Content Placeholder 2"/>
          <p:cNvSpPr>
            <a:spLocks noGrp="1"/>
          </p:cNvSpPr>
          <p:nvPr>
            <p:ph idx="31"/>
          </p:nvPr>
        </p:nvSpPr>
        <p:spPr>
          <a:xfrm>
            <a:off x="612050" y="5009367"/>
            <a:ext cx="3474720" cy="2377440"/>
          </a:xfrm>
        </p:spPr>
        <p:txBody>
          <a:bodyPr lIns="0" tIns="0" rIns="0" bIns="0"/>
          <a:lstStyle>
            <a:lvl1pPr marL="0" indent="0">
              <a:buNone/>
              <a:defRPr sz="2400" b="0" i="0" cap="none" baseline="0">
                <a:latin typeface="Franklin Gothic Demi" charset="0"/>
              </a:defRPr>
            </a:lvl1pPr>
            <a:lvl2pPr marL="4763" indent="0">
              <a:spcBef>
                <a:spcPts val="600"/>
              </a:spcBef>
              <a:buNone/>
              <a:tabLst/>
              <a:defRPr sz="1800">
                <a:latin typeface="Franklin Gothic Book" charset="0"/>
                <a:ea typeface="Franklin Gothic Book" charset="0"/>
                <a:cs typeface="Franklin Gothic Book" charset="0"/>
              </a:defRPr>
            </a:lvl2pPr>
            <a:lvl3pPr marL="274320" indent="-182880">
              <a:buClr>
                <a:schemeClr val="accent1"/>
              </a:buClr>
              <a:buFont typeface="Wingdings" charset="2"/>
              <a:buChar char="§"/>
              <a:tabLst/>
              <a:defRPr b="0" i="0">
                <a:latin typeface="Franklin Gothic Book" charset="0"/>
                <a:ea typeface="Franklin Gothic Book" charset="0"/>
                <a:cs typeface="Franklin Gothic Book" charset="0"/>
              </a:defRPr>
            </a:lvl3pPr>
            <a:lvl4pPr marL="274320" indent="0">
              <a:spcBef>
                <a:spcPts val="400"/>
              </a:spcBef>
              <a:buNone/>
              <a:tabLst/>
              <a:defRPr sz="1400"/>
            </a:lvl4pPr>
            <a:lvl5pPr marL="640080" indent="-137160">
              <a:buFont typeface="Arial" charset="0"/>
              <a:buChar char="•"/>
              <a:tabLst/>
              <a:defRPr sz="1400"/>
            </a:lvl5pPr>
          </a:lstStyle>
          <a:p>
            <a:pPr lvl="0"/>
            <a:r>
              <a:rPr lang="en-US" dirty="0"/>
              <a:t>Click to edit Master text styles</a:t>
            </a:r>
          </a:p>
        </p:txBody>
      </p:sp>
      <p:sp>
        <p:nvSpPr>
          <p:cNvPr id="37" name="Content Placeholder 2"/>
          <p:cNvSpPr>
            <a:spLocks noGrp="1"/>
          </p:cNvSpPr>
          <p:nvPr>
            <p:ph idx="32"/>
          </p:nvPr>
        </p:nvSpPr>
        <p:spPr>
          <a:xfrm>
            <a:off x="8431599" y="2110180"/>
            <a:ext cx="3474720" cy="2377440"/>
          </a:xfrm>
        </p:spPr>
        <p:txBody>
          <a:bodyPr lIns="0" tIns="0" rIns="0" bIns="0"/>
          <a:lstStyle>
            <a:lvl1pPr marL="0" indent="0">
              <a:buNone/>
              <a:defRPr sz="2400" b="0" i="0" cap="none" baseline="0">
                <a:latin typeface="Franklin Gothic Demi" charset="0"/>
              </a:defRPr>
            </a:lvl1pPr>
            <a:lvl2pPr marL="4763" indent="0">
              <a:spcBef>
                <a:spcPts val="600"/>
              </a:spcBef>
              <a:buNone/>
              <a:tabLst/>
              <a:defRPr sz="1800">
                <a:latin typeface="Franklin Gothic Book" charset="0"/>
                <a:ea typeface="Franklin Gothic Book" charset="0"/>
                <a:cs typeface="Franklin Gothic Book" charset="0"/>
              </a:defRPr>
            </a:lvl2pPr>
            <a:lvl3pPr marL="274320" indent="-182880">
              <a:buClr>
                <a:schemeClr val="accent1"/>
              </a:buClr>
              <a:buFont typeface="Wingdings" charset="2"/>
              <a:buChar char="§"/>
              <a:tabLst/>
              <a:defRPr b="0" i="0">
                <a:latin typeface="Franklin Gothic Book" charset="0"/>
                <a:ea typeface="Franklin Gothic Book" charset="0"/>
                <a:cs typeface="Franklin Gothic Book" charset="0"/>
              </a:defRPr>
            </a:lvl3pPr>
            <a:lvl4pPr marL="274320" indent="0">
              <a:spcBef>
                <a:spcPts val="400"/>
              </a:spcBef>
              <a:buNone/>
              <a:tabLst/>
              <a:defRPr sz="1400"/>
            </a:lvl4pPr>
            <a:lvl5pPr marL="640080" indent="-137160">
              <a:buFont typeface="Arial" charset="0"/>
              <a:buChar char="•"/>
              <a:tabLst/>
              <a:defRPr sz="1400"/>
            </a:lvl5pPr>
          </a:lstStyle>
          <a:p>
            <a:pPr lvl="0"/>
            <a:r>
              <a:rPr lang="en-US" dirty="0"/>
              <a:t>Click to edit Master text styles</a:t>
            </a:r>
          </a:p>
        </p:txBody>
      </p:sp>
      <p:sp>
        <p:nvSpPr>
          <p:cNvPr id="38" name="Content Placeholder 2"/>
          <p:cNvSpPr>
            <a:spLocks noGrp="1"/>
          </p:cNvSpPr>
          <p:nvPr>
            <p:ph idx="33"/>
          </p:nvPr>
        </p:nvSpPr>
        <p:spPr>
          <a:xfrm>
            <a:off x="8431599" y="5009367"/>
            <a:ext cx="3474720" cy="2377440"/>
          </a:xfrm>
        </p:spPr>
        <p:txBody>
          <a:bodyPr lIns="0" tIns="0" rIns="0" bIns="0"/>
          <a:lstStyle>
            <a:lvl1pPr marL="0" indent="0">
              <a:buNone/>
              <a:defRPr sz="2400" b="0" i="0" cap="none" baseline="0">
                <a:latin typeface="Franklin Gothic Demi" charset="0"/>
              </a:defRPr>
            </a:lvl1pPr>
            <a:lvl2pPr marL="4763" indent="0">
              <a:spcBef>
                <a:spcPts val="600"/>
              </a:spcBef>
              <a:buNone/>
              <a:tabLst/>
              <a:defRPr sz="1800">
                <a:latin typeface="Franklin Gothic Book" charset="0"/>
                <a:ea typeface="Franklin Gothic Book" charset="0"/>
                <a:cs typeface="Franklin Gothic Book" charset="0"/>
              </a:defRPr>
            </a:lvl2pPr>
            <a:lvl3pPr marL="274320" indent="-182880">
              <a:buClr>
                <a:schemeClr val="accent1"/>
              </a:buClr>
              <a:buFont typeface="Wingdings" charset="2"/>
              <a:buChar char="§"/>
              <a:tabLst/>
              <a:defRPr b="0" i="0">
                <a:latin typeface="Franklin Gothic Book" charset="0"/>
                <a:ea typeface="Franklin Gothic Book" charset="0"/>
                <a:cs typeface="Franklin Gothic Book" charset="0"/>
              </a:defRPr>
            </a:lvl3pPr>
            <a:lvl4pPr marL="274320" indent="0">
              <a:spcBef>
                <a:spcPts val="400"/>
              </a:spcBef>
              <a:buNone/>
              <a:tabLst/>
              <a:defRPr sz="1400"/>
            </a:lvl4pPr>
            <a:lvl5pPr marL="640080" indent="-137160">
              <a:buFont typeface="Arial" charset="0"/>
              <a:buChar char="•"/>
              <a:tabLst/>
              <a:defRPr sz="1400"/>
            </a:lvl5pPr>
          </a:lstStyle>
          <a:p>
            <a:pPr lvl="0"/>
            <a:r>
              <a:rPr lang="en-US" dirty="0"/>
              <a:t>Click to edit Master text styles</a:t>
            </a:r>
          </a:p>
        </p:txBody>
      </p:sp>
      <p:sp>
        <p:nvSpPr>
          <p:cNvPr id="20" name="Text Placeholder 7"/>
          <p:cNvSpPr>
            <a:spLocks noGrp="1"/>
          </p:cNvSpPr>
          <p:nvPr>
            <p:ph type="body" sz="quarter" idx="13"/>
          </p:nvPr>
        </p:nvSpPr>
        <p:spPr>
          <a:xfrm>
            <a:off x="467179" y="8158162"/>
            <a:ext cx="15328473" cy="523875"/>
          </a:xfrm>
          <a:solidFill>
            <a:schemeClr val="accent1"/>
          </a:solidFill>
        </p:spPr>
        <p:txBody>
          <a:bodyPr anchor="ctr">
            <a:noAutofit/>
          </a:bodyPr>
          <a:lstStyle>
            <a:lvl1pPr algn="ctr">
              <a:defRPr sz="2000" b="0" cap="all" baseline="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p:txBody>
      </p:sp>
      <p:sp>
        <p:nvSpPr>
          <p:cNvPr id="21" name="Footer Placeholder 4"/>
          <p:cNvSpPr>
            <a:spLocks noGrp="1"/>
          </p:cNvSpPr>
          <p:nvPr>
            <p:ph type="ftr" sz="quarter" idx="3"/>
          </p:nvPr>
        </p:nvSpPr>
        <p:spPr>
          <a:xfrm>
            <a:off x="467180" y="8804134"/>
            <a:ext cx="6443417" cy="177287"/>
          </a:xfrm>
          <a:prstGeom prst="rect">
            <a:avLst/>
          </a:prstGeom>
        </p:spPr>
        <p:txBody>
          <a:bodyPr vert="horz" lIns="0" tIns="0" rIns="0" bIns="0" rtlCol="0" anchor="ctr"/>
          <a:lstStyle>
            <a:lvl1pPr algn="l">
              <a:defRPr sz="900">
                <a:solidFill>
                  <a:srgbClr val="797979"/>
                </a:solidFill>
                <a:latin typeface="Franklin Gothic Book" charset="0"/>
                <a:ea typeface="Franklin Gothic Book" charset="0"/>
                <a:cs typeface="Franklin Gothic Book" charset="0"/>
              </a:defRPr>
            </a:lvl1pPr>
          </a:lstStyle>
          <a:p>
            <a:r>
              <a:rPr lang="en-US" dirty="0"/>
              <a:t>Confidential Information. Use and disclosure limited for Gates business purposes only. ©2018 Gates Inc. All rights reserved. </a:t>
            </a: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mparison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6" name="Slide Number Placeholder 5"/>
          <p:cNvSpPr>
            <a:spLocks noGrp="1"/>
          </p:cNvSpPr>
          <p:nvPr>
            <p:ph type="sldNum" sz="quarter" idx="12"/>
          </p:nvPr>
        </p:nvSpPr>
        <p:spPr/>
        <p:txBody>
          <a:bodyPr/>
          <a:lstStyle/>
          <a:p>
            <a:fld id="{5F9B62A2-F893-D445-AA6E-547C886B98E8}" type="slidenum">
              <a:rPr lang="en-US" smtClean="0"/>
              <a:t>‹#›</a:t>
            </a:fld>
            <a:endParaRPr lang="en-US"/>
          </a:p>
        </p:txBody>
      </p:sp>
      <p:cxnSp>
        <p:nvCxnSpPr>
          <p:cNvPr id="7" name="Straight Connector 6"/>
          <p:cNvCxnSpPr/>
          <p:nvPr userDrawn="1"/>
        </p:nvCxnSpPr>
        <p:spPr>
          <a:xfrm flipV="1">
            <a:off x="8095365" y="2017058"/>
            <a:ext cx="0" cy="5486400"/>
          </a:xfrm>
          <a:prstGeom prst="line">
            <a:avLst/>
          </a:prstGeom>
          <a:ln w="12700">
            <a:solidFill>
              <a:srgbClr val="727272">
                <a:alpha val="20000"/>
              </a:srgbClr>
            </a:solidFill>
          </a:ln>
        </p:spPr>
        <p:style>
          <a:lnRef idx="1">
            <a:schemeClr val="accent1"/>
          </a:lnRef>
          <a:fillRef idx="0">
            <a:schemeClr val="accent1"/>
          </a:fillRef>
          <a:effectRef idx="0">
            <a:schemeClr val="accent1"/>
          </a:effectRef>
          <a:fontRef idx="minor">
            <a:schemeClr val="tx1"/>
          </a:fontRef>
        </p:style>
      </p:cxnSp>
      <p:sp>
        <p:nvSpPr>
          <p:cNvPr id="9" name="Content Placeholder 2"/>
          <p:cNvSpPr>
            <a:spLocks noGrp="1"/>
          </p:cNvSpPr>
          <p:nvPr>
            <p:ph sz="half" idx="1" hasCustomPrompt="1"/>
          </p:nvPr>
        </p:nvSpPr>
        <p:spPr>
          <a:xfrm>
            <a:off x="509588" y="1981200"/>
            <a:ext cx="7132320" cy="54864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3"/>
          <p:cNvSpPr>
            <a:spLocks noGrp="1"/>
          </p:cNvSpPr>
          <p:nvPr>
            <p:ph sz="half" idx="2" hasCustomPrompt="1"/>
          </p:nvPr>
        </p:nvSpPr>
        <p:spPr>
          <a:xfrm>
            <a:off x="8575503" y="1981200"/>
            <a:ext cx="7132320" cy="54864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Text Placeholder 7"/>
          <p:cNvSpPr>
            <a:spLocks noGrp="1"/>
          </p:cNvSpPr>
          <p:nvPr>
            <p:ph type="body" sz="quarter" idx="13"/>
          </p:nvPr>
        </p:nvSpPr>
        <p:spPr>
          <a:xfrm>
            <a:off x="467179" y="8158162"/>
            <a:ext cx="15328473" cy="523875"/>
          </a:xfrm>
          <a:solidFill>
            <a:schemeClr val="accent1"/>
          </a:solidFill>
        </p:spPr>
        <p:txBody>
          <a:bodyPr anchor="ctr">
            <a:noAutofit/>
          </a:bodyPr>
          <a:lstStyle>
            <a:lvl1pPr algn="ctr">
              <a:defRPr sz="2000" b="0" cap="all" baseline="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p:txBody>
      </p:sp>
      <p:sp>
        <p:nvSpPr>
          <p:cNvPr id="12" name="Footer Placeholder 4"/>
          <p:cNvSpPr>
            <a:spLocks noGrp="1"/>
          </p:cNvSpPr>
          <p:nvPr>
            <p:ph type="ftr" sz="quarter" idx="3"/>
          </p:nvPr>
        </p:nvSpPr>
        <p:spPr>
          <a:xfrm>
            <a:off x="467180" y="8804134"/>
            <a:ext cx="6443417" cy="177287"/>
          </a:xfrm>
          <a:prstGeom prst="rect">
            <a:avLst/>
          </a:prstGeom>
        </p:spPr>
        <p:txBody>
          <a:bodyPr vert="horz" lIns="0" tIns="0" rIns="0" bIns="0" rtlCol="0" anchor="ctr"/>
          <a:lstStyle>
            <a:lvl1pPr algn="l">
              <a:defRPr sz="900">
                <a:solidFill>
                  <a:srgbClr val="797979"/>
                </a:solidFill>
                <a:latin typeface="Franklin Gothic Book" charset="0"/>
                <a:ea typeface="Franklin Gothic Book" charset="0"/>
                <a:cs typeface="Franklin Gothic Book" charset="0"/>
              </a:defRPr>
            </a:lvl1pPr>
          </a:lstStyle>
          <a:p>
            <a:r>
              <a:rPr lang="en-US" dirty="0"/>
              <a:t>Confidential Information. Use and disclosure limited for Gates business purposes only. ©2018 Gates Inc. All rights reserved. </a:t>
            </a: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 Column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6" name="Slide Number Placeholder 5"/>
          <p:cNvSpPr>
            <a:spLocks noGrp="1"/>
          </p:cNvSpPr>
          <p:nvPr>
            <p:ph type="sldNum" sz="quarter" idx="12"/>
          </p:nvPr>
        </p:nvSpPr>
        <p:spPr/>
        <p:txBody>
          <a:bodyPr/>
          <a:lstStyle/>
          <a:p>
            <a:fld id="{5F9B62A2-F893-D445-AA6E-547C886B98E8}" type="slidenum">
              <a:rPr lang="en-US" smtClean="0"/>
              <a:t>‹#›</a:t>
            </a:fld>
            <a:endParaRPr lang="en-US"/>
          </a:p>
        </p:txBody>
      </p:sp>
      <p:cxnSp>
        <p:nvCxnSpPr>
          <p:cNvPr id="7" name="Straight Connector 6"/>
          <p:cNvCxnSpPr/>
          <p:nvPr userDrawn="1"/>
        </p:nvCxnSpPr>
        <p:spPr>
          <a:xfrm flipV="1">
            <a:off x="5407343" y="2017058"/>
            <a:ext cx="0" cy="5486400"/>
          </a:xfrm>
          <a:prstGeom prst="line">
            <a:avLst/>
          </a:prstGeom>
          <a:ln w="12700">
            <a:solidFill>
              <a:srgbClr val="727272">
                <a:alpha val="20000"/>
              </a:srgbClr>
            </a:solidFill>
          </a:ln>
        </p:spPr>
        <p:style>
          <a:lnRef idx="1">
            <a:schemeClr val="accent1"/>
          </a:lnRef>
          <a:fillRef idx="0">
            <a:schemeClr val="accent1"/>
          </a:fillRef>
          <a:effectRef idx="0">
            <a:schemeClr val="accent1"/>
          </a:effectRef>
          <a:fontRef idx="minor">
            <a:schemeClr val="tx1"/>
          </a:fontRef>
        </p:style>
      </p:cxnSp>
      <p:sp>
        <p:nvSpPr>
          <p:cNvPr id="9" name="Content Placeholder 2"/>
          <p:cNvSpPr>
            <a:spLocks noGrp="1"/>
          </p:cNvSpPr>
          <p:nvPr>
            <p:ph sz="half" idx="1" hasCustomPrompt="1"/>
          </p:nvPr>
        </p:nvSpPr>
        <p:spPr>
          <a:xfrm>
            <a:off x="509588" y="1981200"/>
            <a:ext cx="4389120" cy="54864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11" name="Straight Connector 10"/>
          <p:cNvCxnSpPr/>
          <p:nvPr userDrawn="1"/>
        </p:nvCxnSpPr>
        <p:spPr>
          <a:xfrm flipV="1">
            <a:off x="10813733" y="2017058"/>
            <a:ext cx="0" cy="5486400"/>
          </a:xfrm>
          <a:prstGeom prst="line">
            <a:avLst/>
          </a:prstGeom>
          <a:ln w="12700">
            <a:solidFill>
              <a:srgbClr val="727272">
                <a:alpha val="20000"/>
              </a:srgbClr>
            </a:solidFill>
          </a:ln>
        </p:spPr>
        <p:style>
          <a:lnRef idx="1">
            <a:schemeClr val="accent1"/>
          </a:lnRef>
          <a:fillRef idx="0">
            <a:schemeClr val="accent1"/>
          </a:fillRef>
          <a:effectRef idx="0">
            <a:schemeClr val="accent1"/>
          </a:effectRef>
          <a:fontRef idx="minor">
            <a:schemeClr val="tx1"/>
          </a:fontRef>
        </p:style>
      </p:cxnSp>
      <p:sp>
        <p:nvSpPr>
          <p:cNvPr id="12" name="Content Placeholder 2"/>
          <p:cNvSpPr>
            <a:spLocks noGrp="1"/>
          </p:cNvSpPr>
          <p:nvPr>
            <p:ph sz="half" idx="14" hasCustomPrompt="1"/>
          </p:nvPr>
        </p:nvSpPr>
        <p:spPr>
          <a:xfrm>
            <a:off x="5915978" y="1981200"/>
            <a:ext cx="4389120" cy="54864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Content Placeholder 2"/>
          <p:cNvSpPr>
            <a:spLocks noGrp="1"/>
          </p:cNvSpPr>
          <p:nvPr>
            <p:ph sz="half" idx="15" hasCustomPrompt="1"/>
          </p:nvPr>
        </p:nvSpPr>
        <p:spPr>
          <a:xfrm>
            <a:off x="11322368" y="1981200"/>
            <a:ext cx="4389120" cy="54864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7"/>
          <p:cNvSpPr>
            <a:spLocks noGrp="1"/>
          </p:cNvSpPr>
          <p:nvPr>
            <p:ph type="body" sz="quarter" idx="13"/>
          </p:nvPr>
        </p:nvSpPr>
        <p:spPr>
          <a:xfrm>
            <a:off x="467179" y="8158162"/>
            <a:ext cx="15328473" cy="523875"/>
          </a:xfrm>
          <a:solidFill>
            <a:schemeClr val="accent1"/>
          </a:solidFill>
        </p:spPr>
        <p:txBody>
          <a:bodyPr anchor="ctr">
            <a:noAutofit/>
          </a:bodyPr>
          <a:lstStyle>
            <a:lvl1pPr algn="ctr">
              <a:defRPr sz="2000" b="0" cap="all" baseline="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p:txBody>
      </p:sp>
      <p:sp>
        <p:nvSpPr>
          <p:cNvPr id="15" name="Footer Placeholder 4"/>
          <p:cNvSpPr>
            <a:spLocks noGrp="1"/>
          </p:cNvSpPr>
          <p:nvPr>
            <p:ph type="ftr" sz="quarter" idx="3"/>
          </p:nvPr>
        </p:nvSpPr>
        <p:spPr>
          <a:xfrm>
            <a:off x="467180" y="8804134"/>
            <a:ext cx="6443417" cy="177287"/>
          </a:xfrm>
          <a:prstGeom prst="rect">
            <a:avLst/>
          </a:prstGeom>
        </p:spPr>
        <p:txBody>
          <a:bodyPr vert="horz" lIns="0" tIns="0" rIns="0" bIns="0" rtlCol="0" anchor="ctr"/>
          <a:lstStyle>
            <a:lvl1pPr algn="l">
              <a:defRPr sz="900">
                <a:solidFill>
                  <a:srgbClr val="797979"/>
                </a:solidFill>
                <a:latin typeface="Franklin Gothic Book" charset="0"/>
                <a:ea typeface="Franklin Gothic Book" charset="0"/>
                <a:cs typeface="Franklin Gothic Book" charset="0"/>
              </a:defRPr>
            </a:lvl1pPr>
          </a:lstStyle>
          <a:p>
            <a:r>
              <a:rPr lang="en-US" dirty="0"/>
              <a:t>Confidential Information. Use and disclosure limited for Gates business purposes only. ©2018 Gates Inc. All rights reserved. </a:t>
            </a: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6" name="Slide Number Placeholder 5"/>
          <p:cNvSpPr>
            <a:spLocks noGrp="1"/>
          </p:cNvSpPr>
          <p:nvPr>
            <p:ph type="sldNum" sz="quarter" idx="12"/>
          </p:nvPr>
        </p:nvSpPr>
        <p:spPr/>
        <p:txBody>
          <a:bodyPr/>
          <a:lstStyle/>
          <a:p>
            <a:fld id="{5F9B62A2-F893-D445-AA6E-547C886B98E8}" type="slidenum">
              <a:rPr lang="en-US" smtClean="0"/>
              <a:t>‹#›</a:t>
            </a:fld>
            <a:endParaRPr lang="en-US"/>
          </a:p>
        </p:txBody>
      </p:sp>
      <p:sp>
        <p:nvSpPr>
          <p:cNvPr id="8" name="Footer Placeholder 4"/>
          <p:cNvSpPr>
            <a:spLocks noGrp="1"/>
          </p:cNvSpPr>
          <p:nvPr>
            <p:ph type="ftr" sz="quarter" idx="3"/>
          </p:nvPr>
        </p:nvSpPr>
        <p:spPr>
          <a:xfrm>
            <a:off x="467180" y="8804134"/>
            <a:ext cx="6443417" cy="177287"/>
          </a:xfrm>
          <a:prstGeom prst="rect">
            <a:avLst/>
          </a:prstGeom>
        </p:spPr>
        <p:txBody>
          <a:bodyPr vert="horz" lIns="0" tIns="0" rIns="0" bIns="0" rtlCol="0" anchor="ctr"/>
          <a:lstStyle>
            <a:lvl1pPr algn="l">
              <a:defRPr sz="900">
                <a:solidFill>
                  <a:srgbClr val="797979"/>
                </a:solidFill>
                <a:latin typeface="Franklin Gothic Book" charset="0"/>
                <a:ea typeface="Franklin Gothic Book" charset="0"/>
                <a:cs typeface="Franklin Gothic Book" charset="0"/>
              </a:defRPr>
            </a:lvl1pPr>
          </a:lstStyle>
          <a:p>
            <a:r>
              <a:rPr lang="en-US" dirty="0"/>
              <a:t>Confidential Information. Use and disclosure limited for Gates business purposes only. ©2018 Gates Inc. All rights reserved. </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 Id="rId21" Type="http://schemas.openxmlformats.org/officeDocument/2006/relationships/image" Target="../media/image1.png"/><Relationship Id="rId22" Type="http://schemas.openxmlformats.org/officeDocument/2006/relationships/image" Target="../media/image2.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4" name="Picture 3"/>
          <p:cNvPicPr>
            <a:picLocks noChangeAspect="1"/>
          </p:cNvPicPr>
          <p:nvPr userDrawn="1"/>
        </p:nvPicPr>
        <p:blipFill>
          <a:blip r:embed="rId21" cstate="screen">
            <a:extLst>
              <a:ext uri="{28A0092B-C50C-407E-A947-70E740481C1C}">
                <a14:useLocalDpi xmlns:a14="http://schemas.microsoft.com/office/drawing/2010/main"/>
              </a:ext>
            </a:extLst>
          </a:blip>
          <a:stretch>
            <a:fillRect/>
          </a:stretch>
        </p:blipFill>
        <p:spPr>
          <a:xfrm>
            <a:off x="583598" y="300152"/>
            <a:ext cx="1066347" cy="608193"/>
          </a:xfrm>
          <a:prstGeom prst="rect">
            <a:avLst/>
          </a:prstGeom>
        </p:spPr>
      </p:pic>
      <p:sp>
        <p:nvSpPr>
          <p:cNvPr id="2" name="Title Placeholder 1"/>
          <p:cNvSpPr>
            <a:spLocks noGrp="1"/>
          </p:cNvSpPr>
          <p:nvPr>
            <p:ph type="title"/>
          </p:nvPr>
        </p:nvSpPr>
        <p:spPr>
          <a:xfrm>
            <a:off x="2391061" y="473103"/>
            <a:ext cx="11911090" cy="486833"/>
          </a:xfrm>
          <a:prstGeom prst="rect">
            <a:avLst/>
          </a:prstGeom>
        </p:spPr>
        <p:txBody>
          <a:bodyPr vert="horz" lIns="0" tIns="0" rIns="0" bIns="0" rtlCol="0" anchor="ctr" anchorCtr="0">
            <a:noAutofit/>
          </a:bodyPr>
          <a:lstStyle/>
          <a:p>
            <a:r>
              <a:rPr lang="en-US" dirty="0"/>
              <a:t>Click to edit Master title style</a:t>
            </a:r>
          </a:p>
        </p:txBody>
      </p:sp>
      <p:sp>
        <p:nvSpPr>
          <p:cNvPr id="3" name="Text Placeholder 2"/>
          <p:cNvSpPr>
            <a:spLocks noGrp="1"/>
          </p:cNvSpPr>
          <p:nvPr>
            <p:ph type="body" idx="1"/>
          </p:nvPr>
        </p:nvSpPr>
        <p:spPr>
          <a:xfrm>
            <a:off x="700088" y="1998128"/>
            <a:ext cx="14989074" cy="5486400"/>
          </a:xfrm>
          <a:prstGeom prst="rect">
            <a:avLst/>
          </a:prstGeom>
        </p:spPr>
        <p:txBody>
          <a:bodyPr vert="horz" lIns="0" tIns="0" rIns="0" bIns="0"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p:cNvSpPr>
            <a:spLocks noGrp="1"/>
          </p:cNvSpPr>
          <p:nvPr>
            <p:ph type="ftr" sz="quarter" idx="3"/>
          </p:nvPr>
        </p:nvSpPr>
        <p:spPr>
          <a:xfrm>
            <a:off x="467180" y="8804134"/>
            <a:ext cx="6443417" cy="177287"/>
          </a:xfrm>
          <a:prstGeom prst="rect">
            <a:avLst/>
          </a:prstGeom>
        </p:spPr>
        <p:txBody>
          <a:bodyPr vert="horz" lIns="0" tIns="0" rIns="0" bIns="0" rtlCol="0" anchor="ctr"/>
          <a:lstStyle>
            <a:lvl1pPr algn="l">
              <a:defRPr sz="900">
                <a:solidFill>
                  <a:srgbClr val="797979"/>
                </a:solidFill>
                <a:latin typeface="Franklin Gothic Book" charset="0"/>
                <a:ea typeface="Franklin Gothic Book" charset="0"/>
                <a:cs typeface="Franklin Gothic Book" charset="0"/>
              </a:defRPr>
            </a:lvl1pPr>
          </a:lstStyle>
          <a:p>
            <a:r>
              <a:rPr lang="en-US" dirty="0"/>
              <a:t>Confidential Information. Use and disclosure limited for Gates business purposes only. ©2018 Gates Inc. All rights reserved. </a:t>
            </a:r>
          </a:p>
        </p:txBody>
      </p:sp>
      <p:sp>
        <p:nvSpPr>
          <p:cNvPr id="6" name="Slide Number Placeholder 5"/>
          <p:cNvSpPr>
            <a:spLocks noGrp="1"/>
          </p:cNvSpPr>
          <p:nvPr>
            <p:ph type="sldNum" sz="quarter" idx="4"/>
          </p:nvPr>
        </p:nvSpPr>
        <p:spPr>
          <a:xfrm>
            <a:off x="14774069" y="473104"/>
            <a:ext cx="933754" cy="486833"/>
          </a:xfrm>
          <a:prstGeom prst="rect">
            <a:avLst/>
          </a:prstGeom>
        </p:spPr>
        <p:txBody>
          <a:bodyPr vert="horz" lIns="0" tIns="0" rIns="0" bIns="0" rtlCol="0" anchor="ctr"/>
          <a:lstStyle>
            <a:lvl1pPr algn="r">
              <a:lnSpc>
                <a:spcPct val="80000"/>
              </a:lnSpc>
              <a:spcBef>
                <a:spcPts val="0"/>
              </a:spcBef>
              <a:defRPr sz="3400" b="1" i="0">
                <a:solidFill>
                  <a:schemeClr val="tx1"/>
                </a:solidFill>
                <a:latin typeface="Franklin Gothic Heavy" charset="0"/>
                <a:ea typeface="Franklin Gothic Heavy" charset="0"/>
                <a:cs typeface="Franklin Gothic Heavy" charset="0"/>
              </a:defRPr>
            </a:lvl1pPr>
          </a:lstStyle>
          <a:p>
            <a:fld id="{5F9B62A2-F893-D445-AA6E-547C886B98E8}" type="slidenum">
              <a:rPr lang="en-US" smtClean="0"/>
              <a:pPr/>
              <a:t>‹#›</a:t>
            </a:fld>
            <a:endParaRPr lang="en-US" dirty="0"/>
          </a:p>
        </p:txBody>
      </p:sp>
      <p:pic>
        <p:nvPicPr>
          <p:cNvPr id="8" name="Picture 7"/>
          <p:cNvPicPr>
            <a:picLocks noChangeAspect="1"/>
          </p:cNvPicPr>
          <p:nvPr userDrawn="1"/>
        </p:nvPicPr>
        <p:blipFill>
          <a:blip r:embed="rId22"/>
          <a:stretch>
            <a:fillRect/>
          </a:stretch>
        </p:blipFill>
        <p:spPr>
          <a:xfrm>
            <a:off x="324644" y="1249002"/>
            <a:ext cx="15608300" cy="304800"/>
          </a:xfrm>
          <a:prstGeom prst="rect">
            <a:avLst/>
          </a:prstGeom>
        </p:spPr>
      </p:pic>
      <p:cxnSp>
        <p:nvCxnSpPr>
          <p:cNvPr id="11" name="Straight Connector 10"/>
          <p:cNvCxnSpPr/>
          <p:nvPr userDrawn="1"/>
        </p:nvCxnSpPr>
        <p:spPr>
          <a:xfrm flipH="1">
            <a:off x="467181" y="1132272"/>
            <a:ext cx="15310982" cy="0"/>
          </a:xfrm>
          <a:prstGeom prst="line">
            <a:avLst/>
          </a:prstGeom>
          <a:ln w="12700">
            <a:solidFill>
              <a:srgbClr val="727272">
                <a:alpha val="20000"/>
              </a:srgb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2"/>
          <p:cNvCxnSpPr/>
          <p:nvPr userDrawn="1"/>
        </p:nvCxnSpPr>
        <p:spPr>
          <a:xfrm>
            <a:off x="2062264" y="318198"/>
            <a:ext cx="0" cy="814074"/>
          </a:xfrm>
          <a:prstGeom prst="line">
            <a:avLst/>
          </a:prstGeom>
          <a:ln w="12700">
            <a:solidFill>
              <a:srgbClr val="727272">
                <a:alpha val="2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33805520"/>
      </p:ext>
    </p:extLst>
  </p:cSld>
  <p:clrMap bg1="lt1" tx1="dk1" bg2="lt2" tx2="dk2" accent1="accent1" accent2="accent2" accent3="accent3" accent4="accent4" accent5="accent5" accent6="accent6" hlink="hlink" folHlink="folHlink"/>
  <p:sldLayoutIdLst>
    <p:sldLayoutId id="2147483678" r:id="rId1"/>
    <p:sldLayoutId id="2147483683" r:id="rId2"/>
    <p:sldLayoutId id="2147483696" r:id="rId3"/>
    <p:sldLayoutId id="2147483686" r:id="rId4"/>
    <p:sldLayoutId id="2147483650" r:id="rId5"/>
    <p:sldLayoutId id="2147483690" r:id="rId6"/>
    <p:sldLayoutId id="2147483666" r:id="rId7"/>
    <p:sldLayoutId id="2147483701" r:id="rId8"/>
    <p:sldLayoutId id="2147483652" r:id="rId9"/>
    <p:sldLayoutId id="2147483669" r:id="rId10"/>
    <p:sldLayoutId id="2147483670" r:id="rId11"/>
    <p:sldLayoutId id="2147483663" r:id="rId12"/>
    <p:sldLayoutId id="2147483665" r:id="rId13"/>
    <p:sldLayoutId id="2147483661" r:id="rId14"/>
    <p:sldLayoutId id="2147483654" r:id="rId15"/>
    <p:sldLayoutId id="2147483667" r:id="rId16"/>
    <p:sldLayoutId id="2147483671" r:id="rId17"/>
    <p:sldLayoutId id="2147483673" r:id="rId18"/>
    <p:sldLayoutId id="2147483662" r:id="rId19"/>
  </p:sldLayoutIdLst>
  <p:hf hdr="0" dt="0"/>
  <p:txStyles>
    <p:titleStyle>
      <a:lvl1pPr algn="l" defTabSz="1219170" rtl="0" eaLnBrk="1" latinLnBrk="0" hangingPunct="1">
        <a:lnSpc>
          <a:spcPct val="80000"/>
        </a:lnSpc>
        <a:spcBef>
          <a:spcPts val="0"/>
        </a:spcBef>
        <a:buNone/>
        <a:defRPr sz="3400" b="0" i="0" kern="1200" cap="all" baseline="0">
          <a:solidFill>
            <a:schemeClr val="tx1"/>
          </a:solidFill>
          <a:latin typeface="Franklin Gothic Heavy" charset="0"/>
          <a:ea typeface="Franklin Gothic Heavy" charset="0"/>
          <a:cs typeface="Franklin Gothic Heavy" charset="0"/>
        </a:defRPr>
      </a:lvl1pPr>
    </p:titleStyle>
    <p:bodyStyle>
      <a:lvl1pPr marL="0" indent="0" algn="l" defTabSz="1219170" rtl="0" eaLnBrk="1" latinLnBrk="0" hangingPunct="1">
        <a:lnSpc>
          <a:spcPct val="90000"/>
        </a:lnSpc>
        <a:spcBef>
          <a:spcPts val="1333"/>
        </a:spcBef>
        <a:buClr>
          <a:schemeClr val="accent1"/>
        </a:buClr>
        <a:buFont typeface="Wingdings" pitchFamily="2" charset="2"/>
        <a:buNone/>
        <a:tabLst/>
        <a:defRPr sz="2400" b="0" i="0" kern="1200" cap="none" baseline="0">
          <a:solidFill>
            <a:schemeClr val="tx1"/>
          </a:solidFill>
          <a:latin typeface="Franklin Gothic Demi" panose="020B0703020102020204" pitchFamily="34" charset="0"/>
          <a:ea typeface="Franklin Gothic Demi" panose="020B0703020102020204" pitchFamily="34" charset="0"/>
          <a:cs typeface="Franklin Gothic Demi" panose="020B0703020102020204" pitchFamily="34" charset="0"/>
        </a:defRPr>
      </a:lvl1pPr>
      <a:lvl2pPr marL="576263" indent="-303213" algn="l" defTabSz="1219170" rtl="0" eaLnBrk="1" latinLnBrk="0" hangingPunct="1">
        <a:lnSpc>
          <a:spcPct val="110000"/>
        </a:lnSpc>
        <a:spcBef>
          <a:spcPts val="1200"/>
        </a:spcBef>
        <a:buClr>
          <a:schemeClr val="accent1"/>
        </a:buClr>
        <a:buFont typeface="Wingdings" pitchFamily="2" charset="2"/>
        <a:buChar char="§"/>
        <a:tabLst/>
        <a:defRPr sz="1800" b="0" i="0" kern="1200">
          <a:solidFill>
            <a:schemeClr val="tx1"/>
          </a:solidFill>
          <a:latin typeface="+mn-lt"/>
          <a:ea typeface="Franklin Gothic Book" charset="0"/>
          <a:cs typeface="Franklin Gothic Book" charset="0"/>
        </a:defRPr>
      </a:lvl2pPr>
      <a:lvl3pPr marL="865188" indent="-317500" algn="l" defTabSz="1219170" rtl="0" eaLnBrk="1" latinLnBrk="0" hangingPunct="1">
        <a:lnSpc>
          <a:spcPct val="110000"/>
        </a:lnSpc>
        <a:spcBef>
          <a:spcPts val="1200"/>
        </a:spcBef>
        <a:buClr>
          <a:schemeClr val="tx2"/>
        </a:buClr>
        <a:buFont typeface="Arial" panose="020B0604020202020204" pitchFamily="34" charset="0"/>
        <a:buChar char="•"/>
        <a:tabLst/>
        <a:defRPr sz="1800" b="0" i="0" kern="1200">
          <a:solidFill>
            <a:schemeClr val="tx1"/>
          </a:solidFill>
          <a:latin typeface="Franklin Gothic Book" panose="020B0503020102020204" pitchFamily="34" charset="0"/>
          <a:ea typeface="Franklin Gothic Book" panose="020B0503020102020204" pitchFamily="34" charset="0"/>
          <a:cs typeface="Franklin Gothic Book" panose="020B0503020102020204" pitchFamily="34" charset="0"/>
        </a:defRPr>
      </a:lvl3pPr>
      <a:lvl4pPr marL="1154113" indent="-317500" algn="l" defTabSz="1219170" rtl="0" eaLnBrk="1" latinLnBrk="0" hangingPunct="1">
        <a:lnSpc>
          <a:spcPct val="110000"/>
        </a:lnSpc>
        <a:spcBef>
          <a:spcPts val="800"/>
        </a:spcBef>
        <a:buClr>
          <a:schemeClr val="tx2"/>
        </a:buClr>
        <a:buFont typeface="Arial" panose="020B0604020202020204" pitchFamily="34" charset="0"/>
        <a:buChar char="•"/>
        <a:tabLst/>
        <a:defRPr sz="1400" b="0" i="0" kern="1200">
          <a:solidFill>
            <a:schemeClr val="tx1"/>
          </a:solidFill>
          <a:latin typeface="Franklin Gothic Book" charset="0"/>
          <a:ea typeface="Franklin Gothic Book" charset="0"/>
          <a:cs typeface="Franklin Gothic Book" charset="0"/>
        </a:defRPr>
      </a:lvl4pPr>
      <a:lvl5pPr marL="1443038" indent="-317500" algn="l" defTabSz="1219170" rtl="0" eaLnBrk="1" latinLnBrk="0" hangingPunct="1">
        <a:lnSpc>
          <a:spcPct val="110000"/>
        </a:lnSpc>
        <a:spcBef>
          <a:spcPts val="600"/>
        </a:spcBef>
        <a:buClr>
          <a:schemeClr val="tx2"/>
        </a:buClr>
        <a:buFont typeface="Arial" panose="020B0604020202020204" pitchFamily="34" charset="0"/>
        <a:buChar char="•"/>
        <a:tabLst/>
        <a:defRPr sz="1400" b="0" i="0" kern="1200">
          <a:solidFill>
            <a:schemeClr val="tx1"/>
          </a:solidFill>
          <a:latin typeface="Franklin Gothic Book" charset="0"/>
          <a:ea typeface="Franklin Gothic Book" charset="0"/>
          <a:cs typeface="Franklin Gothic Book" charset="0"/>
        </a:defRPr>
      </a:lvl5pPr>
      <a:lvl6pPr marL="346075" indent="-346075" algn="l" defTabSz="1219170" rtl="0" eaLnBrk="1" latinLnBrk="0" hangingPunct="1">
        <a:lnSpc>
          <a:spcPct val="90000"/>
        </a:lnSpc>
        <a:spcBef>
          <a:spcPts val="667"/>
        </a:spcBef>
        <a:buClr>
          <a:schemeClr val="accent1"/>
        </a:buClr>
        <a:buFont typeface="Arial" panose="020B0604020202020204" pitchFamily="34" charset="0"/>
        <a:buChar char="•"/>
        <a:tabLst/>
        <a:defRPr sz="1400" b="0" i="0" kern="1200" baseline="0">
          <a:solidFill>
            <a:schemeClr val="tx1"/>
          </a:solidFill>
          <a:latin typeface="Franklin Gothic Book" charset="0"/>
          <a:ea typeface="Franklin Gothic Book" charset="0"/>
          <a:cs typeface="Franklin Gothic Book" charset="0"/>
        </a:defRPr>
      </a:lvl6pPr>
      <a:lvl7pPr marL="346075" indent="-346075" algn="l" defTabSz="1219170" rtl="0" eaLnBrk="1" latinLnBrk="0" hangingPunct="1">
        <a:lnSpc>
          <a:spcPct val="90000"/>
        </a:lnSpc>
        <a:spcBef>
          <a:spcPts val="667"/>
        </a:spcBef>
        <a:buClr>
          <a:schemeClr val="accent1"/>
        </a:buClr>
        <a:buFont typeface="Arial" panose="020B0604020202020204" pitchFamily="34" charset="0"/>
        <a:buChar char="•"/>
        <a:tabLst/>
        <a:defRPr sz="1200" b="0" i="0" kern="1200">
          <a:solidFill>
            <a:schemeClr val="tx1"/>
          </a:solidFill>
          <a:latin typeface="Franklin Gothic Book" charset="0"/>
          <a:ea typeface="Franklin Gothic Book" charset="0"/>
          <a:cs typeface="Franklin Gothic Book" charset="0"/>
        </a:defRPr>
      </a:lvl7pPr>
      <a:lvl8pPr marL="4571886" indent="-304792" algn="l" defTabSz="1219170" rtl="0" eaLnBrk="1" latinLnBrk="0" hangingPunct="1">
        <a:lnSpc>
          <a:spcPct val="90000"/>
        </a:lnSpc>
        <a:spcBef>
          <a:spcPts val="667"/>
        </a:spcBef>
        <a:buFont typeface="Arial"/>
        <a:buChar char="•"/>
        <a:defRPr sz="2400" kern="1200">
          <a:solidFill>
            <a:schemeClr val="tx1"/>
          </a:solidFill>
          <a:latin typeface="+mn-lt"/>
          <a:ea typeface="+mn-ea"/>
          <a:cs typeface="+mn-cs"/>
        </a:defRPr>
      </a:lvl8pPr>
      <a:lvl9pPr marL="5181470" indent="-304792" algn="l" defTabSz="1219170" rtl="0" eaLnBrk="1" latinLnBrk="0" hangingPunct="1">
        <a:lnSpc>
          <a:spcPct val="90000"/>
        </a:lnSpc>
        <a:spcBef>
          <a:spcPts val="667"/>
        </a:spcBef>
        <a:buFont typeface="Arial"/>
        <a:buChar char="•"/>
        <a:defRPr sz="2400" kern="1200">
          <a:solidFill>
            <a:schemeClr val="tx1"/>
          </a:solidFill>
          <a:latin typeface="+mn-lt"/>
          <a:ea typeface="+mn-ea"/>
          <a:cs typeface="+mn-cs"/>
        </a:defRPr>
      </a:lvl9pPr>
    </p:bodyStyle>
    <p:otherStyle>
      <a:defPPr>
        <a:defRPr lang="en-US"/>
      </a:defPPr>
      <a:lvl1pPr marL="0" algn="l" defTabSz="1219170" rtl="0" eaLnBrk="1" latinLnBrk="0" hangingPunct="1">
        <a:defRPr sz="2400" kern="1200">
          <a:solidFill>
            <a:schemeClr val="tx1"/>
          </a:solidFill>
          <a:latin typeface="+mn-lt"/>
          <a:ea typeface="+mn-ea"/>
          <a:cs typeface="+mn-cs"/>
        </a:defRPr>
      </a:lvl1pPr>
      <a:lvl2pPr marL="609585" algn="l" defTabSz="1219170" rtl="0" eaLnBrk="1" latinLnBrk="0" hangingPunct="1">
        <a:defRPr sz="2400" kern="1200">
          <a:solidFill>
            <a:schemeClr val="tx1"/>
          </a:solidFill>
          <a:latin typeface="+mn-lt"/>
          <a:ea typeface="+mn-ea"/>
          <a:cs typeface="+mn-cs"/>
        </a:defRPr>
      </a:lvl2pPr>
      <a:lvl3pPr marL="1219170" algn="l" defTabSz="1219170" rtl="0" eaLnBrk="1" latinLnBrk="0" hangingPunct="1">
        <a:defRPr sz="2400" kern="1200">
          <a:solidFill>
            <a:schemeClr val="tx1"/>
          </a:solidFill>
          <a:latin typeface="+mn-lt"/>
          <a:ea typeface="+mn-ea"/>
          <a:cs typeface="+mn-cs"/>
        </a:defRPr>
      </a:lvl3pPr>
      <a:lvl4pPr marL="1828754" algn="l" defTabSz="1219170" rtl="0" eaLnBrk="1" latinLnBrk="0" hangingPunct="1">
        <a:defRPr sz="2400" kern="1200">
          <a:solidFill>
            <a:schemeClr val="tx1"/>
          </a:solidFill>
          <a:latin typeface="+mn-lt"/>
          <a:ea typeface="+mn-ea"/>
          <a:cs typeface="+mn-cs"/>
        </a:defRPr>
      </a:lvl4pPr>
      <a:lvl5pPr marL="2438339" algn="l" defTabSz="1219170" rtl="0" eaLnBrk="1" latinLnBrk="0" hangingPunct="1">
        <a:defRPr sz="2400" kern="1200">
          <a:solidFill>
            <a:schemeClr val="tx1"/>
          </a:solidFill>
          <a:latin typeface="+mn-lt"/>
          <a:ea typeface="+mn-ea"/>
          <a:cs typeface="+mn-cs"/>
        </a:defRPr>
      </a:lvl5pPr>
      <a:lvl6pPr marL="3047924" algn="l" defTabSz="1219170" rtl="0" eaLnBrk="1" latinLnBrk="0" hangingPunct="1">
        <a:defRPr sz="2400" kern="1200">
          <a:solidFill>
            <a:schemeClr val="tx1"/>
          </a:solidFill>
          <a:latin typeface="+mn-lt"/>
          <a:ea typeface="+mn-ea"/>
          <a:cs typeface="+mn-cs"/>
        </a:defRPr>
      </a:lvl6pPr>
      <a:lvl7pPr marL="3657509" algn="l" defTabSz="1219170" rtl="0" eaLnBrk="1" latinLnBrk="0" hangingPunct="1">
        <a:defRPr sz="2400" kern="1200">
          <a:solidFill>
            <a:schemeClr val="tx1"/>
          </a:solidFill>
          <a:latin typeface="+mn-lt"/>
          <a:ea typeface="+mn-ea"/>
          <a:cs typeface="+mn-cs"/>
        </a:defRPr>
      </a:lvl7pPr>
      <a:lvl8pPr marL="4267093" algn="l" defTabSz="1219170" rtl="0" eaLnBrk="1" latinLnBrk="0" hangingPunct="1">
        <a:defRPr sz="2400" kern="1200">
          <a:solidFill>
            <a:schemeClr val="tx1"/>
          </a:solidFill>
          <a:latin typeface="+mn-lt"/>
          <a:ea typeface="+mn-ea"/>
          <a:cs typeface="+mn-cs"/>
        </a:defRPr>
      </a:lvl8pPr>
      <a:lvl9pPr marL="4876678" algn="l" defTabSz="1219170"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880" userDrawn="1">
          <p15:clr>
            <a:srgbClr val="F26B43"/>
          </p15:clr>
        </p15:guide>
        <p15:guide id="2" pos="5120" userDrawn="1">
          <p15:clr>
            <a:srgbClr val="F26B43"/>
          </p15:clr>
        </p15:guide>
        <p15:guide id="3" pos="441" userDrawn="1">
          <p15:clr>
            <a:srgbClr val="F26B43"/>
          </p15:clr>
        </p15:guide>
        <p15:guide id="4" pos="9897" userDrawn="1">
          <p15:clr>
            <a:srgbClr val="F26B43"/>
          </p15:clr>
        </p15:guide>
        <p15:guide id="5" orient="horz" pos="1248" userDrawn="1">
          <p15:clr>
            <a:srgbClr val="F26B43"/>
          </p15:clr>
        </p15:guide>
        <p15:guide id="6" orient="horz" pos="5304" userDrawn="1">
          <p15:clr>
            <a:srgbClr val="F26B43"/>
          </p15:clr>
        </p15:guide>
        <p15:guide id="7" orient="horz" pos="4704" userDrawn="1">
          <p15:clr>
            <a:srgbClr val="F26B43"/>
          </p15:clr>
        </p15:guide>
        <p15:guide id="8" orient="horz" pos="4974" userDrawn="1">
          <p15:clr>
            <a:srgbClr val="F26B43"/>
          </p15:clr>
        </p15:guide>
        <p15:guide id="9" pos="282" userDrawn="1">
          <p15:clr>
            <a:srgbClr val="F26B43"/>
          </p15:clr>
        </p15:guide>
        <p15:guide id="10" orient="horz" pos="518"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xml"/><Relationship Id="rId3"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xml"/><Relationship Id="rId3" Type="http://schemas.openxmlformats.org/officeDocument/2006/relationships/chart" Target="../charts/char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5.xml"/><Relationship Id="rId3" Type="http://schemas.openxmlformats.org/officeDocument/2006/relationships/chart" Target="../charts/char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Proteína animal: cuatro grupos prospecto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Resumen: seis réplicas evaluadas</a:t>
            </a:r>
          </a:p>
        </p:txBody>
      </p:sp>
      <p:sp>
        <p:nvSpPr>
          <p:cNvPr id="3" name="Content Placeholder 2"/>
          <p:cNvSpPr>
            <a:spLocks noGrp="1"/>
          </p:cNvSpPr>
          <p:nvPr>
            <p:ph idx="15"/>
          </p:nvPr>
        </p:nvSpPr>
        <p:spPr/>
        <p:txBody>
          <a:bodyPr/>
          <a:lstStyle/>
          <a:p>
            <a:pPr marL="0" indent="0">
              <a:buNone/>
            </a:pPr>
            <a:r>
              <a:rPr lang="es-MX"/>
              <a:t>6 pares</a:t>
            </a:r>
          </a:p>
          <a:p>
            <a:pPr lvl="1" marL="273050" indent="0">
              <a:buNone/>
            </a:pPr>
            <a:r>
              <a:rPr lang="es-MX">
                <a:latin typeface="Franklin Gothic Book"/>
              </a:rPr>
              <a:t>Plantas origen → destino evaluadas técnicamente</a:t>
            </a:r>
          </a:p>
        </p:txBody>
      </p:sp>
      <p:sp>
        <p:nvSpPr>
          <p:cNvPr id="4" name="Content Placeholder 3"/>
          <p:cNvSpPr>
            <a:spLocks noGrp="1"/>
          </p:cNvSpPr>
          <p:nvPr>
            <p:ph idx="16"/>
          </p:nvPr>
        </p:nvSpPr>
        <p:spPr/>
        <p:txBody>
          <a:bodyPr/>
          <a:lstStyle/>
          <a:p>
            <a:pPr marL="0" indent="0">
              <a:buNone/>
            </a:pPr>
            <a:r>
              <a:rPr lang="es-MX"/>
              <a:t>1 sí, condicionada</a:t>
            </a:r>
          </a:p>
          <a:p>
            <a:pPr lvl="1" marL="273050" indent="0">
              <a:buNone/>
            </a:pPr>
            <a:r>
              <a:rPr lang="es-MX">
                <a:latin typeface="Franklin Gothic Book"/>
              </a:rPr>
              <a:t>Pilgrim's Tepeji, si se confirma que es el mismo sitio que el TIF A-239</a:t>
            </a:r>
          </a:p>
        </p:txBody>
      </p:sp>
      <p:sp>
        <p:nvSpPr>
          <p:cNvPr id="5" name="Content Placeholder 4"/>
          <p:cNvSpPr>
            <a:spLocks noGrp="1"/>
          </p:cNvSpPr>
          <p:nvPr>
            <p:ph idx="17"/>
          </p:nvPr>
        </p:nvSpPr>
        <p:spPr/>
        <p:txBody>
          <a:bodyPr/>
          <a:lstStyle/>
          <a:p>
            <a:pPr marL="0" indent="0">
              <a:buNone/>
            </a:pPr>
            <a:r>
              <a:rPr lang="es-MX"/>
              <a:t>4 parciales</a:t>
            </a:r>
          </a:p>
          <a:p>
            <a:pPr lvl="1" marL="273050" indent="0">
              <a:buNone/>
            </a:pPr>
            <a:r>
              <a:rPr lang="es-MX">
                <a:latin typeface="Franklin Gothic Book"/>
              </a:rPr>
              <a:t>Bachoco Lagos, SuKarne TIF 718, Pilgrim's Toluca y Bafar Lerma</a:t>
            </a:r>
          </a:p>
        </p:txBody>
      </p:sp>
      <p:sp>
        <p:nvSpPr>
          <p:cNvPr id="6" name="Content Placeholder 5"/>
          <p:cNvSpPr>
            <a:spLocks noGrp="1"/>
          </p:cNvSpPr>
          <p:nvPr>
            <p:ph idx="18"/>
          </p:nvPr>
        </p:nvSpPr>
        <p:spPr/>
        <p:txBody>
          <a:bodyPr/>
          <a:lstStyle/>
          <a:p>
            <a:pPr marL="0" indent="0">
              <a:buNone/>
            </a:pPr>
            <a:r>
              <a:rPr lang="es-MX"/>
              <a:t>1 no</a:t>
            </a:r>
          </a:p>
          <a:p>
            <a:pPr lvl="1" marL="273050" indent="0">
              <a:buNone/>
            </a:pPr>
            <a:r>
              <a:rPr lang="es-MX">
                <a:latin typeface="Franklin Gothic Book"/>
              </a:rPr>
              <a:t>SuKarne TIF 94 Zapopan: planta de cocción, sin sacrificio</a:t>
            </a:r>
          </a:p>
        </p:txBody>
      </p:sp>
      <p:sp>
        <p:nvSpPr>
          <p:cNvPr id="7" name="Content Placeholder 6"/>
          <p:cNvSpPr>
            <a:spLocks noGrp="1"/>
          </p:cNvSpPr>
          <p:nvPr>
            <p:ph idx="1" sz="half"/>
          </p:nvPr>
        </p:nvSpPr>
        <p:spPr/>
        <p:txBody>
          <a:bodyPr/>
          <a:lstStyle/>
          <a:p>
            <a:pPr lvl="1"/>
            <a:r>
              <a:rPr lang="es-MX"/>
              <a:t>Bachoco Lagos de Moreno no es prospección nueva: tiene una oportunidad perdida en 2020. Otras regiones atienden la cuenta; falta confirmar si incluye Lagos (láminas 7 y 8)</a:t>
            </a:r>
          </a:p>
          <a:p>
            <a:pPr lvl="1"/>
            <a:r>
              <a:rPr lang="es-MX"/>
              <a:t>Bafar tiene 0 ganadas en el CRM, pero La Piedad ya está en trabajo con dos oportunidades abiertas (lámina 8)</a:t>
            </a:r>
          </a:p>
          <a:p>
            <a:pPr lvl="1"/>
            <a:r>
              <a:rPr lang="es-MX"/>
              <a:t>Sigma, con 15 TIF en 8 estados, queda como hallazgo adicional (lámina 9)</a:t>
            </a:r>
          </a:p>
          <a:p>
            <a:pPr lvl="1"/>
            <a:r>
              <a:rPr lang="es-MX"/>
              <a:t>Es un mercado candidato; la selección de tres mercados y nueve usuarios sigue abierta</a:t>
            </a:r>
          </a:p>
        </p:txBody>
      </p:sp>
      <p:sp>
        <p:nvSpPr>
          <p:cNvPr id="8" name="Text Placeholder 7"/>
          <p:cNvSpPr>
            <a:spLocks noGrp="1"/>
          </p:cNvSpPr>
          <p:nvPr>
            <p:ph type="body" idx="13" sz="quarter"/>
          </p:nvPr>
        </p:nvSpPr>
        <p:spPr/>
        <p:txBody>
          <a:bodyPr/>
          <a:lstStyle/>
          <a:p>
            <a:r>
              <a:rPr lang="es-MX"/>
              <a:t>Una réplica se sostiene con condición, cuatro son parciales y una no</a:t>
            </a:r>
          </a:p>
        </p:txBody>
      </p:sp>
      <p:sp>
        <p:nvSpPr>
          <p:cNvPr id="9" name="Slide Number Placeholder"/>
          <p:cNvSpPr>
            <a:spLocks noGrp="1"/>
          </p:cNvSpPr>
          <p:nvPr>
            <p:ph type="sldNum" sz="quarter" idx="11"/>
          </p:nvPr>
        </p:nvSpPr>
        <p:spPr/>
        <p:txBody>
          <a:bodyPr/>
          <a:lstStyle/>
          <a:p>
            <a:fld id="{A0BE9D2B-0ED2-4BCC-B2A9-58657EACF6C0}" type="slidenum">
              <a:rPr lang="es-MX"/>
              <a:pPr/>
              <a:t>‹#›</a:t>
            </a:fld>
            <a:endParaRPr lang="es-MX"/>
          </a:p>
        </p:txBody>
      </p:sp>
      <p:sp>
        <p:nvSpPr>
          <p:cNvPr id="10" name="Footer Placeholder 4"/>
          <p:cNvSpPr>
            <a:spLocks noGrp="1"/>
          </p:cNvSpPr>
          <p:nvPr>
            <p:ph type="ftr" sz="quarter" idx="3"/>
          </p:nvPr>
        </p:nvSpPr>
        <p:spPr/>
        <p:txBody>
          <a:bodyPr/>
          <a:lstStyle>
            <a:lvl1pPr algn="l">
              <a:defRPr sz="900">
                <a:solidFill>
                  <a:srgbClr val="797979"/>
                </a:solidFill>
                <a:latin typeface="Franklin Gothic Book" charset="0"/>
                <a:ea typeface="Franklin Gothic Book" charset="0"/>
                <a:cs typeface="Franklin Gothic Book" charset="0"/>
              </a:defRPr>
            </a:lvl1pPr>
          </a:lstStyle>
          <a:p>
            <a:r>
              <a:rPr lang="en-US" dirty="0"/>
              <a:t>Confidential Information. Use and disclosure limited for Gates business purposes only. ©2018 Gates Inc. All rights reserved.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Macro: campo +4.0% en 2025; industria −1.1%</a:t>
            </a:r>
          </a:p>
        </p:txBody>
      </p:sp>
      <p:sp>
        <p:nvSpPr>
          <p:cNvPr id="4" name="Content Placeholder 3"/>
          <p:cNvSpPr>
            <a:spLocks noGrp="1"/>
          </p:cNvSpPr>
          <p:nvPr>
            <p:ph idx="2" sz="half"/>
          </p:nvPr>
        </p:nvSpPr>
        <p:spPr/>
        <p:txBody>
          <a:bodyPr/>
          <a:lstStyle/>
          <a:p>
            <a:pPr marL="0" indent="0">
              <a:buNone/>
            </a:pPr>
            <a:r>
              <a:rPr lang="es-MX"/>
              <a:t>Cómo leerlo</a:t>
            </a:r>
          </a:p>
          <a:p>
            <a:pPr lvl="1"/>
            <a:r>
              <a:rPr lang="es-MX"/>
              <a:t>El PIB primario tuvo su mejor desempeño en 13 años</a:t>
            </a:r>
          </a:p>
          <a:p>
            <a:pPr lvl="2"/>
            <a:r>
              <a:rPr lang="es-MX"/>
              <a:t>+4.0% en 2025, frente a +0.8% nacional (SIAP/SADER con base en INEGI, 23-feb-2026)</a:t>
            </a:r>
          </a:p>
          <a:p>
            <a:pPr lvl="1"/>
            <a:r>
              <a:rPr lang="es-MX"/>
              <a:t>No se atribuye a proteína animal</a:t>
            </a:r>
          </a:p>
          <a:p>
            <a:pPr lvl="2"/>
            <a:r>
              <a:rPr lang="es-MX"/>
              <a:t>La fuente no desglosa cuánto del 4.0% es ganadería</a:t>
            </a:r>
          </a:p>
          <a:p>
            <a:pPr lvl="1"/>
            <a:r>
              <a:rPr lang="es-MX"/>
              <a:t>El dato macro no prueba reposición</a:t>
            </a:r>
          </a:p>
          <a:p>
            <a:pPr lvl="2"/>
            <a:r>
              <a:rPr lang="es-MX"/>
              <a:t>Bandas y mangueras se validan planta por planta</a:t>
            </a:r>
          </a:p>
          <a:p>
            <a:pPr lvl="3" marL="0" indent="0">
              <a:buNone/>
            </a:pPr>
            <a:r>
              <a:rPr lang="es-MX">
                <a:latin typeface="Franklin Gothic Book"/>
              </a:rPr>
              <a:t>Crecimiento real anual 2025, %. Fuente en el apéndice 1.</a:t>
            </a:r>
          </a:p>
        </p:txBody>
      </p:sp>
      <p:sp>
        <p:nvSpPr>
          <p:cNvPr id="5" name="Text Placeholder 4"/>
          <p:cNvSpPr>
            <a:spLocks noGrp="1"/>
          </p:cNvSpPr>
          <p:nvPr>
            <p:ph type="body" idx="13" sz="quarter"/>
          </p:nvPr>
        </p:nvSpPr>
        <p:spPr/>
        <p:txBody>
          <a:bodyPr/>
          <a:lstStyle/>
          <a:p>
            <a:r>
              <a:rPr lang="es-MX"/>
              <a:t>El campo creció 4.0% en 2025; la industria cayó 1.1%</a:t>
            </a:r>
          </a:p>
        </p:txBody>
      </p:sp>
      <p:sp>
        <p:nvSpPr>
          <p:cNvPr id="6" name="Slide Number Placeholder"/>
          <p:cNvSpPr>
            <a:spLocks noGrp="1"/>
          </p:cNvSpPr>
          <p:nvPr>
            <p:ph type="sldNum" sz="quarter" idx="12"/>
          </p:nvPr>
        </p:nvSpPr>
        <p:spPr/>
        <p:txBody>
          <a:bodyPr/>
          <a:lstStyle/>
          <a:p>
            <a:fld id="{A0BE9D2B-0ED2-4BCC-B2A9-58657EACF6C0}" type="slidenum">
              <a:rPr lang="es-MX"/>
              <a:pPr/>
              <a:t>‹#›</a:t>
            </a:fld>
            <a:endParaRPr lang="es-MX"/>
          </a:p>
        </p:txBody>
      </p:sp>
      <p:sp>
        <p:nvSpPr>
          <p:cNvPr id="7" name="Footer Placeholder 4"/>
          <p:cNvSpPr>
            <a:spLocks noGrp="1"/>
          </p:cNvSpPr>
          <p:nvPr>
            <p:ph type="ftr" sz="quarter" idx="3"/>
          </p:nvPr>
        </p:nvSpPr>
        <p:spPr/>
        <p:txBody>
          <a:bodyPr/>
          <a:lstStyle>
            <a:lvl1pPr algn="l">
              <a:defRPr sz="900">
                <a:solidFill>
                  <a:srgbClr val="797979"/>
                </a:solidFill>
                <a:latin typeface="Franklin Gothic Book" charset="0"/>
                <a:ea typeface="Franklin Gothic Book" charset="0"/>
                <a:cs typeface="Franklin Gothic Book" charset="0"/>
              </a:defRPr>
            </a:lvl1pPr>
          </a:lstStyle>
          <a:p>
            <a:r>
              <a:rPr lang="en-US" dirty="0"/>
              <a:t>Confidential Information. Use and disclosure limited for Gates business purposes only. ©2018 Gates Inc. All rights reserved. </a:t>
            </a:r>
          </a:p>
        </p:txBody>
      </p:sp>
      <p:graphicFrame>
        <p:nvGraphicFramePr>
          <p:cNvPr id="8" name="Chart 7"/>
          <p:cNvGraphicFramePr>
            <a:graphicFrameLocks noGrp="1"/>
          </p:cNvGraphicFramePr>
          <p:nvPr/>
        </p:nvGraphicFramePr>
        <p:xfrm>
          <a:off x="509588" y="1981199"/>
          <a:ext cx="7132320" cy="5486400"/>
        </p:xfrm>
        <a:graphic>
          <a:graphicData uri="http://schemas.openxmlformats.org/drawingml/2006/chart">
            <c:chart xmlns:c="http://schemas.openxmlformats.org/drawingml/2006/chart" r:id="rId3"/>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Carne: consumo +4.5%, producción +2.6%</a:t>
            </a:r>
          </a:p>
        </p:txBody>
      </p:sp>
      <p:sp>
        <p:nvSpPr>
          <p:cNvPr id="3" name="Content Placeholder 2"/>
          <p:cNvSpPr>
            <a:spLocks noGrp="1"/>
          </p:cNvSpPr>
          <p:nvPr>
            <p:ph idx="1" sz="half"/>
          </p:nvPr>
        </p:nvSpPr>
        <p:spPr>
          <a:xfrm>
            <a:off x="509588" y="5775960"/>
            <a:ext cx="7132320" cy="1691640"/>
          </a:xfrm>
        </p:spPr>
        <p:txBody>
          <a:bodyPr/>
          <a:lstStyle/>
          <a:p>
            <a:pPr lvl="1" marL="273050" indent="0">
              <a:buNone/>
            </a:pPr>
            <a:r>
              <a:rPr lang="es-MX">
                <a:latin typeface="Franklin Gothic Book"/>
              </a:rPr>
              <a:t>Crecimiento 2025, % anual. Consumo total: 11.3 millones de toneladas, máximo histórico; es consumo aparente y no implica más turnos en planta.</a:t>
            </a:r>
          </a:p>
          <a:p>
            <a:pPr lvl="3" marL="0" indent="0">
              <a:buNone/>
            </a:pPr>
            <a:r>
              <a:rPr lang="es-MX">
                <a:latin typeface="Franklin Gothic Book"/>
              </a:rPr>
              <a:t>Fuente: Comecarne, Compendio 2026, citado por prensa (apéndice 1).</a:t>
            </a:r>
          </a:p>
        </p:txBody>
      </p:sp>
      <p:sp>
        <p:nvSpPr>
          <p:cNvPr id="4" name="Content Placeholder 3"/>
          <p:cNvSpPr>
            <a:spLocks noGrp="1"/>
          </p:cNvSpPr>
          <p:nvPr>
            <p:ph idx="2" sz="half"/>
          </p:nvPr>
        </p:nvSpPr>
        <p:spPr/>
        <p:txBody>
          <a:bodyPr/>
          <a:lstStyle/>
          <a:p>
            <a:pPr marL="0" indent="0">
              <a:buNone/>
            </a:pPr>
            <a:r>
              <a:rPr lang="es-MX"/>
              <a:t>Pronóstico 2026</a:t>
            </a:r>
          </a:p>
          <a:p>
            <a:pPr lvl="1"/>
            <a:r>
              <a:rPr lang="es-MX"/>
              <a:t>USDA: pollo +2% y pie de cría porcino +2%</a:t>
            </a:r>
          </a:p>
          <a:p>
            <a:pPr lvl="2"/>
            <a:r>
              <a:rPr lang="es-MX"/>
              <a:t>El pie de cría es inventario, no producción; bovino sin cifra en el resumen consultado</a:t>
            </a:r>
          </a:p>
          <a:p>
            <a:pPr marL="0" indent="0">
              <a:buNone/>
            </a:pPr>
            <a:r>
              <a:rPr lang="es-MX"/>
              <a:t>Inversión anunciada: no es demanda actual</a:t>
            </a:r>
          </a:p>
          <a:p>
            <a:pPr lvl="1"/>
            <a:r>
              <a:rPr lang="es-MX"/>
              <a:t>Pilgrim's: 1,300 mdd en México 2026–2030 (+38% de capacidad)</a:t>
            </a:r>
          </a:p>
          <a:p>
            <a:pPr lvl="1"/>
            <a:r>
              <a:rPr lang="es-MX"/>
              <a:t>Bafar: parque de La Piedad, 650 mdd, en obra (Reporte Anual 2024)</a:t>
            </a:r>
          </a:p>
          <a:p>
            <a:pPr marL="0" indent="0">
              <a:buNone/>
            </a:pPr>
            <a:r>
              <a:rPr lang="es-MX"/>
              <a:t>Pronóstico 2027</a:t>
            </a:r>
          </a:p>
          <a:p>
            <a:pPr lvl="1"/>
            <a:r>
              <a:rPr lang="es-MX"/>
              <a:t>Las fuentes consultadas no publican cifra</a:t>
            </a:r>
          </a:p>
        </p:txBody>
      </p:sp>
      <p:sp>
        <p:nvSpPr>
          <p:cNvPr id="5" name="Text Placeholder 4"/>
          <p:cNvSpPr>
            <a:spLocks noGrp="1"/>
          </p:cNvSpPr>
          <p:nvPr>
            <p:ph type="body" idx="13" sz="quarter"/>
          </p:nvPr>
        </p:nvSpPr>
        <p:spPr/>
        <p:txBody>
          <a:bodyPr/>
          <a:lstStyle/>
          <a:p>
            <a:r>
              <a:rPr lang="es-MX"/>
              <a:t>En 2025 el consumo creció más que la producción; la diferencia se cubrió con importación</a:t>
            </a:r>
          </a:p>
        </p:txBody>
      </p:sp>
      <p:sp>
        <p:nvSpPr>
          <p:cNvPr id="6" name="Slide Number Placeholder"/>
          <p:cNvSpPr>
            <a:spLocks noGrp="1"/>
          </p:cNvSpPr>
          <p:nvPr>
            <p:ph type="sldNum" sz="quarter" idx="12"/>
          </p:nvPr>
        </p:nvSpPr>
        <p:spPr/>
        <p:txBody>
          <a:bodyPr/>
          <a:lstStyle/>
          <a:p>
            <a:fld id="{A0BE9D2B-0ED2-4BCC-B2A9-58657EACF6C0}" type="slidenum">
              <a:rPr lang="es-MX"/>
              <a:pPr/>
              <a:t>‹#›</a:t>
            </a:fld>
            <a:endParaRPr lang="es-MX"/>
          </a:p>
        </p:txBody>
      </p:sp>
      <p:sp>
        <p:nvSpPr>
          <p:cNvPr id="7" name="Footer Placeholder 4"/>
          <p:cNvSpPr>
            <a:spLocks noGrp="1"/>
          </p:cNvSpPr>
          <p:nvPr>
            <p:ph type="ftr" sz="quarter" idx="3"/>
          </p:nvPr>
        </p:nvSpPr>
        <p:spPr/>
        <p:txBody>
          <a:bodyPr/>
          <a:lstStyle>
            <a:lvl1pPr algn="l">
              <a:defRPr sz="900">
                <a:solidFill>
                  <a:srgbClr val="797979"/>
                </a:solidFill>
                <a:latin typeface="Franklin Gothic Book" charset="0"/>
                <a:ea typeface="Franklin Gothic Book" charset="0"/>
                <a:cs typeface="Franklin Gothic Book" charset="0"/>
              </a:defRPr>
            </a:lvl1pPr>
          </a:lstStyle>
          <a:p>
            <a:r>
              <a:rPr lang="en-US" dirty="0"/>
              <a:t>Confidential Information. Use and disclosure limited for Gates business purposes only. ©2018 Gates Inc. All rights reserved. </a:t>
            </a:r>
          </a:p>
        </p:txBody>
      </p:sp>
      <p:graphicFrame>
        <p:nvGraphicFramePr>
          <p:cNvPr id="8" name="Chart 7"/>
          <p:cNvGraphicFramePr>
            <a:graphicFrameLocks noGrp="1"/>
          </p:cNvGraphicFramePr>
          <p:nvPr/>
        </p:nvGraphicFramePr>
        <p:xfrm>
          <a:off x="509588" y="1981199"/>
          <a:ext cx="7132320" cy="3657600"/>
        </p:xfrm>
        <a:graphic>
          <a:graphicData uri="http://schemas.openxmlformats.org/drawingml/2006/chart">
            <c:chart xmlns:c="http://schemas.openxmlformats.org/drawingml/2006/chart" r:id="rId3"/>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Por qué proteína animal</a:t>
            </a:r>
          </a:p>
        </p:txBody>
      </p:sp>
      <p:sp>
        <p:nvSpPr>
          <p:cNvPr id="3" name="Content Placeholder 2"/>
          <p:cNvSpPr>
            <a:spLocks noGrp="1"/>
          </p:cNvSpPr>
          <p:nvPr>
            <p:ph idx="1" sz="half"/>
          </p:nvPr>
        </p:nvSpPr>
        <p:spPr>
          <a:xfrm>
            <a:off x="509588" y="4541520"/>
            <a:ext cx="7132320" cy="2971800"/>
          </a:xfrm>
        </p:spPr>
        <p:txBody>
          <a:bodyPr/>
          <a:lstStyle/>
          <a:p>
            <a:pPr lvl="1" marL="273050" indent="0">
              <a:buNone/>
            </a:pPr>
            <a:r>
              <a:rPr lang="es-MX">
                <a:latin typeface="Franklin Gothic Book"/>
              </a:rPr>
              <a:t>Tasa de ganancia, % (ganadas / ganadas + perdidas), CRM de Gates, oportunidades elegibles</a:t>
            </a:r>
          </a:p>
          <a:p>
            <a:pPr lvl="1"/>
            <a:r>
              <a:rPr lang="es-MX"/>
              <a:t>60 claves en 19 estados: 149 ganadas y 54 perdidas</a:t>
            </a:r>
          </a:p>
          <a:p>
            <a:pPr lvl="3"/>
            <a:r>
              <a:rPr lang="es-MX"/>
              <a:t>53.0 millones MXN de potencial anual registrado, acumulado</a:t>
            </a:r>
          </a:p>
          <a:p>
            <a:pPr lvl="1"/>
            <a:r>
              <a:rPr lang="es-MX"/>
              <a:t>El 73.4% se concentra en 4 claves</a:t>
            </a:r>
          </a:p>
          <a:p>
            <a:pPr lvl="3"/>
            <a:r>
              <a:rPr lang="es-MX"/>
              <a:t>Sin ellas, 65.0%; los 4 grupos de esta presentación suman 51 ganadas y 28 perdidas (64.6%)</a:t>
            </a:r>
          </a:p>
          <a:p>
            <a:pPr lvl="1"/>
            <a:r>
              <a:rPr lang="es-MX"/>
              <a:t>Food &amp; Beverage: 3.er mercado del CRM</a:t>
            </a:r>
          </a:p>
          <a:p>
            <a:pPr lvl="3"/>
            <a:r>
              <a:rPr lang="es-MX"/>
              <a:t>391 ganadas y 128.8 millones MXN, tras Manufactura general y Minería; casi empata con Vehículos pesados</a:t>
            </a:r>
          </a:p>
        </p:txBody>
      </p:sp>
      <p:sp>
        <p:nvSpPr>
          <p:cNvPr id="4" name="Content Placeholder 3"/>
          <p:cNvSpPr>
            <a:spLocks noGrp="1"/>
          </p:cNvSpPr>
          <p:nvPr>
            <p:ph idx="2" sz="half"/>
          </p:nvPr>
        </p:nvSpPr>
        <p:spPr/>
        <p:txBody>
          <a:bodyPr/>
          <a:lstStyle/>
          <a:p>
            <a:pPr marL="0" indent="0">
              <a:buNone/>
            </a:pPr>
            <a:r>
              <a:rPr lang="es-MX"/>
              <a:t>Mercado en crecimiento</a:t>
            </a:r>
          </a:p>
          <a:p>
            <a:pPr lvl="1"/>
            <a:r>
              <a:rPr lang="es-MX"/>
              <a:t>Consumo de carne +4.5% frente a producción +2.6%</a:t>
            </a:r>
          </a:p>
          <a:p>
            <a:pPr lvl="2"/>
            <a:r>
              <a:rPr lang="es-MX"/>
              <a:t>La diferencia se cubre con importación; PIB primario +4.0% frente a industria −1.1%</a:t>
            </a:r>
          </a:p>
        </p:txBody>
      </p:sp>
      <p:sp>
        <p:nvSpPr>
          <p:cNvPr id="5" name="Content Placeholder 4"/>
          <p:cNvSpPr>
            <a:spLocks noGrp="1"/>
          </p:cNvSpPr>
          <p:nvPr>
            <p:ph idx="15" sz="half"/>
          </p:nvPr>
        </p:nvSpPr>
        <p:spPr/>
        <p:txBody>
          <a:bodyPr/>
          <a:lstStyle/>
          <a:p>
            <a:pPr marL="0" indent="0">
              <a:buNone/>
            </a:pPr>
            <a:r>
              <a:rPr lang="es-MX"/>
              <a:t>Inversión y réplica</a:t>
            </a:r>
          </a:p>
          <a:p>
            <a:pPr lvl="1"/>
            <a:r>
              <a:rPr lang="es-MX"/>
              <a:t>Inversión anunciada: no es demanda actual</a:t>
            </a:r>
          </a:p>
          <a:p>
            <a:pPr lvl="3"/>
            <a:r>
              <a:rPr lang="es-MX"/>
              <a:t>Pilgrim's 1,300 mdd (2026–2030); Bafar 650 mdd en La Piedad</a:t>
            </a:r>
          </a:p>
          <a:p>
            <a:pPr lvl="1"/>
            <a:r>
              <a:rPr lang="es-MX"/>
              <a:t>Réplica por validar planta por planta</a:t>
            </a:r>
          </a:p>
          <a:p>
            <a:pPr lvl="3"/>
            <a:r>
              <a:rPr lang="es-MX"/>
              <a:t>Bachoco 64 plantas (10 procesadoras), Sigma 24, SuKarne 10 TIF, Pilgrim's 6 TIF; 1 de 6 pares se sostiene con condición</a:t>
            </a:r>
          </a:p>
          <a:p>
            <a:pPr lvl="3" marL="0" indent="0">
              <a:buNone/>
            </a:pPr>
            <a:r>
              <a:rPr lang="es-MX">
                <a:latin typeface="Franklin Gothic Book"/>
              </a:rPr>
              <a:t>Límites: sin cifra 2027; 60 claves por nombre. Fuentes: apéndices 1 y 2</a:t>
            </a:r>
          </a:p>
        </p:txBody>
      </p:sp>
      <p:sp>
        <p:nvSpPr>
          <p:cNvPr id="6" name="Text Placeholder 5"/>
          <p:cNvSpPr>
            <a:spLocks noGrp="1"/>
          </p:cNvSpPr>
          <p:nvPr>
            <p:ph type="body" idx="13" sz="quarter"/>
          </p:nvPr>
        </p:nvSpPr>
        <p:spPr/>
        <p:txBody>
          <a:bodyPr/>
          <a:lstStyle/>
          <a:p>
            <a:r>
              <a:rPr lang="es-MX"/>
              <a:t>Los 4 grupos ganan como el promedio (64.6%); el argumento es el número de plantas</a:t>
            </a:r>
          </a:p>
        </p:txBody>
      </p:sp>
      <p:sp>
        <p:nvSpPr>
          <p:cNvPr id="7" name="Slide Number Placeholder"/>
          <p:cNvSpPr>
            <a:spLocks noGrp="1"/>
          </p:cNvSpPr>
          <p:nvPr>
            <p:ph type="sldNum" sz="quarter" idx="12"/>
          </p:nvPr>
        </p:nvSpPr>
        <p:spPr/>
        <p:txBody>
          <a:bodyPr/>
          <a:lstStyle/>
          <a:p>
            <a:fld id="{A0BE9D2B-0ED2-4BCC-B2A9-58657EACF6C0}" type="slidenum">
              <a:rPr lang="es-MX"/>
              <a:pPr/>
              <a:t>‹#›</a:t>
            </a:fld>
            <a:endParaRPr lang="es-MX"/>
          </a:p>
        </p:txBody>
      </p:sp>
      <p:sp>
        <p:nvSpPr>
          <p:cNvPr id="8" name="Footer Placeholder 4"/>
          <p:cNvSpPr>
            <a:spLocks noGrp="1"/>
          </p:cNvSpPr>
          <p:nvPr>
            <p:ph type="ftr" sz="quarter" idx="3"/>
          </p:nvPr>
        </p:nvSpPr>
        <p:spPr/>
        <p:txBody>
          <a:bodyPr/>
          <a:lstStyle>
            <a:lvl1pPr algn="l">
              <a:defRPr sz="900">
                <a:solidFill>
                  <a:srgbClr val="797979"/>
                </a:solidFill>
                <a:latin typeface="Franklin Gothic Book" charset="0"/>
                <a:ea typeface="Franklin Gothic Book" charset="0"/>
                <a:cs typeface="Franklin Gothic Book" charset="0"/>
              </a:defRPr>
            </a:lvl1pPr>
          </a:lstStyle>
          <a:p>
            <a:r>
              <a:rPr lang="en-US" dirty="0"/>
              <a:t>Confidential Information. Use and disclosure limited for Gates business purposes only. ©2018 Gates Inc. All rights reserved. </a:t>
            </a:r>
          </a:p>
        </p:txBody>
      </p:sp>
      <p:graphicFrame>
        <p:nvGraphicFramePr>
          <p:cNvPr id="9" name="Chart 8"/>
          <p:cNvGraphicFramePr>
            <a:graphicFrameLocks noGrp="1"/>
          </p:cNvGraphicFramePr>
          <p:nvPr/>
        </p:nvGraphicFramePr>
        <p:xfrm>
          <a:off x="509588" y="1981199"/>
          <a:ext cx="7132320" cy="2514600"/>
        </p:xfrm>
        <a:graphic>
          <a:graphicData uri="http://schemas.openxmlformats.org/drawingml/2006/chart">
            <c:chart xmlns:c="http://schemas.openxmlformats.org/drawingml/2006/chart" r:id="rId3"/>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Experiencia ganada que sirve de origen</a:t>
            </a:r>
          </a:p>
        </p:txBody>
      </p:sp>
      <p:sp>
        <p:nvSpPr>
          <p:cNvPr id="3" name="Text Placeholder 2"/>
          <p:cNvSpPr>
            <a:spLocks noGrp="1"/>
          </p:cNvSpPr>
          <p:nvPr>
            <p:ph type="body" idx="13" sz="quarter"/>
          </p:nvPr>
        </p:nvSpPr>
        <p:spPr/>
        <p:txBody>
          <a:bodyPr/>
          <a:lstStyle/>
          <a:p>
            <a:r>
              <a:rPr lang="es-MX"/>
              <a:t>Los montos son potencial anual registrado en el CRM, no facturación</a:t>
            </a:r>
          </a:p>
        </p:txBody>
      </p:sp>
      <p:sp>
        <p:nvSpPr>
          <p:cNvPr id="4" name="Content Placeholder 3"/>
          <p:cNvSpPr>
            <a:spLocks noGrp="1"/>
          </p:cNvSpPr>
          <p:nvPr>
            <p:ph idx="1" sz="half"/>
          </p:nvPr>
        </p:nvSpPr>
        <p:spPr>
          <a:xfrm>
            <a:off x="704088" y="6217920"/>
            <a:ext cx="14987016" cy="1874519"/>
          </a:xfrm>
        </p:spPr>
        <p:txBody>
          <a:bodyPr/>
          <a:lstStyle/>
          <a:p>
            <a:pPr lvl="1"/>
            <a:r>
              <a:rPr lang="es-MX"/>
              <a:t>Ryasa y Rybalsa son distribuidores: canal, no usuario final</a:t>
            </a:r>
          </a:p>
          <a:p>
            <a:pPr lvl="1"/>
            <a:r>
              <a:rPr lang="es-MX"/>
              <a:t>La nomenclatura da solo la familia; máquina, número de parte e intervalo se definen en visita, igual que cuál de los 3 TIF de Gómez Palacio es el origen de Pilgrim's y si su banda TPU es de transmisión o de transporte</a:t>
            </a:r>
          </a:p>
          <a:p>
            <a:pPr lvl="1"/>
            <a:r>
              <a:rPr lang="es-MX"/>
              <a:t>SuKarne: en TIF 718 solo se replican las bandas de Lucero (parcial); la manguera hidráulica no aplica. Bafar: caso espejo de otro grupo, evidencia más débil</a:t>
            </a:r>
          </a:p>
        </p:txBody>
      </p:sp>
      <p:sp>
        <p:nvSpPr>
          <p:cNvPr id="5" name="Slide Number Placeholder"/>
          <p:cNvSpPr>
            <a:spLocks noGrp="1"/>
          </p:cNvSpPr>
          <p:nvPr>
            <p:ph type="sldNum" sz="quarter" idx="12"/>
          </p:nvPr>
        </p:nvSpPr>
        <p:spPr/>
        <p:txBody>
          <a:bodyPr/>
          <a:lstStyle/>
          <a:p>
            <a:fld id="{A0BE9D2B-0ED2-4BCC-B2A9-58657EACF6C0}" type="slidenum">
              <a:rPr lang="es-MX"/>
              <a:pPr/>
              <a:t>‹#›</a:t>
            </a:fld>
            <a:endParaRPr lang="es-MX"/>
          </a:p>
        </p:txBody>
      </p:sp>
      <p:sp>
        <p:nvSpPr>
          <p:cNvPr id="6" name="Footer Placeholder 4"/>
          <p:cNvSpPr>
            <a:spLocks noGrp="1"/>
          </p:cNvSpPr>
          <p:nvPr>
            <p:ph type="ftr" sz="quarter" idx="3"/>
          </p:nvPr>
        </p:nvSpPr>
        <p:spPr/>
        <p:txBody>
          <a:bodyPr/>
          <a:lstStyle>
            <a:lvl1pPr algn="l">
              <a:defRPr sz="900">
                <a:solidFill>
                  <a:srgbClr val="797979"/>
                </a:solidFill>
                <a:latin typeface="Franklin Gothic Book" charset="0"/>
                <a:ea typeface="Franklin Gothic Book" charset="0"/>
                <a:cs typeface="Franklin Gothic Book" charset="0"/>
              </a:defRPr>
            </a:lvl1pPr>
          </a:lstStyle>
          <a:p>
            <a:r>
              <a:rPr lang="en-US" dirty="0"/>
              <a:t>Confidential Information. Use and disclosure limited for Gates business purposes only. ©2018 Gates Inc. All rights reserved. </a:t>
            </a:r>
          </a:p>
        </p:txBody>
      </p:sp>
      <p:graphicFrame>
        <p:nvGraphicFramePr>
          <p:cNvPr id="7" name="Table 6"/>
          <p:cNvGraphicFramePr>
            <a:graphicFrameLocks noGrp="1"/>
          </p:cNvGraphicFramePr>
          <p:nvPr/>
        </p:nvGraphicFramePr>
        <p:xfrm>
          <a:off x="704088" y="1920240"/>
          <a:ext cx="14987014" cy="1920240"/>
        </p:xfrm>
        <a:graphic>
          <a:graphicData uri="http://schemas.openxmlformats.org/drawingml/2006/table">
            <a:tbl>
              <a:tblPr firstRow="1">
                <a:tableStyleId>{5C22544A-7EE6-4342-B048-85BDC9FD1C3A}</a:tableStyleId>
              </a:tblPr>
              <a:tblGrid>
                <a:gridCol w="1527339"/>
                <a:gridCol w="6013898"/>
                <a:gridCol w="1622797"/>
                <a:gridCol w="1145504"/>
                <a:gridCol w="2481926"/>
                <a:gridCol w="2195550"/>
              </a:tblGrid>
              <a:tr h="274320">
                <a:tc>
                  <a:txBody>
                    <a:bodyPr wrap="square"/>
                    <a:lstStyle/>
                    <a:p>
                      <a:r>
                        <a:rPr sz="1400" lang="es-MX">
                          <a:solidFill>
                            <a:schemeClr val="bg1"/>
                          </a:solidFill>
                          <a:latin typeface="Franklin Gothic Book"/>
                        </a:rPr>
                        <a:t>Grupo</a:t>
                      </a:r>
                    </a:p>
                  </a:txBody>
                  <a:tcPr marL="73152" marR="73152" marT="36576" marB="36576" anchor="ctr">
                    <a:solidFill>
                      <a:schemeClr val="accent1"/>
                    </a:solidFill>
                  </a:tcPr>
                </a:tc>
                <a:tc>
                  <a:txBody>
                    <a:bodyPr wrap="square"/>
                    <a:lstStyle/>
                    <a:p>
                      <a:r>
                        <a:rPr sz="1400" lang="es-MX">
                          <a:solidFill>
                            <a:schemeClr val="bg1"/>
                          </a:solidFill>
                          <a:latin typeface="Franklin Gothic Book"/>
                        </a:rPr>
                        <a:t>Oportunidad ganada (nomenclatura completa del CRM)</a:t>
                      </a:r>
                    </a:p>
                  </a:txBody>
                  <a:tcPr marL="73152" marR="73152" marT="36576" marB="36576" anchor="ctr">
                    <a:solidFill>
                      <a:schemeClr val="accent1"/>
                    </a:solidFill>
                  </a:tcPr>
                </a:tc>
                <a:tc>
                  <a:txBody>
                    <a:bodyPr wrap="square"/>
                    <a:lstStyle/>
                    <a:p>
                      <a:r>
                        <a:rPr sz="1400" lang="es-MX">
                          <a:solidFill>
                            <a:schemeClr val="bg1"/>
                          </a:solidFill>
                          <a:latin typeface="Franklin Gothic Book"/>
                        </a:rPr>
                        <a:t>N.º CRM</a:t>
                      </a:r>
                    </a:p>
                  </a:txBody>
                  <a:tcPr marL="73152" marR="73152" marT="36576" marB="36576" anchor="ctr">
                    <a:solidFill>
                      <a:schemeClr val="accent1"/>
                    </a:solidFill>
                  </a:tcPr>
                </a:tc>
                <a:tc>
                  <a:txBody>
                    <a:bodyPr wrap="square"/>
                    <a:lstStyle/>
                    <a:p>
                      <a:r>
                        <a:rPr sz="1400" lang="es-MX">
                          <a:solidFill>
                            <a:schemeClr val="bg1"/>
                          </a:solidFill>
                          <a:latin typeface="Franklin Gothic Book"/>
                        </a:rPr>
                        <a:t>Año de cierre</a:t>
                      </a:r>
                    </a:p>
                  </a:txBody>
                  <a:tcPr marL="73152" marR="73152" marT="36576" marB="36576" anchor="ctr">
                    <a:solidFill>
                      <a:schemeClr val="accent1"/>
                    </a:solidFill>
                  </a:tcPr>
                </a:tc>
                <a:tc>
                  <a:txBody>
                    <a:bodyPr wrap="square"/>
                    <a:lstStyle/>
                    <a:p>
                      <a:r>
                        <a:rPr sz="1400" lang="es-MX">
                          <a:solidFill>
                            <a:schemeClr val="bg1"/>
                          </a:solidFill>
                          <a:latin typeface="Franklin Gothic Book"/>
                        </a:rPr>
                        <a:t>Potencial anual registrado, MXN</a:t>
                      </a:r>
                    </a:p>
                  </a:txBody>
                  <a:tcPr marL="73152" marR="73152" marT="36576" marB="36576" anchor="ctr">
                    <a:solidFill>
                      <a:schemeClr val="accent1"/>
                    </a:solidFill>
                  </a:tcPr>
                </a:tc>
                <a:tc>
                  <a:txBody>
                    <a:bodyPr wrap="square"/>
                    <a:lstStyle/>
                    <a:p>
                      <a:r>
                        <a:rPr sz="1400" lang="es-MX">
                          <a:solidFill>
                            <a:schemeClr val="bg1"/>
                          </a:solidFill>
                          <a:latin typeface="Franklin Gothic Book"/>
                        </a:rPr>
                        <a:t>Familia</a:t>
                      </a:r>
                    </a:p>
                  </a:txBody>
                  <a:tcPr marL="73152" marR="73152" marT="36576" marB="36576" anchor="ctr">
                    <a:solidFill>
                      <a:schemeClr val="accent1"/>
                    </a:solidFill>
                  </a:tcPr>
                </a:tc>
              </a:tr>
              <a:tr h="274320">
                <a:tc>
                  <a:txBody>
                    <a:bodyPr wrap="square"/>
                    <a:lstStyle/>
                    <a:p>
                      <a:r>
                        <a:rPr sz="1400" b="1" lang="es-MX">
                          <a:solidFill>
                            <a:schemeClr val="tx1"/>
                          </a:solidFill>
                          <a:latin typeface="Franklin Gothic Book"/>
                        </a:rPr>
                        <a:t>SuKarne</a:t>
                      </a:r>
                    </a:p>
                  </a:txBody>
                  <a:tcPr marL="73152" marR="73152" marT="36576" marB="36576" anchor="ctr">
                    <a:solidFill>
                      <a:schemeClr val="bg1"/>
                    </a:solidFill>
                  </a:tcPr>
                </a:tc>
                <a:tc>
                  <a:txBody>
                    <a:bodyPr wrap="square"/>
                    <a:lstStyle/>
                    <a:p>
                      <a:r>
                        <a:rPr sz="1400" lang="es-MX">
                          <a:solidFill>
                            <a:schemeClr val="tx1"/>
                          </a:solidFill>
                          <a:latin typeface="Franklin Gothic Book"/>
                        </a:rPr>
                        <a:t>3.1 SuKarne Lucero - Planta TIF 645 - Durango FP-HYDRAULICS-653517</a:t>
                      </a:r>
                    </a:p>
                  </a:txBody>
                  <a:tcPr marL="73152" marR="73152" marT="36576" marB="36576" anchor="ctr">
                    <a:solidFill>
                      <a:schemeClr val="bg1"/>
                    </a:solidFill>
                  </a:tcPr>
                </a:tc>
                <a:tc>
                  <a:txBody>
                    <a:bodyPr wrap="square"/>
                    <a:lstStyle/>
                    <a:p>
                      <a:r>
                        <a:rPr sz="1400" lang="es-MX">
                          <a:solidFill>
                            <a:schemeClr val="tx1"/>
                          </a:solidFill>
                          <a:latin typeface="Franklin Gothic Book"/>
                        </a:rPr>
                        <a:t>653517</a:t>
                      </a:r>
                    </a:p>
                  </a:txBody>
                  <a:tcPr marL="73152" marR="73152" marT="36576" marB="36576" anchor="ctr">
                    <a:solidFill>
                      <a:schemeClr val="bg1"/>
                    </a:solidFill>
                  </a:tcPr>
                </a:tc>
                <a:tc>
                  <a:txBody>
                    <a:bodyPr wrap="square"/>
                    <a:lstStyle/>
                    <a:p>
                      <a:r>
                        <a:rPr sz="1400" lang="es-MX">
                          <a:solidFill>
                            <a:schemeClr val="tx1"/>
                          </a:solidFill>
                          <a:latin typeface="Franklin Gothic Book"/>
                        </a:rPr>
                        <a:t>2024</a:t>
                      </a:r>
                    </a:p>
                  </a:txBody>
                  <a:tcPr marL="73152" marR="73152" marT="36576" marB="36576" anchor="ctr">
                    <a:solidFill>
                      <a:schemeClr val="bg1"/>
                    </a:solidFill>
                  </a:tcPr>
                </a:tc>
                <a:tc>
                  <a:txBody>
                    <a:bodyPr wrap="square"/>
                    <a:lstStyle/>
                    <a:p>
                      <a:r>
                        <a:rPr sz="1400" lang="es-MX">
                          <a:solidFill>
                            <a:schemeClr val="tx1"/>
                          </a:solidFill>
                          <a:latin typeface="Franklin Gothic Book"/>
                        </a:rPr>
                        <a:t>412,664.84</a:t>
                      </a:r>
                    </a:p>
                  </a:txBody>
                  <a:tcPr marL="73152" marR="73152" marT="36576" marB="36576" anchor="ctr">
                    <a:solidFill>
                      <a:schemeClr val="bg1"/>
                    </a:solidFill>
                  </a:tcPr>
                </a:tc>
                <a:tc>
                  <a:txBody>
                    <a:bodyPr wrap="square"/>
                    <a:lstStyle/>
                    <a:p>
                      <a:r>
                        <a:rPr sz="1400" lang="es-MX">
                          <a:solidFill>
                            <a:schemeClr val="tx1"/>
                          </a:solidFill>
                          <a:latin typeface="Franklin Gothic Book"/>
                        </a:rPr>
                        <a:t>FP-HYDRAULICS</a:t>
                      </a:r>
                    </a:p>
                  </a:txBody>
                  <a:tcPr marL="73152" marR="73152" marT="36576" marB="36576" anchor="ctr">
                    <a:solidFill>
                      <a:schemeClr val="bg1"/>
                    </a:solidFill>
                  </a:tcPr>
                </a:tc>
              </a:tr>
              <a:tr h="274320">
                <a:tc>
                  <a:txBody>
                    <a:bodyPr wrap="square"/>
                    <a:lstStyle/>
                    <a:p>
                      <a:r>
                        <a:rPr sz="1400" b="1" lang="es-MX">
                          <a:solidFill>
                            <a:schemeClr val="tx1"/>
                          </a:solidFill>
                          <a:latin typeface="Franklin Gothic Book"/>
                        </a:rPr>
                        <a:t>SuKarne</a:t>
                      </a:r>
                    </a:p>
                  </a:txBody>
                  <a:tcPr marL="73152" marR="73152" marT="36576" marB="36576" anchor="ctr">
                    <a:solidFill>
                      <a:schemeClr val="bg2">
                        <a:lumMod val="20000"/>
                        <a:lumOff val="80000"/>
                      </a:schemeClr>
                    </a:solidFill>
                  </a:tcPr>
                </a:tc>
                <a:tc>
                  <a:txBody>
                    <a:bodyPr wrap="square"/>
                    <a:lstStyle/>
                    <a:p>
                      <a:r>
                        <a:rPr sz="1400" lang="es-MX">
                          <a:solidFill>
                            <a:schemeClr val="tx1"/>
                          </a:solidFill>
                          <a:latin typeface="Franklin Gothic Book"/>
                        </a:rPr>
                        <a:t>7.1 HID MXT Ganaderia Integral Monarca Su Karne Vista Hermosa, - Ryasa Morelia - 717533</a:t>
                      </a:r>
                    </a:p>
                  </a:txBody>
                  <a:tcPr marL="73152" marR="73152" marT="36576" marB="36576" anchor="ctr">
                    <a:solidFill>
                      <a:schemeClr val="bg2">
                        <a:lumMod val="20000"/>
                        <a:lumOff val="80000"/>
                      </a:schemeClr>
                    </a:solidFill>
                  </a:tcPr>
                </a:tc>
                <a:tc>
                  <a:txBody>
                    <a:bodyPr wrap="square"/>
                    <a:lstStyle/>
                    <a:p>
                      <a:r>
                        <a:rPr sz="1400" lang="es-MX">
                          <a:solidFill>
                            <a:schemeClr val="tx1"/>
                          </a:solidFill>
                          <a:latin typeface="Franklin Gothic Book"/>
                        </a:rPr>
                        <a:t>717533</a:t>
                      </a:r>
                    </a:p>
                  </a:txBody>
                  <a:tcPr marL="73152" marR="73152" marT="36576" marB="36576" anchor="ctr">
                    <a:solidFill>
                      <a:schemeClr val="bg2">
                        <a:lumMod val="20000"/>
                        <a:lumOff val="80000"/>
                      </a:schemeClr>
                    </a:solidFill>
                  </a:tcPr>
                </a:tc>
                <a:tc>
                  <a:txBody>
                    <a:bodyPr wrap="square"/>
                    <a:lstStyle/>
                    <a:p>
                      <a:r>
                        <a:rPr sz="1400" lang="es-MX">
                          <a:solidFill>
                            <a:schemeClr val="tx1"/>
                          </a:solidFill>
                          <a:latin typeface="Franklin Gothic Book"/>
                        </a:rPr>
                        <a:t>2024</a:t>
                      </a:r>
                    </a:p>
                  </a:txBody>
                  <a:tcPr marL="73152" marR="73152" marT="36576" marB="36576" anchor="ctr">
                    <a:solidFill>
                      <a:schemeClr val="bg2">
                        <a:lumMod val="20000"/>
                        <a:lumOff val="80000"/>
                      </a:schemeClr>
                    </a:solidFill>
                  </a:tcPr>
                </a:tc>
                <a:tc>
                  <a:txBody>
                    <a:bodyPr wrap="square"/>
                    <a:lstStyle/>
                    <a:p>
                      <a:r>
                        <a:rPr sz="1400" lang="es-MX">
                          <a:solidFill>
                            <a:schemeClr val="tx1"/>
                          </a:solidFill>
                          <a:latin typeface="Franklin Gothic Book"/>
                        </a:rPr>
                        <a:t>257,915.55</a:t>
                      </a:r>
                    </a:p>
                  </a:txBody>
                  <a:tcPr marL="73152" marR="73152" marT="36576" marB="36576" anchor="ctr">
                    <a:solidFill>
                      <a:schemeClr val="bg2">
                        <a:lumMod val="20000"/>
                        <a:lumOff val="80000"/>
                      </a:schemeClr>
                    </a:solidFill>
                  </a:tcPr>
                </a:tc>
                <a:tc>
                  <a:txBody>
                    <a:bodyPr wrap="square"/>
                    <a:lstStyle/>
                    <a:p>
                      <a:r>
                        <a:rPr sz="1400" lang="es-MX">
                          <a:solidFill>
                            <a:schemeClr val="tx1"/>
                          </a:solidFill>
                          <a:latin typeface="Franklin Gothic Book"/>
                        </a:rPr>
                        <a:t>FP-HYDRAULICS</a:t>
                      </a:r>
                    </a:p>
                  </a:txBody>
                  <a:tcPr marL="73152" marR="73152" marT="36576" marB="36576" anchor="ctr">
                    <a:solidFill>
                      <a:schemeClr val="bg2">
                        <a:lumMod val="20000"/>
                        <a:lumOff val="80000"/>
                      </a:schemeClr>
                    </a:solidFill>
                  </a:tcPr>
                </a:tc>
              </a:tr>
              <a:tr h="274320">
                <a:tc>
                  <a:txBody>
                    <a:bodyPr wrap="square"/>
                    <a:lstStyle/>
                    <a:p>
                      <a:r>
                        <a:rPr sz="1400" b="1" lang="es-MX">
                          <a:solidFill>
                            <a:schemeClr val="tx1"/>
                          </a:solidFill>
                          <a:latin typeface="Franklin Gothic Book"/>
                        </a:rPr>
                        <a:t>SuKarne</a:t>
                      </a:r>
                    </a:p>
                  </a:txBody>
                  <a:tcPr marL="73152" marR="73152" marT="36576" marB="36576" anchor="ctr">
                    <a:solidFill>
                      <a:schemeClr val="bg1"/>
                    </a:solidFill>
                  </a:tcPr>
                </a:tc>
                <a:tc>
                  <a:txBody>
                    <a:bodyPr wrap="square"/>
                    <a:lstStyle/>
                    <a:p>
                      <a:r>
                        <a:rPr sz="1400" lang="es-MX">
                          <a:solidFill>
                            <a:schemeClr val="tx1"/>
                          </a:solidFill>
                          <a:latin typeface="Franklin Gothic Book"/>
                        </a:rPr>
                        <a:t>7.1 PCC SuKarne Lucero - Planta TIF 645 - Durango PT-PU BELTS-574398</a:t>
                      </a:r>
                    </a:p>
                    <a:p>
                      <a:r>
                        <a:rPr sz="1400" lang="es-MX">
                          <a:solidFill>
                            <a:schemeClr val="tx1"/>
                          </a:solidFill>
                          <a:latin typeface="Franklin Gothic Book"/>
                        </a:rPr>
                        <a:t>7.1 V-B SuKarne Lucero - Planta TIF 645 - Durango PT-V-BELTS-656640</a:t>
                      </a:r>
                    </a:p>
                  </a:txBody>
                  <a:tcPr marL="73152" marR="73152" marT="36576" marB="36576" anchor="ctr">
                    <a:solidFill>
                      <a:schemeClr val="bg1"/>
                    </a:solidFill>
                  </a:tcPr>
                </a:tc>
                <a:tc>
                  <a:txBody>
                    <a:bodyPr wrap="square"/>
                    <a:lstStyle/>
                    <a:p>
                      <a:r>
                        <a:rPr sz="1400" lang="es-MX">
                          <a:solidFill>
                            <a:schemeClr val="tx1"/>
                          </a:solidFill>
                          <a:latin typeface="Franklin Gothic Book"/>
                        </a:rPr>
                        <a:t>574398</a:t>
                      </a:r>
                    </a:p>
                    <a:p>
                      <a:r>
                        <a:rPr sz="1400" lang="es-MX">
                          <a:solidFill>
                            <a:schemeClr val="tx1"/>
                          </a:solidFill>
                          <a:latin typeface="Franklin Gothic Book"/>
                        </a:rPr>
                        <a:t>656640</a:t>
                      </a:r>
                    </a:p>
                  </a:txBody>
                  <a:tcPr marL="73152" marR="73152" marT="36576" marB="36576" anchor="ctr">
                    <a:solidFill>
                      <a:schemeClr val="bg1"/>
                    </a:solidFill>
                  </a:tcPr>
                </a:tc>
                <a:tc>
                  <a:txBody>
                    <a:bodyPr wrap="square"/>
                    <a:lstStyle/>
                    <a:p>
                      <a:r>
                        <a:rPr sz="1400" lang="es-MX">
                          <a:solidFill>
                            <a:schemeClr val="tx1"/>
                          </a:solidFill>
                          <a:latin typeface="Franklin Gothic Book"/>
                        </a:rPr>
                        <a:t>2022</a:t>
                      </a:r>
                    </a:p>
                    <a:p>
                      <a:r>
                        <a:rPr sz="1400" lang="es-MX">
                          <a:solidFill>
                            <a:schemeClr val="tx1"/>
                          </a:solidFill>
                          <a:latin typeface="Franklin Gothic Book"/>
                        </a:rPr>
                        <a:t>2024</a:t>
                      </a:r>
                    </a:p>
                  </a:txBody>
                  <a:tcPr marL="73152" marR="73152" marT="36576" marB="36576" anchor="ctr">
                    <a:solidFill>
                      <a:schemeClr val="bg1"/>
                    </a:solidFill>
                  </a:tcPr>
                </a:tc>
                <a:tc>
                  <a:txBody>
                    <a:bodyPr wrap="square"/>
                    <a:lstStyle/>
                    <a:p>
                      <a:r>
                        <a:rPr sz="1400" lang="es-MX">
                          <a:solidFill>
                            <a:schemeClr val="tx1"/>
                          </a:solidFill>
                          <a:latin typeface="Franklin Gothic Book"/>
                        </a:rPr>
                        <a:t>262,738.95</a:t>
                      </a:r>
                    </a:p>
                    <a:p>
                      <a:r>
                        <a:rPr sz="1400" lang="es-MX">
                          <a:solidFill>
                            <a:schemeClr val="tx1"/>
                          </a:solidFill>
                          <a:latin typeface="Franklin Gothic Book"/>
                        </a:rPr>
                        <a:t>309,498.58</a:t>
                      </a:r>
                    </a:p>
                  </a:txBody>
                  <a:tcPr marL="73152" marR="73152" marT="36576" marB="36576" anchor="ctr">
                    <a:solidFill>
                      <a:schemeClr val="bg1"/>
                    </a:solidFill>
                  </a:tcPr>
                </a:tc>
                <a:tc>
                  <a:txBody>
                    <a:bodyPr wrap="square"/>
                    <a:lstStyle/>
                    <a:p>
                      <a:r>
                        <a:rPr sz="1400" lang="es-MX">
                          <a:solidFill>
                            <a:schemeClr val="tx1"/>
                          </a:solidFill>
                          <a:latin typeface="Franklin Gothic Book"/>
                        </a:rPr>
                        <a:t>PT-PU BELTS</a:t>
                      </a:r>
                    </a:p>
                    <a:p>
                      <a:r>
                        <a:rPr sz="1400" lang="es-MX">
                          <a:solidFill>
                            <a:schemeClr val="tx1"/>
                          </a:solidFill>
                          <a:latin typeface="Franklin Gothic Book"/>
                        </a:rPr>
                        <a:t>PT-V-BELTS</a:t>
                      </a:r>
                    </a:p>
                  </a:txBody>
                  <a:tcPr marL="73152" marR="73152" marT="36576" marB="36576" anchor="ctr">
                    <a:solidFill>
                      <a:schemeClr val="bg1"/>
                    </a:solidFill>
                  </a:tcPr>
                </a:tc>
              </a:tr>
              <a:tr h="274320">
                <a:tc>
                  <a:txBody>
                    <a:bodyPr wrap="square"/>
                    <a:lstStyle/>
                    <a:p>
                      <a:r>
                        <a:rPr sz="1400" b="1" lang="es-MX">
                          <a:solidFill>
                            <a:schemeClr val="tx1"/>
                          </a:solidFill>
                          <a:latin typeface="Franklin Gothic Book"/>
                        </a:rPr>
                        <a:t>Bachoco</a:t>
                      </a:r>
                    </a:p>
                  </a:txBody>
                  <a:tcPr marL="73152" marR="73152" marT="36576" marB="36576" anchor="ctr">
                    <a:solidFill>
                      <a:schemeClr val="bg2">
                        <a:lumMod val="20000"/>
                        <a:lumOff val="80000"/>
                      </a:schemeClr>
                    </a:solidFill>
                  </a:tcPr>
                </a:tc>
                <a:tc>
                  <a:txBody>
                    <a:bodyPr wrap="square"/>
                    <a:lstStyle/>
                    <a:p>
                      <a:r>
                        <a:rPr sz="1400" lang="es-MX">
                          <a:solidFill>
                            <a:schemeClr val="tx1"/>
                          </a:solidFill>
                          <a:latin typeface="Franklin Gothic Book"/>
                        </a:rPr>
                        <a:t>7.1 V-Belts Bachoco, S.A. de C.V. - Planta procesadora de aves Guanajuato - Guanajuato PT-V-BELTS-643201</a:t>
                      </a:r>
                    </a:p>
                  </a:txBody>
                  <a:tcPr marL="73152" marR="73152" marT="36576" marB="36576" anchor="ctr">
                    <a:solidFill>
                      <a:schemeClr val="bg2">
                        <a:lumMod val="20000"/>
                        <a:lumOff val="80000"/>
                      </a:schemeClr>
                    </a:solidFill>
                  </a:tcPr>
                </a:tc>
                <a:tc>
                  <a:txBody>
                    <a:bodyPr wrap="square"/>
                    <a:lstStyle/>
                    <a:p>
                      <a:r>
                        <a:rPr sz="1400" lang="es-MX">
                          <a:solidFill>
                            <a:schemeClr val="tx1"/>
                          </a:solidFill>
                          <a:latin typeface="Franklin Gothic Book"/>
                        </a:rPr>
                        <a:t>643201</a:t>
                      </a:r>
                    </a:p>
                  </a:txBody>
                  <a:tcPr marL="73152" marR="73152" marT="36576" marB="36576" anchor="ctr">
                    <a:solidFill>
                      <a:schemeClr val="bg2">
                        <a:lumMod val="20000"/>
                        <a:lumOff val="80000"/>
                      </a:schemeClr>
                    </a:solidFill>
                  </a:tcPr>
                </a:tc>
                <a:tc>
                  <a:txBody>
                    <a:bodyPr wrap="square"/>
                    <a:lstStyle/>
                    <a:p>
                      <a:r>
                        <a:rPr sz="1400" lang="es-MX">
                          <a:solidFill>
                            <a:schemeClr val="tx1"/>
                          </a:solidFill>
                          <a:latin typeface="Franklin Gothic Book"/>
                        </a:rPr>
                        <a:t>2023</a:t>
                      </a:r>
                    </a:p>
                  </a:txBody>
                  <a:tcPr marL="73152" marR="73152" marT="36576" marB="36576" anchor="ctr">
                    <a:solidFill>
                      <a:schemeClr val="bg2">
                        <a:lumMod val="20000"/>
                        <a:lumOff val="80000"/>
                      </a:schemeClr>
                    </a:solidFill>
                  </a:tcPr>
                </a:tc>
                <a:tc>
                  <a:txBody>
                    <a:bodyPr wrap="square"/>
                    <a:lstStyle/>
                    <a:p>
                      <a:r>
                        <a:rPr sz="1400" lang="es-MX">
                          <a:solidFill>
                            <a:schemeClr val="tx1"/>
                          </a:solidFill>
                          <a:latin typeface="Franklin Gothic Book"/>
                        </a:rPr>
                        <a:t>538,004.45</a:t>
                      </a:r>
                    </a:p>
                  </a:txBody>
                  <a:tcPr marL="73152" marR="73152" marT="36576" marB="36576" anchor="ctr">
                    <a:solidFill>
                      <a:schemeClr val="bg2">
                        <a:lumMod val="20000"/>
                        <a:lumOff val="80000"/>
                      </a:schemeClr>
                    </a:solidFill>
                  </a:tcPr>
                </a:tc>
                <a:tc>
                  <a:txBody>
                    <a:bodyPr wrap="square"/>
                    <a:lstStyle/>
                    <a:p>
                      <a:r>
                        <a:rPr sz="1400" lang="es-MX">
                          <a:solidFill>
                            <a:schemeClr val="tx1"/>
                          </a:solidFill>
                          <a:latin typeface="Franklin Gothic Book"/>
                        </a:rPr>
                        <a:t>PT-V-BELTS</a:t>
                      </a:r>
                    </a:p>
                  </a:txBody>
                  <a:tcPr marL="73152" marR="73152" marT="36576" marB="36576" anchor="ctr">
                    <a:solidFill>
                      <a:schemeClr val="bg2">
                        <a:lumMod val="20000"/>
                        <a:lumOff val="80000"/>
                      </a:schemeClr>
                    </a:solidFill>
                  </a:tcPr>
                </a:tc>
              </a:tr>
              <a:tr h="274320">
                <a:tc>
                  <a:txBody>
                    <a:bodyPr wrap="square"/>
                    <a:lstStyle/>
                    <a:p>
                      <a:r>
                        <a:rPr sz="1400" b="1" lang="es-MX">
                          <a:solidFill>
                            <a:schemeClr val="tx1"/>
                          </a:solidFill>
                          <a:latin typeface="Franklin Gothic Book"/>
                        </a:rPr>
                        <a:t>Pilgrim's Pride</a:t>
                      </a:r>
                    </a:p>
                  </a:txBody>
                  <a:tcPr marL="73152" marR="73152" marT="36576" marB="36576" anchor="ctr">
                    <a:solidFill>
                      <a:schemeClr val="bg1"/>
                    </a:solidFill>
                  </a:tcPr>
                </a:tc>
                <a:tc>
                  <a:txBody>
                    <a:bodyPr wrap="square"/>
                    <a:lstStyle/>
                    <a:p>
                      <a:r>
                        <a:rPr sz="1400" lang="es-MX">
                          <a:solidFill>
                            <a:schemeClr val="tx1"/>
                          </a:solidFill>
                          <a:latin typeface="Franklin Gothic Book"/>
                        </a:rPr>
                        <a:t>7.1- TPU-Pilgrims Pride Gomez Palacio -Rybalsa-Torreón</a:t>
                      </a:r>
                    </a:p>
                  </a:txBody>
                  <a:tcPr marL="73152" marR="73152" marT="36576" marB="36576" anchor="ctr">
                    <a:solidFill>
                      <a:schemeClr val="bg1"/>
                    </a:solidFill>
                  </a:tcPr>
                </a:tc>
                <a:tc>
                  <a:txBody>
                    <a:bodyPr wrap="square"/>
                    <a:lstStyle/>
                    <a:p>
                      <a:r>
                        <a:rPr sz="1400" lang="es-MX">
                          <a:solidFill>
                            <a:schemeClr val="tx1"/>
                          </a:solidFill>
                          <a:latin typeface="Franklin Gothic Book"/>
                        </a:rPr>
                        <a:t>744810</a:t>
                      </a:r>
                    </a:p>
                  </a:txBody>
                  <a:tcPr marL="73152" marR="73152" marT="36576" marB="36576" anchor="ctr">
                    <a:solidFill>
                      <a:schemeClr val="bg1"/>
                    </a:solidFill>
                  </a:tcPr>
                </a:tc>
                <a:tc>
                  <a:txBody>
                    <a:bodyPr wrap="square"/>
                    <a:lstStyle/>
                    <a:p>
                      <a:r>
                        <a:rPr sz="1400" lang="es-MX">
                          <a:solidFill>
                            <a:schemeClr val="tx1"/>
                          </a:solidFill>
                          <a:latin typeface="Franklin Gothic Book"/>
                        </a:rPr>
                        <a:t>2024</a:t>
                      </a:r>
                    </a:p>
                  </a:txBody>
                  <a:tcPr marL="73152" marR="73152" marT="36576" marB="36576" anchor="ctr">
                    <a:solidFill>
                      <a:schemeClr val="bg1"/>
                    </a:solidFill>
                  </a:tcPr>
                </a:tc>
                <a:tc>
                  <a:txBody>
                    <a:bodyPr wrap="square"/>
                    <a:lstStyle/>
                    <a:p>
                      <a:r>
                        <a:rPr sz="1400" lang="es-MX">
                          <a:solidFill>
                            <a:schemeClr val="tx1"/>
                          </a:solidFill>
                          <a:latin typeface="Franklin Gothic Book"/>
                        </a:rPr>
                        <a:t>206,332.51</a:t>
                      </a:r>
                    </a:p>
                  </a:txBody>
                  <a:tcPr marL="73152" marR="73152" marT="36576" marB="36576" anchor="ctr">
                    <a:solidFill>
                      <a:schemeClr val="bg1"/>
                    </a:solidFill>
                  </a:tcPr>
                </a:tc>
                <a:tc>
                  <a:txBody>
                    <a:bodyPr wrap="square"/>
                    <a:lstStyle/>
                    <a:p>
                      <a:r>
                        <a:rPr sz="1400" lang="es-MX">
                          <a:solidFill>
                            <a:schemeClr val="tx1"/>
                          </a:solidFill>
                          <a:latin typeface="Franklin Gothic Book"/>
                        </a:rPr>
                        <a:t>PT-PU BELTS</a:t>
                      </a:r>
                    </a:p>
                  </a:txBody>
                  <a:tcPr marL="73152" marR="73152" marT="36576" marB="36576" anchor="ctr">
                    <a:solidFill>
                      <a:schemeClr val="bg1"/>
                    </a:solidFill>
                  </a:tcPr>
                </a:tc>
              </a:tr>
              <a:tr h="274320">
                <a:tc>
                  <a:txBody>
                    <a:bodyPr wrap="square"/>
                    <a:lstStyle/>
                    <a:p>
                      <a:r>
                        <a:rPr sz="1400" b="1" lang="es-MX">
                          <a:solidFill>
                            <a:schemeClr val="tx1"/>
                          </a:solidFill>
                          <a:latin typeface="Franklin Gothic Book"/>
                        </a:rPr>
                        <a:t>Bafar</a:t>
                      </a:r>
                    </a:p>
                  </a:txBody>
                  <a:tcPr marL="73152" marR="73152" marT="36576" marB="36576" anchor="ctr">
                    <a:solidFill>
                      <a:schemeClr val="bg2">
                        <a:lumMod val="20000"/>
                        <a:lumOff val="80000"/>
                      </a:schemeClr>
                    </a:solidFill>
                  </a:tcPr>
                </a:tc>
                <a:tc>
                  <a:txBody>
                    <a:bodyPr wrap="square"/>
                    <a:lstStyle/>
                    <a:p>
                      <a:r>
                        <a:rPr sz="1400" lang="es-MX">
                          <a:solidFill>
                            <a:schemeClr val="tx1"/>
                          </a:solidFill>
                          <a:latin typeface="Franklin Gothic Book"/>
                        </a:rPr>
                        <a:t>Sin caso propio. Caso espejo de Qualtia: 2.2 QUALTIA ALIMENTOS MANGUERA Y INDS, E HIDRAULICA BANDAS MECTROL_</a:t>
                      </a:r>
                    </a:p>
                  </a:txBody>
                  <a:tcPr marL="73152" marR="73152" marT="36576" marB="36576" anchor="ctr">
                    <a:solidFill>
                      <a:schemeClr val="bg2">
                        <a:lumMod val="20000"/>
                        <a:lumOff val="80000"/>
                      </a:schemeClr>
                    </a:solidFill>
                  </a:tcPr>
                </a:tc>
                <a:tc>
                  <a:txBody>
                    <a:bodyPr wrap="square"/>
                    <a:lstStyle/>
                    <a:p>
                      <a:r>
                        <a:rPr sz="1400" lang="es-MX">
                          <a:solidFill>
                            <a:schemeClr val="tx1"/>
                          </a:solidFill>
                          <a:latin typeface="Franklin Gothic Book"/>
                        </a:rPr>
                        <a:t>O-00244438</a:t>
                      </a:r>
                    </a:p>
                  </a:txBody>
                  <a:tcPr marL="73152" marR="73152" marT="36576" marB="36576" anchor="ctr">
                    <a:solidFill>
                      <a:schemeClr val="bg2">
                        <a:lumMod val="20000"/>
                        <a:lumOff val="80000"/>
                      </a:schemeClr>
                    </a:solidFill>
                  </a:tcPr>
                </a:tc>
                <a:tc>
                  <a:txBody>
                    <a:bodyPr wrap="square"/>
                    <a:lstStyle/>
                    <a:p>
                      <a:r>
                        <a:rPr sz="1400" lang="es-MX">
                          <a:solidFill>
                            <a:schemeClr val="tx1"/>
                          </a:solidFill>
                          <a:latin typeface="Franklin Gothic Book"/>
                        </a:rPr>
                        <a:t>2021</a:t>
                      </a:r>
                    </a:p>
                  </a:txBody>
                  <a:tcPr marL="73152" marR="73152" marT="36576" marB="36576" anchor="ctr">
                    <a:solidFill>
                      <a:schemeClr val="bg2">
                        <a:lumMod val="20000"/>
                        <a:lumOff val="80000"/>
                      </a:schemeClr>
                    </a:solidFill>
                  </a:tcPr>
                </a:tc>
                <a:tc>
                  <a:txBody>
                    <a:bodyPr wrap="square"/>
                    <a:lstStyle/>
                    <a:p>
                      <a:r>
                        <a:rPr sz="1400" lang="es-MX">
                          <a:solidFill>
                            <a:schemeClr val="tx1"/>
                          </a:solidFill>
                          <a:latin typeface="Franklin Gothic Book"/>
                        </a:rPr>
                        <a:t>306,528.89</a:t>
                      </a:r>
                    </a:p>
                  </a:txBody>
                  <a:tcPr marL="73152" marR="73152" marT="36576" marB="36576" anchor="ctr">
                    <a:solidFill>
                      <a:schemeClr val="bg2">
                        <a:lumMod val="20000"/>
                        <a:lumOff val="80000"/>
                      </a:schemeClr>
                    </a:solidFill>
                  </a:tcPr>
                </a:tc>
                <a:tc>
                  <a:txBody>
                    <a:bodyPr wrap="square"/>
                    <a:lstStyle/>
                    <a:p>
                      <a:r>
                        <a:rPr sz="1400" lang="es-MX">
                          <a:solidFill>
                            <a:schemeClr val="tx1"/>
                          </a:solidFill>
                          <a:latin typeface="Franklin Gothic Book"/>
                        </a:rPr>
                        <a:t>por definir</a:t>
                      </a:r>
                    </a:p>
                  </a:txBody>
                  <a:tcPr marL="73152" marR="73152" marT="36576" marB="36576" anchor="ctr">
                    <a:solidFill>
                      <a:schemeClr val="bg2">
                        <a:lumMod val="20000"/>
                        <a:lumOff val="80000"/>
                      </a:schemeClr>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Cuatro grupos y su situación comercial</a:t>
            </a:r>
          </a:p>
        </p:txBody>
      </p:sp>
      <p:sp>
        <p:nvSpPr>
          <p:cNvPr id="3" name="Text Placeholder 2"/>
          <p:cNvSpPr>
            <a:spLocks noGrp="1"/>
          </p:cNvSpPr>
          <p:nvPr>
            <p:ph type="body" idx="13" sz="quarter"/>
          </p:nvPr>
        </p:nvSpPr>
        <p:spPr/>
        <p:txBody>
          <a:bodyPr/>
          <a:lstStyle/>
          <a:p>
            <a:r>
              <a:rPr lang="es-MX"/>
              <a:t>Cuatro grupos: con historial, atendido por otras regiones y en trabajo</a:t>
            </a:r>
          </a:p>
        </p:txBody>
      </p:sp>
      <p:sp>
        <p:nvSpPr>
          <p:cNvPr id="4" name="Content Placeholder 3"/>
          <p:cNvSpPr>
            <a:spLocks noGrp="1"/>
          </p:cNvSpPr>
          <p:nvPr>
            <p:ph idx="1" sz="half"/>
          </p:nvPr>
        </p:nvSpPr>
        <p:spPr>
          <a:xfrm>
            <a:off x="704088" y="6903720"/>
            <a:ext cx="14987016" cy="1097280"/>
          </a:xfrm>
        </p:spPr>
        <p:txBody>
          <a:bodyPr/>
          <a:lstStyle/>
          <a:p>
            <a:pPr lvl="3" marL="0" indent="0">
              <a:buNone/>
            </a:pPr>
            <a:r>
              <a:rPr lang="es-MX">
                <a:latin typeface="Franklin Gothic Book"/>
              </a:rPr>
              <a:t>Sumas = potencial anual registrado de ganadas de varios años (2019–2026), no monto anual ni facturación; pueden repetir importes. Fuera de las elegibles hay 13 ganadas más de Bachoco y 3 de SuKarne. Fuentes en los apéndices 1 y 2; nomenclatura de las perdidas de Bafar en el apéndice 3.</a:t>
            </a:r>
          </a:p>
        </p:txBody>
      </p:sp>
      <p:sp>
        <p:nvSpPr>
          <p:cNvPr id="5" name="Slide Number Placeholder"/>
          <p:cNvSpPr>
            <a:spLocks noGrp="1"/>
          </p:cNvSpPr>
          <p:nvPr>
            <p:ph type="sldNum" sz="quarter" idx="12"/>
          </p:nvPr>
        </p:nvSpPr>
        <p:spPr/>
        <p:txBody>
          <a:bodyPr/>
          <a:lstStyle/>
          <a:p>
            <a:fld id="{A0BE9D2B-0ED2-4BCC-B2A9-58657EACF6C0}" type="slidenum">
              <a:rPr lang="es-MX"/>
              <a:pPr/>
              <a:t>‹#›</a:t>
            </a:fld>
            <a:endParaRPr lang="es-MX"/>
          </a:p>
        </p:txBody>
      </p:sp>
      <p:sp>
        <p:nvSpPr>
          <p:cNvPr id="6" name="Footer Placeholder 4"/>
          <p:cNvSpPr>
            <a:spLocks noGrp="1"/>
          </p:cNvSpPr>
          <p:nvPr>
            <p:ph type="ftr" sz="quarter" idx="3"/>
          </p:nvPr>
        </p:nvSpPr>
        <p:spPr/>
        <p:txBody>
          <a:bodyPr/>
          <a:lstStyle>
            <a:lvl1pPr algn="l">
              <a:defRPr sz="900">
                <a:solidFill>
                  <a:srgbClr val="797979"/>
                </a:solidFill>
                <a:latin typeface="Franklin Gothic Book" charset="0"/>
                <a:ea typeface="Franklin Gothic Book" charset="0"/>
                <a:cs typeface="Franklin Gothic Book" charset="0"/>
              </a:defRPr>
            </a:lvl1pPr>
          </a:lstStyle>
          <a:p>
            <a:r>
              <a:rPr lang="en-US" dirty="0"/>
              <a:t>Confidential Information. Use and disclosure limited for Gates business purposes only. ©2018 Gates Inc. All rights reserved. </a:t>
            </a:r>
          </a:p>
        </p:txBody>
      </p:sp>
      <p:graphicFrame>
        <p:nvGraphicFramePr>
          <p:cNvPr id="7" name="Table 6"/>
          <p:cNvGraphicFramePr>
            <a:graphicFrameLocks noGrp="1"/>
          </p:cNvGraphicFramePr>
          <p:nvPr/>
        </p:nvGraphicFramePr>
        <p:xfrm>
          <a:off x="704088" y="1920240"/>
          <a:ext cx="14987014" cy="1371600"/>
        </p:xfrm>
        <a:graphic>
          <a:graphicData uri="http://schemas.openxmlformats.org/drawingml/2006/table">
            <a:tbl>
              <a:tblPr firstRow="1">
                <a:tableStyleId>{5C22544A-7EE6-4342-B048-85BDC9FD1C3A}</a:tableStyleId>
              </a:tblPr>
              <a:tblGrid>
                <a:gridCol w="1553532"/>
                <a:gridCol w="2101837"/>
                <a:gridCol w="3563985"/>
                <a:gridCol w="4203675"/>
                <a:gridCol w="3563985"/>
              </a:tblGrid>
              <a:tr h="274320">
                <a:tc>
                  <a:txBody>
                    <a:bodyPr wrap="square"/>
                    <a:lstStyle/>
                    <a:p>
                      <a:r>
                        <a:rPr sz="1700" lang="es-MX">
                          <a:solidFill>
                            <a:schemeClr val="bg1"/>
                          </a:solidFill>
                          <a:latin typeface="Franklin Gothic Book"/>
                        </a:rPr>
                        <a:t>Grupo</a:t>
                      </a:r>
                    </a:p>
                  </a:txBody>
                  <a:tcPr marL="73152" marR="73152" marT="36576" marB="36576" anchor="ctr">
                    <a:solidFill>
                      <a:schemeClr val="accent1"/>
                    </a:solidFill>
                  </a:tcPr>
                </a:tc>
                <a:tc>
                  <a:txBody>
                    <a:bodyPr wrap="square"/>
                    <a:lstStyle/>
                    <a:p>
                      <a:r>
                        <a:rPr sz="1700" lang="es-MX">
                          <a:solidFill>
                            <a:schemeClr val="bg1"/>
                          </a:solidFill>
                          <a:latin typeface="Franklin Gothic Book"/>
                        </a:rPr>
                        <a:t>Situación</a:t>
                      </a:r>
                    </a:p>
                  </a:txBody>
                  <a:tcPr marL="73152" marR="73152" marT="36576" marB="36576" anchor="ctr">
                    <a:solidFill>
                      <a:schemeClr val="accent1"/>
                    </a:solidFill>
                  </a:tcPr>
                </a:tc>
                <a:tc>
                  <a:txBody>
                    <a:bodyPr wrap="square"/>
                    <a:lstStyle/>
                    <a:p>
                      <a:r>
                        <a:rPr sz="1700" lang="es-MX">
                          <a:solidFill>
                            <a:schemeClr val="bg1"/>
                          </a:solidFill>
                          <a:latin typeface="Franklin Gothic Book"/>
                        </a:rPr>
                        <a:t>Plantas documentadas</a:t>
                      </a:r>
                    </a:p>
                  </a:txBody>
                  <a:tcPr marL="73152" marR="73152" marT="36576" marB="36576" anchor="ctr">
                    <a:solidFill>
                      <a:schemeClr val="accent1"/>
                    </a:solidFill>
                  </a:tcPr>
                </a:tc>
                <a:tc>
                  <a:txBody>
                    <a:bodyPr wrap="square"/>
                    <a:lstStyle/>
                    <a:p>
                      <a:r>
                        <a:rPr sz="1700" lang="es-MX">
                          <a:solidFill>
                            <a:schemeClr val="bg1"/>
                          </a:solidFill>
                          <a:latin typeface="Franklin Gothic Book"/>
                        </a:rPr>
                        <a:t>Historial en el CRM (solo elegibles)</a:t>
                      </a:r>
                    </a:p>
                  </a:txBody>
                  <a:tcPr marL="73152" marR="73152" marT="36576" marB="36576" anchor="ctr">
                    <a:solidFill>
                      <a:schemeClr val="accent1"/>
                    </a:solidFill>
                  </a:tcPr>
                </a:tc>
                <a:tc>
                  <a:txBody>
                    <a:bodyPr wrap="square"/>
                    <a:lstStyle/>
                    <a:p>
                      <a:r>
                        <a:rPr sz="1700" lang="es-MX">
                          <a:solidFill>
                            <a:schemeClr val="bg1"/>
                          </a:solidFill>
                          <a:latin typeface="Franklin Gothic Book"/>
                        </a:rPr>
                        <a:t>Contexto</a:t>
                      </a:r>
                    </a:p>
                  </a:txBody>
                  <a:tcPr marL="73152" marR="73152" marT="36576" marB="36576" anchor="ctr">
                    <a:solidFill>
                      <a:schemeClr val="accent1"/>
                    </a:solidFill>
                  </a:tcPr>
                </a:tc>
              </a:tr>
              <a:tr h="274320">
                <a:tc>
                  <a:txBody>
                    <a:bodyPr wrap="square"/>
                    <a:lstStyle/>
                    <a:p>
                      <a:r>
                        <a:rPr sz="1700" b="1" lang="es-MX">
                          <a:solidFill>
                            <a:schemeClr val="tx1"/>
                          </a:solidFill>
                          <a:latin typeface="Franklin Gothic Book"/>
                        </a:rPr>
                        <a:t>SuKarne</a:t>
                      </a:r>
                    </a:p>
                  </a:txBody>
                  <a:tcPr marL="73152" marR="73152" marT="36576" marB="36576" anchor="ctr">
                    <a:solidFill>
                      <a:schemeClr val="bg1"/>
                    </a:solidFill>
                  </a:tcPr>
                </a:tc>
                <a:tc>
                  <a:txBody>
                    <a:bodyPr wrap="square"/>
                    <a:lstStyle/>
                    <a:p>
                      <a:pPr algn="ctr"/>
                      <a:r>
                        <a:rPr sz="1700" lang="es-MX" b="1">
                          <a:solidFill>
                            <a:schemeClr val="bg1"/>
                          </a:solidFill>
                          <a:latin typeface="Franklin Gothic Book"/>
                        </a:rPr>
                        <a:t>Con historial ganado</a:t>
                      </a:r>
                    </a:p>
                  </a:txBody>
                  <a:tcPr marL="73152" marR="73152" marT="36576" marB="36576" anchor="ctr">
                    <a:solidFill>
                      <a:schemeClr val="accent5"/>
                    </a:solidFill>
                  </a:tcPr>
                </a:tc>
                <a:tc>
                  <a:txBody>
                    <a:bodyPr wrap="square"/>
                    <a:lstStyle/>
                    <a:p>
                      <a:r>
                        <a:rPr sz="1700" lang="es-MX">
                          <a:solidFill>
                            <a:schemeClr val="tx1"/>
                          </a:solidFill>
                          <a:latin typeface="Franklin Gothic Book"/>
                        </a:rPr>
                        <a:t>10 TIF en 9 domicilios; varios a nombre de otras razones sociales del grupo</a:t>
                      </a:r>
                    </a:p>
                  </a:txBody>
                  <a:tcPr marL="73152" marR="73152" marT="36576" marB="36576" anchor="ctr">
                    <a:solidFill>
                      <a:schemeClr val="bg1"/>
                    </a:solidFill>
                  </a:tcPr>
                </a:tc>
                <a:tc>
                  <a:txBody>
                    <a:bodyPr wrap="square"/>
                    <a:lstStyle/>
                    <a:p>
                      <a:r>
                        <a:rPr sz="1700" lang="es-MX">
                          <a:solidFill>
                            <a:schemeClr val="tx1"/>
                          </a:solidFill>
                          <a:latin typeface="Franklin Gothic Book"/>
                        </a:rPr>
                        <a:t>10 ganadas · 2.68 millones MXN (sin 2 claves atribuidas por nombre: 8 ganadas · 2.23 millones)</a:t>
                      </a:r>
                    </a:p>
                  </a:txBody>
                  <a:tcPr marL="73152" marR="73152" marT="36576" marB="36576" anchor="ctr">
                    <a:solidFill>
                      <a:schemeClr val="bg1"/>
                    </a:solidFill>
                  </a:tcPr>
                </a:tc>
                <a:tc>
                  <a:txBody>
                    <a:bodyPr wrap="square"/>
                    <a:lstStyle/>
                    <a:p>
                      <a:r>
                        <a:rPr sz="1700" lang="es-MX">
                          <a:solidFill>
                            <a:schemeClr val="tx1"/>
                          </a:solidFill>
                          <a:latin typeface="Franklin Gothic Book"/>
                        </a:rPr>
                        <a:t>Posible venta por más de 2,000 mdd (El Financiero, 4-ago-2026); sin resultado</a:t>
                      </a:r>
                    </a:p>
                  </a:txBody>
                  <a:tcPr marL="73152" marR="73152" marT="36576" marB="36576" anchor="ctr">
                    <a:solidFill>
                      <a:schemeClr val="bg1"/>
                    </a:solidFill>
                  </a:tcPr>
                </a:tc>
              </a:tr>
              <a:tr h="274320">
                <a:tc>
                  <a:txBody>
                    <a:bodyPr wrap="square"/>
                    <a:lstStyle/>
                    <a:p>
                      <a:r>
                        <a:rPr sz="1700" b="1" lang="es-MX">
                          <a:solidFill>
                            <a:schemeClr val="tx1"/>
                          </a:solidFill>
                          <a:latin typeface="Franklin Gothic Book"/>
                        </a:rPr>
                        <a:t>Bachoco</a:t>
                      </a:r>
                    </a:p>
                  </a:txBody>
                  <a:tcPr marL="73152" marR="73152" marT="36576" marB="36576" anchor="ctr">
                    <a:solidFill>
                      <a:schemeClr val="bg2">
                        <a:lumMod val="20000"/>
                        <a:lumOff val="80000"/>
                      </a:schemeClr>
                    </a:solidFill>
                  </a:tcPr>
                </a:tc>
                <a:tc>
                  <a:txBody>
                    <a:bodyPr wrap="square"/>
                    <a:lstStyle/>
                    <a:p>
                      <a:pPr algn="ctr"/>
                      <a:r>
                        <a:rPr sz="1700" lang="es-MX" b="1">
                          <a:solidFill>
                            <a:schemeClr val="tx1"/>
                          </a:solidFill>
                          <a:latin typeface="Franklin Gothic Book"/>
                        </a:rPr>
                        <a:t>Atendido por otras regiones</a:t>
                      </a:r>
                    </a:p>
                  </a:txBody>
                  <a:tcPr marL="73152" marR="73152" marT="36576" marB="36576" anchor="ctr">
                    <a:solidFill>
                      <a:schemeClr val="accent4"/>
                    </a:solidFill>
                  </a:tcPr>
                </a:tc>
                <a:tc>
                  <a:txBody>
                    <a:bodyPr wrap="square"/>
                    <a:lstStyle/>
                    <a:p>
                      <a:r>
                        <a:rPr sz="1700" lang="es-MX">
                          <a:solidFill>
                            <a:schemeClr val="tx1"/>
                          </a:solidFill>
                          <a:latin typeface="Franklin Gothic Book"/>
                        </a:rPr>
                        <a:t>64 plantas en 10 complejos (Informe Anual 2024)</a:t>
                      </a:r>
                    </a:p>
                  </a:txBody>
                  <a:tcPr marL="73152" marR="73152" marT="36576" marB="36576" anchor="ctr">
                    <a:solidFill>
                      <a:schemeClr val="bg2">
                        <a:lumMod val="20000"/>
                        <a:lumOff val="80000"/>
                      </a:schemeClr>
                    </a:solidFill>
                  </a:tcPr>
                </a:tc>
                <a:tc>
                  <a:txBody>
                    <a:bodyPr wrap="square"/>
                    <a:lstStyle/>
                    <a:p>
                      <a:r>
                        <a:rPr sz="1700" lang="es-MX">
                          <a:solidFill>
                            <a:schemeClr val="tx1"/>
                          </a:solidFill>
                          <a:latin typeface="Franklin Gothic Book"/>
                        </a:rPr>
                        <a:t>31 ganadas · 10.59 millones MXN; Lagos de Moreno: perdida en 2020, motivo no disponible</a:t>
                      </a:r>
                    </a:p>
                  </a:txBody>
                  <a:tcPr marL="73152" marR="73152" marT="36576" marB="36576" anchor="ctr">
                    <a:solidFill>
                      <a:schemeClr val="bg2">
                        <a:lumMod val="20000"/>
                        <a:lumOff val="80000"/>
                      </a:schemeClr>
                    </a:solidFill>
                  </a:tcPr>
                </a:tc>
                <a:tc>
                  <a:txBody>
                    <a:bodyPr wrap="square"/>
                    <a:lstStyle/>
                    <a:p>
                      <a:r>
                        <a:rPr sz="1700" lang="es-MX">
                          <a:solidFill>
                            <a:schemeClr val="tx1"/>
                          </a:solidFill>
                          <a:latin typeface="Franklin Gothic Book"/>
                        </a:rPr>
                        <a:t>Buen prospecto; falta confirmar si las otras regiones atienden la planta de Lagos</a:t>
                      </a:r>
                    </a:p>
                  </a:txBody>
                  <a:tcPr marL="73152" marR="73152" marT="36576" marB="36576" anchor="ctr">
                    <a:solidFill>
                      <a:schemeClr val="bg2">
                        <a:lumMod val="20000"/>
                        <a:lumOff val="80000"/>
                      </a:schemeClr>
                    </a:solidFill>
                  </a:tcPr>
                </a:tc>
              </a:tr>
              <a:tr h="274320">
                <a:tc>
                  <a:txBody>
                    <a:bodyPr wrap="square"/>
                    <a:lstStyle/>
                    <a:p>
                      <a:r>
                        <a:rPr sz="1700" b="1" lang="es-MX">
                          <a:solidFill>
                            <a:schemeClr val="tx1"/>
                          </a:solidFill>
                          <a:latin typeface="Franklin Gothic Book"/>
                        </a:rPr>
                        <a:t>Pilgrim's Pride</a:t>
                      </a:r>
                    </a:p>
                  </a:txBody>
                  <a:tcPr marL="73152" marR="73152" marT="36576" marB="36576" anchor="ctr">
                    <a:solidFill>
                      <a:schemeClr val="bg1"/>
                    </a:solidFill>
                  </a:tcPr>
                </a:tc>
                <a:tc>
                  <a:txBody>
                    <a:bodyPr wrap="square"/>
                    <a:lstStyle/>
                    <a:p>
                      <a:pPr algn="ctr"/>
                      <a:r>
                        <a:rPr sz="1700" lang="es-MX" b="1">
                          <a:solidFill>
                            <a:schemeClr val="bg1"/>
                          </a:solidFill>
                          <a:latin typeface="Franklin Gothic Book"/>
                        </a:rPr>
                        <a:t>Con historial ganado</a:t>
                      </a:r>
                    </a:p>
                  </a:txBody>
                  <a:tcPr marL="73152" marR="73152" marT="36576" marB="36576" anchor="ctr">
                    <a:solidFill>
                      <a:schemeClr val="accent5"/>
                    </a:solidFill>
                  </a:tcPr>
                </a:tc>
                <a:tc>
                  <a:txBody>
                    <a:bodyPr wrap="square"/>
                    <a:lstStyle/>
                    <a:p>
                      <a:r>
                        <a:rPr sz="1700" lang="es-MX">
                          <a:solidFill>
                            <a:schemeClr val="tx1"/>
                          </a:solidFill>
                          <a:latin typeface="Franklin Gothic Book"/>
                        </a:rPr>
                        <a:t>6 TIF: 3 en Gómez Palacio y 1 en Hidalgo, Querétaro y San Luis Potosí</a:t>
                      </a:r>
                    </a:p>
                  </a:txBody>
                  <a:tcPr marL="73152" marR="73152" marT="36576" marB="36576" anchor="ctr">
                    <a:solidFill>
                      <a:schemeClr val="bg1"/>
                    </a:solidFill>
                  </a:tcPr>
                </a:tc>
                <a:tc>
                  <a:txBody>
                    <a:bodyPr wrap="square"/>
                    <a:lstStyle/>
                    <a:p>
                      <a:r>
                        <a:rPr sz="1700" lang="es-MX">
                          <a:solidFill>
                            <a:schemeClr val="tx1"/>
                          </a:solidFill>
                          <a:latin typeface="Franklin Gothic Book"/>
                        </a:rPr>
                        <a:t>10 ganadas · 2.15 millones MXN, de ellos 1.89 millones en Durango; sin registros en Hidalgo y Estado de México</a:t>
                      </a:r>
                    </a:p>
                  </a:txBody>
                  <a:tcPr marL="73152" marR="73152" marT="36576" marB="36576" anchor="ctr">
                    <a:solidFill>
                      <a:schemeClr val="bg1"/>
                    </a:solidFill>
                  </a:tcPr>
                </a:tc>
                <a:tc>
                  <a:txBody>
                    <a:bodyPr wrap="square"/>
                    <a:lstStyle/>
                    <a:p>
                      <a:r>
                        <a:rPr sz="1700" lang="es-MX">
                          <a:solidFill>
                            <a:schemeClr val="tx1"/>
                          </a:solidFill>
                          <a:latin typeface="Franklin Gothic Book"/>
                        </a:rPr>
                        <a:t>Inversión de 1,300 mdd (+38% de capacidad; solo 150 mdd del centro del país son modernización): no es demanda actual</a:t>
                      </a:r>
                    </a:p>
                  </a:txBody>
                  <a:tcPr marL="73152" marR="73152" marT="36576" marB="36576" anchor="ctr">
                    <a:solidFill>
                      <a:schemeClr val="bg1"/>
                    </a:solidFill>
                  </a:tcPr>
                </a:tc>
              </a:tr>
              <a:tr h="274320">
                <a:tc>
                  <a:txBody>
                    <a:bodyPr wrap="square"/>
                    <a:lstStyle/>
                    <a:p>
                      <a:r>
                        <a:rPr sz="1700" b="1" lang="es-MX">
                          <a:solidFill>
                            <a:schemeClr val="tx1"/>
                          </a:solidFill>
                          <a:latin typeface="Franklin Gothic Book"/>
                        </a:rPr>
                        <a:t>Grupo Bafar</a:t>
                      </a:r>
                    </a:p>
                  </a:txBody>
                  <a:tcPr marL="73152" marR="73152" marT="36576" marB="36576" anchor="ctr">
                    <a:solidFill>
                      <a:schemeClr val="bg2">
                        <a:lumMod val="20000"/>
                        <a:lumOff val="80000"/>
                      </a:schemeClr>
                    </a:solidFill>
                  </a:tcPr>
                </a:tc>
                <a:tc>
                  <a:txBody>
                    <a:bodyPr wrap="square"/>
                    <a:lstStyle/>
                    <a:p>
                      <a:pPr algn="ctr"/>
                      <a:r>
                        <a:rPr sz="1700" lang="es-MX" b="1">
                          <a:solidFill>
                            <a:schemeClr val="bg1"/>
                          </a:solidFill>
                          <a:latin typeface="Franklin Gothic Book"/>
                        </a:rPr>
                        <a:t>En trabajo en La Piedad</a:t>
                      </a:r>
                    </a:p>
                  </a:txBody>
                  <a:tcPr marL="73152" marR="73152" marT="36576" marB="36576" anchor="ctr">
                    <a:solidFill>
                      <a:schemeClr val="accent3"/>
                    </a:solidFill>
                  </a:tcPr>
                </a:tc>
                <a:tc>
                  <a:txBody>
                    <a:bodyPr wrap="square"/>
                    <a:lstStyle/>
                    <a:p>
                      <a:r>
                        <a:rPr sz="1700" lang="es-MX">
                          <a:solidFill>
                            <a:schemeClr val="tx1"/>
                          </a:solidFill>
                          <a:latin typeface="Franklin Gothic Book"/>
                        </a:rPr>
                        <a:t>4 complejos declarados; compra la carne a terceros: no sacrifica</a:t>
                      </a:r>
                    </a:p>
                  </a:txBody>
                  <a:tcPr marL="73152" marR="73152" marT="36576" marB="36576" anchor="ctr">
                    <a:solidFill>
                      <a:schemeClr val="bg2">
                        <a:lumMod val="20000"/>
                        <a:lumOff val="80000"/>
                      </a:schemeClr>
                    </a:solidFill>
                  </a:tcPr>
                </a:tc>
                <a:tc>
                  <a:txBody>
                    <a:bodyPr wrap="square"/>
                    <a:lstStyle/>
                    <a:p>
                      <a:r>
                        <a:rPr sz="1700" lang="es-MX">
                          <a:solidFill>
                            <a:schemeClr val="tx1"/>
                          </a:solidFill>
                          <a:latin typeface="Franklin Gothic Book"/>
                        </a:rPr>
                        <a:t>0 ganadas; 2 perdidas en 2023 (PT-PU BELTS, motivo no disponible); 2 abiertas en La Piedad</a:t>
                      </a:r>
                    </a:p>
                  </a:txBody>
                  <a:tcPr marL="73152" marR="73152" marT="36576" marB="36576" anchor="ctr">
                    <a:solidFill>
                      <a:schemeClr val="bg2">
                        <a:lumMod val="20000"/>
                        <a:lumOff val="80000"/>
                      </a:schemeClr>
                    </a:solidFill>
                  </a:tcPr>
                </a:tc>
                <a:tc>
                  <a:txBody>
                    <a:bodyPr wrap="square"/>
                    <a:lstStyle/>
                    <a:p>
                      <a:r>
                        <a:rPr sz="1700" lang="es-MX">
                          <a:solidFill>
                            <a:schemeClr val="tx1"/>
                          </a:solidFill>
                          <a:latin typeface="Franklin Gothic Book"/>
                        </a:rPr>
                        <a:t>Ventas +14.8% en 2025 y +17.1% en 2T-2026, incluye tiendas propias</a:t>
                      </a:r>
                    </a:p>
                  </a:txBody>
                  <a:tcPr marL="73152" marR="73152" marT="36576" marB="36576" anchor="ctr">
                    <a:solidFill>
                      <a:schemeClr val="bg2">
                        <a:lumMod val="20000"/>
                        <a:lumOff val="80000"/>
                      </a:schemeClr>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Siete plantas por estado y firmeza de la réplica</a:t>
            </a:r>
          </a:p>
        </p:txBody>
      </p:sp>
      <p:sp>
        <p:nvSpPr>
          <p:cNvPr id="3" name="Text Placeholder 2"/>
          <p:cNvSpPr>
            <a:spLocks noGrp="1"/>
          </p:cNvSpPr>
          <p:nvPr>
            <p:ph type="body" idx="13" sz="quarter"/>
          </p:nvPr>
        </p:nvSpPr>
        <p:spPr/>
        <p:txBody>
          <a:bodyPr/>
          <a:lstStyle/>
          <a:p>
            <a:r>
              <a:rPr lang="es-MX"/>
              <a:t>Solo Tepeji se sostiene, con condición; todas las réplicas se confirman en visita</a:t>
            </a:r>
          </a:p>
        </p:txBody>
      </p:sp>
      <p:sp>
        <p:nvSpPr>
          <p:cNvPr id="5" name="Slide Number Placeholder"/>
          <p:cNvSpPr>
            <a:spLocks noGrp="1"/>
          </p:cNvSpPr>
          <p:nvPr>
            <p:ph type="sldNum" sz="quarter" idx="12"/>
          </p:nvPr>
        </p:nvSpPr>
        <p:spPr/>
        <p:txBody>
          <a:bodyPr/>
          <a:lstStyle/>
          <a:p>
            <a:fld id="{A0BE9D2B-0ED2-4BCC-B2A9-58657EACF6C0}" type="slidenum">
              <a:rPr lang="es-MX"/>
              <a:pPr/>
              <a:t>‹#›</a:t>
            </a:fld>
            <a:endParaRPr lang="es-MX"/>
          </a:p>
        </p:txBody>
      </p:sp>
      <p:sp>
        <p:nvSpPr>
          <p:cNvPr id="6" name="Footer Placeholder 4"/>
          <p:cNvSpPr>
            <a:spLocks noGrp="1"/>
          </p:cNvSpPr>
          <p:nvPr>
            <p:ph type="ftr" sz="quarter" idx="3"/>
          </p:nvPr>
        </p:nvSpPr>
        <p:spPr/>
        <p:txBody>
          <a:bodyPr/>
          <a:lstStyle>
            <a:lvl1pPr algn="l">
              <a:defRPr sz="900">
                <a:solidFill>
                  <a:srgbClr val="797979"/>
                </a:solidFill>
                <a:latin typeface="Franklin Gothic Book" charset="0"/>
                <a:ea typeface="Franklin Gothic Book" charset="0"/>
                <a:cs typeface="Franklin Gothic Book" charset="0"/>
              </a:defRPr>
            </a:lvl1pPr>
          </a:lstStyle>
          <a:p>
            <a:r>
              <a:rPr lang="en-US" dirty="0"/>
              <a:t>Confidential Information. Use and disclosure limited for Gates business purposes only. ©2018 Gates Inc. All rights reserved. </a:t>
            </a:r>
          </a:p>
        </p:txBody>
      </p:sp>
      <p:graphicFrame>
        <p:nvGraphicFramePr>
          <p:cNvPr id="7" name="Table 6"/>
          <p:cNvGraphicFramePr>
            <a:graphicFrameLocks noGrp="1"/>
          </p:cNvGraphicFramePr>
          <p:nvPr/>
        </p:nvGraphicFramePr>
        <p:xfrm>
          <a:off x="704088" y="1920240"/>
          <a:ext cx="14987014" cy="2194560"/>
        </p:xfrm>
        <a:graphic>
          <a:graphicData uri="http://schemas.openxmlformats.org/drawingml/2006/table">
            <a:tbl>
              <a:tblPr firstRow="1">
                <a:tableStyleId>{5C22544A-7EE6-4342-B048-85BDC9FD1C3A}</a:tableStyleId>
              </a:tblPr>
              <a:tblGrid>
                <a:gridCol w="1736300"/>
                <a:gridCol w="3838138"/>
                <a:gridCol w="2101837"/>
                <a:gridCol w="7310739"/>
              </a:tblGrid>
              <a:tr h="274320">
                <a:tc>
                  <a:txBody>
                    <a:bodyPr wrap="square"/>
                    <a:lstStyle/>
                    <a:p>
                      <a:r>
                        <a:rPr sz="1500" lang="es-MX">
                          <a:solidFill>
                            <a:schemeClr val="bg1"/>
                          </a:solidFill>
                          <a:latin typeface="Franklin Gothic Book"/>
                        </a:rPr>
                        <a:t>Estado</a:t>
                      </a:r>
                    </a:p>
                  </a:txBody>
                  <a:tcPr marL="73152" marR="73152" marT="36576" marB="36576" anchor="ctr">
                    <a:solidFill>
                      <a:schemeClr val="accent1"/>
                    </a:solidFill>
                  </a:tcPr>
                </a:tc>
                <a:tc>
                  <a:txBody>
                    <a:bodyPr wrap="square"/>
                    <a:lstStyle/>
                    <a:p>
                      <a:r>
                        <a:rPr sz="1500" lang="es-MX">
                          <a:solidFill>
                            <a:schemeClr val="bg1"/>
                          </a:solidFill>
                          <a:latin typeface="Franklin Gothic Book"/>
                        </a:rPr>
                        <a:t>Planta</a:t>
                      </a:r>
                    </a:p>
                  </a:txBody>
                  <a:tcPr marL="73152" marR="73152" marT="36576" marB="36576" anchor="ctr">
                    <a:solidFill>
                      <a:schemeClr val="accent1"/>
                    </a:solidFill>
                  </a:tcPr>
                </a:tc>
                <a:tc>
                  <a:txBody>
                    <a:bodyPr wrap="square"/>
                    <a:lstStyle/>
                    <a:p>
                      <a:r>
                        <a:rPr sz="1500" lang="es-MX">
                          <a:solidFill>
                            <a:schemeClr val="bg1"/>
                          </a:solidFill>
                          <a:latin typeface="Franklin Gothic Book"/>
                        </a:rPr>
                        <a:t>Réplica</a:t>
                      </a:r>
                    </a:p>
                  </a:txBody>
                  <a:tcPr marL="73152" marR="73152" marT="36576" marB="36576" anchor="ctr">
                    <a:solidFill>
                      <a:schemeClr val="accent1"/>
                    </a:solidFill>
                  </a:tcPr>
                </a:tc>
                <a:tc>
                  <a:txBody>
                    <a:bodyPr wrap="square"/>
                    <a:lstStyle/>
                    <a:p>
                      <a:r>
                        <a:rPr sz="1500" lang="es-MX">
                          <a:solidFill>
                            <a:schemeClr val="bg1"/>
                          </a:solidFill>
                          <a:latin typeface="Franklin Gothic Book"/>
                        </a:rPr>
                        <a:t>Qué falta validar o decidir</a:t>
                      </a:r>
                    </a:p>
                  </a:txBody>
                  <a:tcPr marL="73152" marR="73152" marT="36576" marB="36576" anchor="ctr">
                    <a:solidFill>
                      <a:schemeClr val="accent1"/>
                    </a:solidFill>
                  </a:tcPr>
                </a:tc>
              </a:tr>
              <a:tr h="274320">
                <a:tc>
                  <a:txBody>
                    <a:bodyPr wrap="square"/>
                    <a:lstStyle/>
                    <a:p>
                      <a:r>
                        <a:rPr sz="1500" b="1" lang="es-MX">
                          <a:solidFill>
                            <a:schemeClr val="tx1"/>
                          </a:solidFill>
                          <a:latin typeface="Franklin Gothic Book"/>
                        </a:rPr>
                        <a:t>Michoacán</a:t>
                      </a:r>
                    </a:p>
                  </a:txBody>
                  <a:tcPr marL="73152" marR="73152" marT="36576" marB="36576" anchor="ctr">
                    <a:solidFill>
                      <a:schemeClr val="bg1"/>
                    </a:solidFill>
                  </a:tcPr>
                </a:tc>
                <a:tc>
                  <a:txBody>
                    <a:bodyPr wrap="square"/>
                    <a:lstStyle/>
                    <a:p>
                      <a:r>
                        <a:rPr sz="1500" lang="es-MX">
                          <a:solidFill>
                            <a:schemeClr val="tx1"/>
                          </a:solidFill>
                          <a:latin typeface="Franklin Gothic Book"/>
                        </a:rPr>
                        <a:t>Bafar · La Piedad (incluye el Complejo Agroindustrial de 650 mdd, en obra según el Reporte Anual 2024)</a:t>
                      </a:r>
                    </a:p>
                  </a:txBody>
                  <a:tcPr marL="73152" marR="73152" marT="36576" marB="36576" anchor="ctr">
                    <a:solidFill>
                      <a:schemeClr val="bg1"/>
                    </a:solidFill>
                  </a:tcPr>
                </a:tc>
                <a:tc>
                  <a:txBody>
                    <a:bodyPr wrap="square"/>
                    <a:lstStyle/>
                    <a:p>
                      <a:pPr algn="ctr"/>
                      <a:r>
                        <a:rPr sz="1500" lang="es-MX" b="1">
                          <a:solidFill>
                            <a:schemeClr val="bg1"/>
                          </a:solidFill>
                          <a:latin typeface="Franklin Gothic Book"/>
                        </a:rPr>
                        <a:t>EN TRABAJO</a:t>
                      </a:r>
                    </a:p>
                  </a:txBody>
                  <a:tcPr marL="73152" marR="73152" marT="36576" marB="36576" anchor="ctr">
                    <a:solidFill>
                      <a:schemeClr val="accent3"/>
                    </a:solidFill>
                  </a:tcPr>
                </a:tc>
                <a:tc>
                  <a:txBody>
                    <a:bodyPr wrap="square"/>
                    <a:lstStyle/>
                    <a:p>
                      <a:r>
                        <a:rPr sz="1500" lang="es-MX">
                          <a:solidFill>
                            <a:schemeClr val="tx1"/>
                          </a:solidFill>
                          <a:latin typeface="Franklin Gothic Book"/>
                        </a:rPr>
                        <a:t>Dos oportunidades abiertas, posteriores al corte del CRM: «3.1 MI Grupo bafar, sab de cv - La piedad FP-HYDRAULICS-813492» (650,220 MXN de potencial anual registrado) y «7.1 PTI Grupo bafar, sab de cv - La piedad- Ryasa Morelia PT-IND SYNCH BELTS-814010» (265,000 MXN). Domicilio y TIF por confirmar; lo que está en obra no es demanda actual.</a:t>
                      </a:r>
                    </a:p>
                  </a:txBody>
                  <a:tcPr marL="73152" marR="73152" marT="36576" marB="36576" anchor="ctr">
                    <a:solidFill>
                      <a:schemeClr val="bg1"/>
                    </a:solidFill>
                  </a:tcPr>
                </a:tc>
              </a:tr>
              <a:tr h="274320">
                <a:tc>
                  <a:txBody>
                    <a:bodyPr wrap="square"/>
                    <a:lstStyle/>
                    <a:p>
                      <a:r>
                        <a:rPr sz="1500" b="1" lang="es-MX">
                          <a:solidFill>
                            <a:schemeClr val="tx1"/>
                          </a:solidFill>
                          <a:latin typeface="Franklin Gothic Book"/>
                        </a:rPr>
                        <a:t>Jalisco</a:t>
                      </a:r>
                    </a:p>
                  </a:txBody>
                  <a:tcPr marL="73152" marR="73152" marT="36576" marB="36576" anchor="ctr">
                    <a:solidFill>
                      <a:schemeClr val="bg2">
                        <a:lumMod val="20000"/>
                        <a:lumOff val="80000"/>
                      </a:schemeClr>
                    </a:solidFill>
                  </a:tcPr>
                </a:tc>
                <a:tc>
                  <a:txBody>
                    <a:bodyPr wrap="square"/>
                    <a:lstStyle/>
                    <a:p>
                      <a:r>
                        <a:rPr sz="1500" lang="es-MX">
                          <a:solidFill>
                            <a:schemeClr val="tx1"/>
                          </a:solidFill>
                          <a:latin typeface="Franklin Gothic Book"/>
                        </a:rPr>
                        <a:t>Bachoco · División Occidente, Lagos de Moreno</a:t>
                      </a:r>
                    </a:p>
                  </a:txBody>
                  <a:tcPr marL="73152" marR="73152" marT="36576" marB="36576" anchor="ctr">
                    <a:solidFill>
                      <a:schemeClr val="bg2">
                        <a:lumMod val="20000"/>
                        <a:lumOff val="80000"/>
                      </a:schemeClr>
                    </a:solidFill>
                  </a:tcPr>
                </a:tc>
                <a:tc>
                  <a:txBody>
                    <a:bodyPr wrap="square"/>
                    <a:lstStyle/>
                    <a:p>
                      <a:pPr algn="ctr"/>
                      <a:r>
                        <a:rPr sz="1500" lang="es-MX" b="1">
                          <a:solidFill>
                            <a:schemeClr val="tx1"/>
                          </a:solidFill>
                          <a:latin typeface="Franklin Gothic Book"/>
                        </a:rPr>
                        <a:t>PARCIAL</a:t>
                      </a:r>
                    </a:p>
                  </a:txBody>
                  <a:tcPr marL="73152" marR="73152" marT="36576" marB="36576" anchor="ctr">
                    <a:solidFill>
                      <a:schemeClr val="accent4"/>
                    </a:solidFill>
                  </a:tcPr>
                </a:tc>
                <a:tc>
                  <a:txBody>
                    <a:bodyPr wrap="square"/>
                    <a:lstStyle/>
                    <a:p>
                      <a:r>
                        <a:rPr sz="1500" lang="es-MX">
                          <a:solidFill>
                            <a:schemeClr val="tx1"/>
                          </a:solidFill>
                          <a:latin typeface="Franklin Gothic Book"/>
                        </a:rPr>
                        <a:t>Perdida «7.1 PCC C2B-Bachoco Lagos- Bamac Guadalajara» (O-00218689, 2020, 834,766.20 MXN de potencial anual registrado). Sin áreas verificadas; sube a SÍ si es el TIF A-183 (la dirección difiere) y se confirma el origen Guanajuato.</a:t>
                      </a:r>
                    </a:p>
                  </a:txBody>
                  <a:tcPr marL="73152" marR="73152" marT="36576" marB="36576" anchor="ctr">
                    <a:solidFill>
                      <a:schemeClr val="bg2">
                        <a:lumMod val="20000"/>
                        <a:lumOff val="80000"/>
                      </a:schemeClr>
                    </a:solidFill>
                  </a:tcPr>
                </a:tc>
              </a:tr>
              <a:tr h="274320">
                <a:tc>
                  <a:txBody>
                    <a:bodyPr wrap="square"/>
                    <a:lstStyle/>
                    <a:p>
                      <a:r>
                        <a:rPr sz="1500" b="1" lang="es-MX">
                          <a:solidFill>
                            <a:schemeClr val="tx1"/>
                          </a:solidFill>
                          <a:latin typeface="Franklin Gothic Book"/>
                        </a:rPr>
                        <a:t>Hidalgo</a:t>
                      </a:r>
                    </a:p>
                  </a:txBody>
                  <a:tcPr marL="73152" marR="73152" marT="36576" marB="36576" anchor="ctr">
                    <a:solidFill>
                      <a:schemeClr val="bg1"/>
                    </a:solidFill>
                  </a:tcPr>
                </a:tc>
                <a:tc>
                  <a:txBody>
                    <a:bodyPr wrap="square"/>
                    <a:lstStyle/>
                    <a:p>
                      <a:r>
                        <a:rPr sz="1500" lang="es-MX">
                          <a:solidFill>
                            <a:schemeClr val="tx1"/>
                          </a:solidFill>
                          <a:latin typeface="Franklin Gothic Book"/>
                        </a:rPr>
                        <a:t>Pilgrim's · Tepeji del Río</a:t>
                      </a:r>
                    </a:p>
                  </a:txBody>
                  <a:tcPr marL="73152" marR="73152" marT="36576" marB="36576" anchor="ctr">
                    <a:solidFill>
                      <a:schemeClr val="bg1"/>
                    </a:solidFill>
                  </a:tcPr>
                </a:tc>
                <a:tc>
                  <a:txBody>
                    <a:bodyPr wrap="square"/>
                    <a:lstStyle/>
                    <a:p>
                      <a:pPr algn="ctr"/>
                      <a:r>
                        <a:rPr sz="1500" lang="es-MX" b="1">
                          <a:solidFill>
                            <a:schemeClr val="bg1"/>
                          </a:solidFill>
                          <a:latin typeface="Franklin Gothic Book"/>
                        </a:rPr>
                        <a:t>SÍ, CONDICIONADO</a:t>
                      </a:r>
                    </a:p>
                  </a:txBody>
                  <a:tcPr marL="73152" marR="73152" marT="36576" marB="36576" anchor="ctr">
                    <a:solidFill>
                      <a:schemeClr val="accent5"/>
                    </a:solidFill>
                  </a:tcPr>
                </a:tc>
                <a:tc>
                  <a:txBody>
                    <a:bodyPr wrap="square"/>
                    <a:lstStyle/>
                    <a:p>
                      <a:r>
                        <a:rPr sz="1500" lang="es-MX">
                          <a:solidFill>
                            <a:schemeClr val="tx1"/>
                          </a:solidFill>
                          <a:latin typeface="Franklin Gothic Book"/>
                        </a:rPr>
                        <a:t>Confirmar que es el TIF A-239 «Ocampo» y cuál TIF de Gómez Palacio es el origen; si no, baja a PARCIAL. El A-239 declara embutidos y pasta que el origen no tiene: aplicación nueva, no réplica.</a:t>
                      </a:r>
                    </a:p>
                  </a:txBody>
                  <a:tcPr marL="73152" marR="73152" marT="36576" marB="36576" anchor="ctr">
                    <a:solidFill>
                      <a:schemeClr val="bg1"/>
                    </a:solidFill>
                  </a:tcPr>
                </a:tc>
              </a:tr>
              <a:tr h="274320">
                <a:tc>
                  <a:txBody>
                    <a:bodyPr wrap="square"/>
                    <a:lstStyle/>
                    <a:p>
                      <a:r>
                        <a:rPr sz="1500" b="1" lang="es-MX">
                          <a:solidFill>
                            <a:schemeClr val="tx1"/>
                          </a:solidFill>
                          <a:latin typeface="Franklin Gothic Book"/>
                        </a:rPr>
                        <a:t>Estado de México</a:t>
                      </a:r>
                    </a:p>
                  </a:txBody>
                  <a:tcPr marL="73152" marR="73152" marT="36576" marB="36576" anchor="ctr">
                    <a:solidFill>
                      <a:schemeClr val="bg2">
                        <a:lumMod val="20000"/>
                        <a:lumOff val="80000"/>
                      </a:schemeClr>
                    </a:solidFill>
                  </a:tcPr>
                </a:tc>
                <a:tc>
                  <a:txBody>
                    <a:bodyPr wrap="square"/>
                    <a:lstStyle/>
                    <a:p>
                      <a:r>
                        <a:rPr sz="1500" lang="es-MX">
                          <a:solidFill>
                            <a:schemeClr val="tx1"/>
                          </a:solidFill>
                          <a:latin typeface="Franklin Gothic Book"/>
                        </a:rPr>
                        <a:t>Pilgrim's · Toluca</a:t>
                      </a:r>
                    </a:p>
                  </a:txBody>
                  <a:tcPr marL="73152" marR="73152" marT="36576" marB="36576" anchor="ctr">
                    <a:solidFill>
                      <a:schemeClr val="bg2">
                        <a:lumMod val="20000"/>
                        <a:lumOff val="80000"/>
                      </a:schemeClr>
                    </a:solidFill>
                  </a:tcPr>
                </a:tc>
                <a:tc>
                  <a:txBody>
                    <a:bodyPr wrap="square"/>
                    <a:lstStyle/>
                    <a:p>
                      <a:pPr algn="ctr"/>
                      <a:r>
                        <a:rPr sz="1500" lang="es-MX" b="1">
                          <a:solidFill>
                            <a:schemeClr val="tx1"/>
                          </a:solidFill>
                          <a:latin typeface="Franklin Gothic Book"/>
                        </a:rPr>
                        <a:t>PARCIAL</a:t>
                      </a:r>
                    </a:p>
                  </a:txBody>
                  <a:tcPr marL="73152" marR="73152" marT="36576" marB="36576" anchor="ctr">
                    <a:solidFill>
                      <a:schemeClr val="accent4"/>
                    </a:solidFill>
                  </a:tcPr>
                </a:tc>
                <a:tc>
                  <a:txBody>
                    <a:bodyPr wrap="square"/>
                    <a:lstStyle/>
                    <a:p>
                      <a:r>
                        <a:rPr sz="1500" lang="es-MX">
                          <a:solidFill>
                            <a:schemeClr val="tx1"/>
                          </a:solidFill>
                          <a:latin typeface="Franklin Gothic Book"/>
                        </a:rPr>
                        <a:t>Solo aparece en un directorio telefónico y no está en el padrón TIF: confirmar que existe y si sacrifica.</a:t>
                      </a:r>
                    </a:p>
                  </a:txBody>
                  <a:tcPr marL="73152" marR="73152" marT="36576" marB="36576" anchor="ctr">
                    <a:solidFill>
                      <a:schemeClr val="bg2">
                        <a:lumMod val="20000"/>
                        <a:lumOff val="80000"/>
                      </a:schemeClr>
                    </a:solidFill>
                  </a:tcPr>
                </a:tc>
              </a:tr>
              <a:tr h="274320">
                <a:tc>
                  <a:txBody>
                    <a:bodyPr wrap="square"/>
                    <a:lstStyle/>
                    <a:p>
                      <a:r>
                        <a:rPr sz="1500" b="1" lang="es-MX">
                          <a:solidFill>
                            <a:schemeClr val="tx1"/>
                          </a:solidFill>
                          <a:latin typeface="Franklin Gothic Book"/>
                        </a:rPr>
                        <a:t>Estado de México</a:t>
                      </a:r>
                    </a:p>
                  </a:txBody>
                  <a:tcPr marL="73152" marR="73152" marT="36576" marB="36576" anchor="ctr">
                    <a:solidFill>
                      <a:schemeClr val="bg1"/>
                    </a:solidFill>
                  </a:tcPr>
                </a:tc>
                <a:tc>
                  <a:txBody>
                    <a:bodyPr wrap="square"/>
                    <a:lstStyle/>
                    <a:p>
                      <a:r>
                        <a:rPr sz="1500" lang="es-MX">
                          <a:solidFill>
                            <a:schemeClr val="tx1"/>
                          </a:solidFill>
                          <a:latin typeface="Franklin Gothic Book"/>
                        </a:rPr>
                        <a:t>Bafar · Lerma de Villada</a:t>
                      </a:r>
                    </a:p>
                  </a:txBody>
                  <a:tcPr marL="73152" marR="73152" marT="36576" marB="36576" anchor="ctr">
                    <a:solidFill>
                      <a:schemeClr val="bg1"/>
                    </a:solidFill>
                  </a:tcPr>
                </a:tc>
                <a:tc>
                  <a:txBody>
                    <a:bodyPr wrap="square"/>
                    <a:lstStyle/>
                    <a:p>
                      <a:pPr algn="ctr"/>
                      <a:r>
                        <a:rPr sz="1500" lang="es-MX" b="1">
                          <a:solidFill>
                            <a:schemeClr val="tx1"/>
                          </a:solidFill>
                          <a:latin typeface="Franklin Gothic Book"/>
                        </a:rPr>
                        <a:t>PARCIAL</a:t>
                      </a:r>
                    </a:p>
                  </a:txBody>
                  <a:tcPr marL="73152" marR="73152" marT="36576" marB="36576" anchor="ctr">
                    <a:solidFill>
                      <a:schemeClr val="accent4"/>
                    </a:solidFill>
                  </a:tcPr>
                </a:tc>
                <a:tc>
                  <a:txBody>
                    <a:bodyPr wrap="square"/>
                    <a:lstStyle/>
                    <a:p>
                      <a:r>
                        <a:rPr sz="1500" lang="es-MX">
                          <a:solidFill>
                            <a:schemeClr val="tx1"/>
                          </a:solidFill>
                          <a:latin typeface="Franklin Gothic Book"/>
                        </a:rPr>
                        <a:t>Posible duplicado del Complejo Toluca: no contar dos plantas hasta aclarar.</a:t>
                      </a:r>
                    </a:p>
                  </a:txBody>
                  <a:tcPr marL="73152" marR="73152" marT="36576" marB="36576" anchor="ctr">
                    <a:solidFill>
                      <a:schemeClr val="bg1"/>
                    </a:solidFill>
                  </a:tcPr>
                </a:tc>
              </a:tr>
              <a:tr h="274320">
                <a:tc>
                  <a:txBody>
                    <a:bodyPr wrap="square"/>
                    <a:lstStyle/>
                    <a:p>
                      <a:r>
                        <a:rPr sz="1500" b="1" lang="es-MX">
                          <a:solidFill>
                            <a:schemeClr val="tx1"/>
                          </a:solidFill>
                          <a:latin typeface="Franklin Gothic Book"/>
                        </a:rPr>
                        <a:t>Tlaxcala</a:t>
                      </a:r>
                    </a:p>
                  </a:txBody>
                  <a:tcPr marL="73152" marR="73152" marT="36576" marB="36576" anchor="ctr">
                    <a:solidFill>
                      <a:schemeClr val="bg2">
                        <a:lumMod val="20000"/>
                        <a:lumOff val="80000"/>
                      </a:schemeClr>
                    </a:solidFill>
                  </a:tcPr>
                </a:tc>
                <a:tc>
                  <a:txBody>
                    <a:bodyPr wrap="square"/>
                    <a:lstStyle/>
                    <a:p>
                      <a:r>
                        <a:rPr sz="1500" lang="es-MX">
                          <a:solidFill>
                            <a:schemeClr val="tx1"/>
                          </a:solidFill>
                          <a:latin typeface="Franklin Gothic Book"/>
                        </a:rPr>
                        <a:t>SuKarne · TIF 718 Villa de las Flores</a:t>
                      </a:r>
                    </a:p>
                  </a:txBody>
                  <a:tcPr marL="73152" marR="73152" marT="36576" marB="36576" anchor="ctr">
                    <a:solidFill>
                      <a:schemeClr val="bg2">
                        <a:lumMod val="20000"/>
                        <a:lumOff val="80000"/>
                      </a:schemeClr>
                    </a:solidFill>
                  </a:tcPr>
                </a:tc>
                <a:tc>
                  <a:txBody>
                    <a:bodyPr wrap="square"/>
                    <a:lstStyle/>
                    <a:p>
                      <a:pPr algn="ctr"/>
                      <a:r>
                        <a:rPr sz="1500" lang="es-MX" b="1">
                          <a:solidFill>
                            <a:schemeClr val="tx1"/>
                          </a:solidFill>
                          <a:latin typeface="Franklin Gothic Book"/>
                        </a:rPr>
                        <a:t>PARCIAL</a:t>
                      </a:r>
                    </a:p>
                  </a:txBody>
                  <a:tcPr marL="73152" marR="73152" marT="36576" marB="36576" anchor="ctr">
                    <a:solidFill>
                      <a:schemeClr val="accent4"/>
                    </a:solidFill>
                  </a:tcPr>
                </a:tc>
                <a:tc>
                  <a:txBody>
                    <a:bodyPr wrap="square"/>
                    <a:lstStyle/>
                    <a:p>
                      <a:r>
                        <a:rPr sz="1500" lang="es-MX">
                          <a:solidFill>
                            <a:schemeClr val="tx1"/>
                          </a:solidFill>
                          <a:latin typeface="Franklin Gothic Book"/>
                        </a:rPr>
                        <a:t>Solo corte, deshuese, inyección porcina y frío; 120 t/semana (Expansión, 2023; vigencia por confirmar; la meta de 840 no está confirmada). SENASICA dice Atlangatepec y Expansión dice Tlaxco.</a:t>
                      </a:r>
                    </a:p>
                  </a:txBody>
                  <a:tcPr marL="73152" marR="73152" marT="36576" marB="36576" anchor="ctr">
                    <a:solidFill>
                      <a:schemeClr val="bg2">
                        <a:lumMod val="20000"/>
                        <a:lumOff val="80000"/>
                      </a:schemeClr>
                    </a:solidFill>
                  </a:tcPr>
                </a:tc>
              </a:tr>
              <a:tr h="274320">
                <a:tc>
                  <a:txBody>
                    <a:bodyPr wrap="square"/>
                    <a:lstStyle/>
                    <a:p>
                      <a:r>
                        <a:rPr sz="1500" b="1" lang="es-MX">
                          <a:solidFill>
                            <a:schemeClr val="tx1"/>
                          </a:solidFill>
                          <a:latin typeface="Franklin Gothic Book"/>
                        </a:rPr>
                        <a:t>Jalisco</a:t>
                      </a:r>
                    </a:p>
                  </a:txBody>
                  <a:tcPr marL="73152" marR="73152" marT="36576" marB="36576" anchor="ctr">
                    <a:solidFill>
                      <a:schemeClr val="bg1"/>
                    </a:solidFill>
                  </a:tcPr>
                </a:tc>
                <a:tc>
                  <a:txBody>
                    <a:bodyPr wrap="square"/>
                    <a:lstStyle/>
                    <a:p>
                      <a:r>
                        <a:rPr sz="1500" lang="es-MX">
                          <a:solidFill>
                            <a:schemeClr val="tx1"/>
                          </a:solidFill>
                          <a:latin typeface="Franklin Gothic Book"/>
                        </a:rPr>
                        <a:t>SuKarne · TIF 94 Zapopan</a:t>
                      </a:r>
                    </a:p>
                  </a:txBody>
                  <a:tcPr marL="73152" marR="73152" marT="36576" marB="36576" anchor="ctr">
                    <a:solidFill>
                      <a:schemeClr val="bg1"/>
                    </a:solidFill>
                  </a:tcPr>
                </a:tc>
                <a:tc>
                  <a:txBody>
                    <a:bodyPr wrap="square"/>
                    <a:lstStyle/>
                    <a:p>
                      <a:pPr algn="ctr"/>
                      <a:r>
                        <a:rPr sz="1500" lang="es-MX" b="1">
                          <a:solidFill>
                            <a:schemeClr val="bg1"/>
                          </a:solidFill>
                          <a:latin typeface="Franklin Gothic Book"/>
                        </a:rPr>
                        <a:t>NO</a:t>
                      </a:r>
                    </a:p>
                  </a:txBody>
                  <a:tcPr marL="73152" marR="73152" marT="36576" marB="36576" anchor="ctr">
                    <a:solidFill>
                      <a:schemeClr val="accent1"/>
                    </a:solidFill>
                  </a:tcPr>
                </a:tc>
                <a:tc>
                  <a:txBody>
                    <a:bodyPr wrap="square"/>
                    <a:lstStyle/>
                    <a:p>
                      <a:r>
                        <a:rPr sz="1500" lang="es-MX">
                          <a:solidFill>
                            <a:schemeClr val="tx1"/>
                          </a:solidFill>
                          <a:latin typeface="Franklin Gothic Book"/>
                        </a:rPr>
                        <a:t>Planta de cocción sin sacrificio: solo MRO genérico, sería prospección nueva.</a:t>
                      </a:r>
                    </a:p>
                  </a:txBody>
                  <a:tcPr marL="73152" marR="73152" marT="36576" marB="36576" anchor="ctr">
                    <a:solidFill>
                      <a:schemeClr val="bg1"/>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Sigma: 15 TIF en 8 estados</a:t>
            </a:r>
          </a:p>
        </p:txBody>
      </p:sp>
      <p:sp>
        <p:nvSpPr>
          <p:cNvPr id="4" name="Content Placeholder 3"/>
          <p:cNvSpPr>
            <a:spLocks noGrp="1"/>
          </p:cNvSpPr>
          <p:nvPr>
            <p:ph idx="2" sz="half"/>
          </p:nvPr>
        </p:nvSpPr>
        <p:spPr/>
        <p:txBody>
          <a:bodyPr/>
          <a:lstStyle/>
          <a:p>
            <a:pPr marL="0" indent="0">
              <a:buNone/>
            </a:pPr>
            <a:r>
              <a:rPr lang="es-MX"/>
              <a:t>15 TIF en 8 estados</a:t>
            </a:r>
          </a:p>
          <a:p>
            <a:pPr lvl="1" marL="273050" indent="0">
              <a:buNone/>
            </a:pPr>
            <a:r>
              <a:rPr lang="es-MX">
                <a:latin typeface="Franklin Gothic Book"/>
              </a:rPr>
              <a:t>Padrón SENASICA, 7-sep-2026; sin los de Productos Cárnicos de Occidente</a:t>
            </a:r>
          </a:p>
          <a:p>
            <a:pPr marL="0" indent="0">
              <a:buNone/>
            </a:pPr>
            <a:r>
              <a:rPr lang="es-MX"/>
              <a:t>24 plantas en México, 11 de carnes frías</a:t>
            </a:r>
          </a:p>
          <a:p>
            <a:pPr lvl="1" marL="273050" indent="0">
              <a:buNone/>
            </a:pPr>
            <a:r>
              <a:rPr lang="es-MX">
                <a:latin typeface="Franklin Gothic Book"/>
              </a:rPr>
              <a:t>Reporte Anual SIGMA 2024; las 65 plantas del 4T25 son globales</a:t>
            </a:r>
          </a:p>
          <a:p>
            <a:pPr marL="0" indent="0">
              <a:buNone/>
            </a:pPr>
            <a:r>
              <a:rPr lang="es-MX"/>
              <a:t>7 ganadas, 3.11 millones MXN</a:t>
            </a:r>
          </a:p>
          <a:p>
            <a:pPr lvl="1" marL="273050" indent="0">
              <a:buNone/>
            </a:pPr>
            <a:r>
              <a:rPr lang="es-MX">
                <a:latin typeface="Franklin Gothic Book"/>
              </a:rPr>
              <a:t>Potencial anual registrado, acumulado 2019–2025; no es monto anual ni facturación</a:t>
            </a:r>
          </a:p>
          <a:p>
            <a:pPr marL="0" indent="0">
              <a:buNone/>
            </a:pPr>
            <a:r>
              <a:rPr lang="es-MX"/>
              <a:t>Qualtia, mismo giro de carnes frías</a:t>
            </a:r>
          </a:p>
          <a:p>
            <a:pPr lvl="1" marL="273050" indent="0">
              <a:buNone/>
            </a:pPr>
            <a:r>
              <a:rPr lang="es-MX">
                <a:latin typeface="Franklin Gothic Book"/>
              </a:rPr>
              <a:t>4 TIF; 1 ganada: «2.2 QUALTIA ALIMENTOS MANGUERA Y INDS, E HIDRAULICA BANDAS MECTROL_» (2021, 306,528.89 MXN)</a:t>
            </a:r>
          </a:p>
        </p:txBody>
      </p:sp>
      <p:sp>
        <p:nvSpPr>
          <p:cNvPr id="5" name="Text Placeholder 4"/>
          <p:cNvSpPr>
            <a:spLocks noGrp="1"/>
          </p:cNvSpPr>
          <p:nvPr>
            <p:ph type="body" idx="13" sz="quarter"/>
          </p:nvPr>
        </p:nvSpPr>
        <p:spPr/>
        <p:txBody>
          <a:bodyPr/>
          <a:lstStyle/>
          <a:p>
            <a:r>
              <a:rPr lang="es-MX"/>
              <a:t>Chihuahua, Guanajuato, Sonora y Yucatán: TIF de Sigma sin cuenta propia en el CRM</a:t>
            </a:r>
          </a:p>
        </p:txBody>
      </p:sp>
      <p:sp>
        <p:nvSpPr>
          <p:cNvPr id="6" name="Slide Number Placeholder"/>
          <p:cNvSpPr>
            <a:spLocks noGrp="1"/>
          </p:cNvSpPr>
          <p:nvPr>
            <p:ph type="sldNum" sz="quarter" idx="12"/>
          </p:nvPr>
        </p:nvSpPr>
        <p:spPr/>
        <p:txBody>
          <a:bodyPr/>
          <a:lstStyle/>
          <a:p>
            <a:fld id="{A0BE9D2B-0ED2-4BCC-B2A9-58657EACF6C0}" type="slidenum">
              <a:rPr lang="es-MX"/>
              <a:pPr/>
              <a:t>‹#›</a:t>
            </a:fld>
            <a:endParaRPr lang="es-MX"/>
          </a:p>
        </p:txBody>
      </p:sp>
      <p:sp>
        <p:nvSpPr>
          <p:cNvPr id="7" name="Footer Placeholder 4"/>
          <p:cNvSpPr>
            <a:spLocks noGrp="1"/>
          </p:cNvSpPr>
          <p:nvPr>
            <p:ph type="ftr" sz="quarter" idx="3"/>
          </p:nvPr>
        </p:nvSpPr>
        <p:spPr/>
        <p:txBody>
          <a:bodyPr/>
          <a:lstStyle>
            <a:lvl1pPr algn="l">
              <a:defRPr sz="900">
                <a:solidFill>
                  <a:srgbClr val="797979"/>
                </a:solidFill>
                <a:latin typeface="Franklin Gothic Book" charset="0"/>
                <a:ea typeface="Franklin Gothic Book" charset="0"/>
                <a:cs typeface="Franklin Gothic Book" charset="0"/>
              </a:defRPr>
            </a:lvl1pPr>
          </a:lstStyle>
          <a:p>
            <a:r>
              <a:rPr lang="en-US" dirty="0"/>
              <a:t>Confidential Information. Use and disclosure limited for Gates business purposes only. ©2018 Gates Inc. All rights reserved. </a:t>
            </a:r>
          </a:p>
        </p:txBody>
      </p:sp>
      <p:graphicFrame>
        <p:nvGraphicFramePr>
          <p:cNvPr id="8" name="Table 7"/>
          <p:cNvGraphicFramePr>
            <a:graphicFrameLocks noGrp="1"/>
          </p:cNvGraphicFramePr>
          <p:nvPr/>
        </p:nvGraphicFramePr>
        <p:xfrm>
          <a:off x="509588" y="1981199"/>
          <a:ext cx="7132319" cy="2743200"/>
        </p:xfrm>
        <a:graphic>
          <a:graphicData uri="http://schemas.openxmlformats.org/drawingml/2006/table">
            <a:tbl>
              <a:tblPr firstRow="1">
                <a:tableStyleId>{5C22544A-7EE6-4342-B048-85BDC9FD1C3A}</a:tableStyleId>
              </a:tblPr>
              <a:tblGrid>
                <a:gridCol w="2194559"/>
                <a:gridCol w="4937760"/>
              </a:tblGrid>
              <a:tr h="274320">
                <a:tc>
                  <a:txBody>
                    <a:bodyPr wrap="square"/>
                    <a:lstStyle/>
                    <a:p>
                      <a:r>
                        <a:rPr sz="1400" lang="es-MX">
                          <a:solidFill>
                            <a:schemeClr val="bg1"/>
                          </a:solidFill>
                          <a:latin typeface="Franklin Gothic Book"/>
                        </a:rPr>
                        <a:t>Estado con TIF de Sigma</a:t>
                      </a:r>
                    </a:p>
                  </a:txBody>
                  <a:tcPr marL="73152" marR="73152" marT="36576" marB="36576" anchor="ctr">
                    <a:solidFill>
                      <a:schemeClr val="accent1"/>
                    </a:solidFill>
                  </a:tcPr>
                </a:tc>
                <a:tc>
                  <a:txBody>
                    <a:bodyPr wrap="square"/>
                    <a:lstStyle/>
                    <a:p>
                      <a:r>
                        <a:rPr sz="1400" lang="es-MX">
                          <a:solidFill>
                            <a:schemeClr val="bg1"/>
                          </a:solidFill>
                          <a:latin typeface="Franklin Gothic Book"/>
                        </a:rPr>
                        <a:t>Historial en el CRM (solo elegibles)</a:t>
                      </a:r>
                    </a:p>
                  </a:txBody>
                  <a:tcPr marL="73152" marR="73152" marT="36576" marB="36576" anchor="ctr">
                    <a:solidFill>
                      <a:schemeClr val="accent1"/>
                    </a:solidFill>
                  </a:tcPr>
                </a:tc>
              </a:tr>
              <a:tr h="274320">
                <a:tc>
                  <a:txBody>
                    <a:bodyPr wrap="square"/>
                    <a:lstStyle/>
                    <a:p>
                      <a:r>
                        <a:rPr sz="1400" b="1" lang="es-MX">
                          <a:solidFill>
                            <a:schemeClr val="tx1"/>
                          </a:solidFill>
                          <a:latin typeface="Franklin Gothic Book"/>
                        </a:rPr>
                        <a:t>Estado de México</a:t>
                      </a:r>
                    </a:p>
                  </a:txBody>
                  <a:tcPr marL="73152" marR="73152" marT="36576" marB="36576" anchor="ctr">
                    <a:solidFill>
                      <a:schemeClr val="bg1"/>
                    </a:solidFill>
                  </a:tcPr>
                </a:tc>
                <a:tc>
                  <a:txBody>
                    <a:bodyPr wrap="square"/>
                    <a:lstStyle/>
                    <a:p>
                      <a:r>
                        <a:rPr sz="1400" lang="es-MX">
                          <a:solidFill>
                            <a:schemeClr val="tx1"/>
                          </a:solidFill>
                          <a:latin typeface="Franklin Gothic Book"/>
                        </a:rPr>
                        <a:t>Xalostoc: 2 ganadas y 1 perdida en 2020; 1.72 millones MXN en las 2 ganadas</a:t>
                      </a:r>
                    </a:p>
                  </a:txBody>
                  <a:tcPr marL="73152" marR="73152" marT="36576" marB="36576" anchor="ctr">
                    <a:solidFill>
                      <a:schemeClr val="bg1"/>
                    </a:solidFill>
                  </a:tcPr>
                </a:tc>
              </a:tr>
              <a:tr h="274320">
                <a:tc>
                  <a:txBody>
                    <a:bodyPr wrap="square"/>
                    <a:lstStyle/>
                    <a:p>
                      <a:r>
                        <a:rPr sz="1400" b="1" lang="es-MX">
                          <a:solidFill>
                            <a:schemeClr val="tx1"/>
                          </a:solidFill>
                          <a:latin typeface="Franklin Gothic Book"/>
                        </a:rPr>
                        <a:t>Nuevo León</a:t>
                      </a:r>
                    </a:p>
                  </a:txBody>
                  <a:tcPr marL="73152" marR="73152" marT="36576" marB="36576" anchor="ctr">
                    <a:solidFill>
                      <a:schemeClr val="bg2">
                        <a:lumMod val="20000"/>
                        <a:lumOff val="80000"/>
                      </a:schemeClr>
                    </a:solidFill>
                  </a:tcPr>
                </a:tc>
                <a:tc>
                  <a:txBody>
                    <a:bodyPr wrap="square"/>
                    <a:lstStyle/>
                    <a:p>
                      <a:r>
                        <a:rPr sz="1400" lang="es-MX">
                          <a:solidFill>
                            <a:schemeClr val="tx1"/>
                          </a:solidFill>
                          <a:latin typeface="Franklin Gothic Book"/>
                        </a:rPr>
                        <a:t>Monterrey: 2 ganadas (2020 y 2024); 0.49 millones MXN</a:t>
                      </a:r>
                    </a:p>
                  </a:txBody>
                  <a:tcPr marL="73152" marR="73152" marT="36576" marB="36576" anchor="ctr">
                    <a:solidFill>
                      <a:schemeClr val="bg2">
                        <a:lumMod val="20000"/>
                        <a:lumOff val="80000"/>
                      </a:schemeClr>
                    </a:solidFill>
                  </a:tcPr>
                </a:tc>
              </a:tr>
              <a:tr h="274320">
                <a:tc>
                  <a:txBody>
                    <a:bodyPr wrap="square"/>
                    <a:lstStyle/>
                    <a:p>
                      <a:r>
                        <a:rPr sz="1400" b="1" lang="es-MX">
                          <a:solidFill>
                            <a:schemeClr val="tx1"/>
                          </a:solidFill>
                          <a:latin typeface="Franklin Gothic Book"/>
                        </a:rPr>
                        <a:t>Jalisco</a:t>
                      </a:r>
                    </a:p>
                  </a:txBody>
                  <a:tcPr marL="73152" marR="73152" marT="36576" marB="36576" anchor="ctr">
                    <a:solidFill>
                      <a:schemeClr val="bg1"/>
                    </a:solidFill>
                  </a:tcPr>
                </a:tc>
                <a:tc>
                  <a:txBody>
                    <a:bodyPr wrap="square"/>
                    <a:lstStyle/>
                    <a:p>
                      <a:r>
                        <a:rPr sz="1400" lang="es-MX">
                          <a:solidFill>
                            <a:schemeClr val="tx1"/>
                          </a:solidFill>
                          <a:latin typeface="Franklin Gothic Book"/>
                        </a:rPr>
                        <a:t>Tonalá (Productos Cárnicos de Occidente, vinculada a Sigma por confirmar): 1 ganada en 2020, 0.37 millones MXN, aparte de las 7</a:t>
                      </a:r>
                    </a:p>
                  </a:txBody>
                  <a:tcPr marL="73152" marR="73152" marT="36576" marB="36576" anchor="ctr">
                    <a:solidFill>
                      <a:schemeClr val="bg1"/>
                    </a:solidFill>
                  </a:tcPr>
                </a:tc>
              </a:tr>
              <a:tr h="274320">
                <a:tc>
                  <a:txBody>
                    <a:bodyPr wrap="square"/>
                    <a:lstStyle/>
                    <a:p>
                      <a:r>
                        <a:rPr sz="1400" b="1" lang="es-MX">
                          <a:solidFill>
                            <a:schemeClr val="tx1"/>
                          </a:solidFill>
                          <a:latin typeface="Franklin Gothic Book"/>
                        </a:rPr>
                        <a:t>Hidalgo</a:t>
                      </a:r>
                    </a:p>
                  </a:txBody>
                  <a:tcPr marL="73152" marR="73152" marT="36576" marB="36576" anchor="ctr">
                    <a:solidFill>
                      <a:schemeClr val="bg2">
                        <a:lumMod val="20000"/>
                        <a:lumOff val="80000"/>
                      </a:schemeClr>
                    </a:solidFill>
                  </a:tcPr>
                </a:tc>
                <a:tc>
                  <a:txBody>
                    <a:bodyPr wrap="square"/>
                    <a:lstStyle/>
                    <a:p>
                      <a:r>
                        <a:rPr sz="1400" lang="es-MX">
                          <a:solidFill>
                            <a:schemeClr val="tx1"/>
                          </a:solidFill>
                          <a:latin typeface="Franklin Gothic Book"/>
                        </a:rPr>
                        <a:t>2 perdidas en bases de mantenimiento: Pachuca (2021) y Atitalaquia (2022)</a:t>
                      </a:r>
                    </a:p>
                  </a:txBody>
                  <a:tcPr marL="73152" marR="73152" marT="36576" marB="36576" anchor="ctr">
                    <a:solidFill>
                      <a:schemeClr val="bg2">
                        <a:lumMod val="20000"/>
                        <a:lumOff val="80000"/>
                      </a:schemeClr>
                    </a:solidFill>
                  </a:tcPr>
                </a:tc>
              </a:tr>
              <a:tr h="274320">
                <a:tc>
                  <a:txBody>
                    <a:bodyPr wrap="square"/>
                    <a:lstStyle/>
                    <a:p>
                      <a:r>
                        <a:rPr sz="1400" b="1" lang="es-MX">
                          <a:solidFill>
                            <a:schemeClr val="tx1"/>
                          </a:solidFill>
                          <a:latin typeface="Franklin Gothic Book"/>
                        </a:rPr>
                        <a:t>Chihuahua</a:t>
                      </a:r>
                    </a:p>
                  </a:txBody>
                  <a:tcPr marL="73152" marR="73152" marT="36576" marB="36576" anchor="ctr">
                    <a:solidFill>
                      <a:schemeClr val="bg1"/>
                    </a:solidFill>
                  </a:tcPr>
                </a:tc>
                <a:tc>
                  <a:txBody>
                    <a:bodyPr wrap="square"/>
                    <a:lstStyle/>
                    <a:p>
                      <a:r>
                        <a:rPr sz="1400" lang="es-MX">
                          <a:solidFill>
                            <a:schemeClr val="tx1"/>
                          </a:solidFill>
                          <a:latin typeface="Franklin Gothic Book"/>
                        </a:rPr>
                        <a:t>Sin cuenta propia en el CRM. Una perdida de 2020 (0 MXN) bajo la clave corporativa, cuyo nombre menciona Chihuahua</a:t>
                      </a:r>
                    </a:p>
                  </a:txBody>
                  <a:tcPr marL="73152" marR="73152" marT="36576" marB="36576" anchor="ctr">
                    <a:solidFill>
                      <a:schemeClr val="bg1"/>
                    </a:solidFill>
                  </a:tcPr>
                </a:tc>
              </a:tr>
              <a:tr h="274320">
                <a:tc>
                  <a:txBody>
                    <a:bodyPr wrap="square"/>
                    <a:lstStyle/>
                    <a:p>
                      <a:r>
                        <a:rPr sz="1400" b="1" lang="es-MX">
                          <a:solidFill>
                            <a:schemeClr val="tx1"/>
                          </a:solidFill>
                          <a:latin typeface="Franklin Gothic Book"/>
                        </a:rPr>
                        <a:t>Guanajuato</a:t>
                      </a:r>
                    </a:p>
                  </a:txBody>
                  <a:tcPr marL="73152" marR="73152" marT="36576" marB="36576" anchor="ctr">
                    <a:solidFill>
                      <a:schemeClr val="bg2">
                        <a:lumMod val="20000"/>
                        <a:lumOff val="80000"/>
                      </a:schemeClr>
                    </a:solidFill>
                  </a:tcPr>
                </a:tc>
                <a:tc>
                  <a:txBody>
                    <a:bodyPr wrap="square"/>
                    <a:lstStyle/>
                    <a:p>
                      <a:r>
                        <a:rPr sz="1400" lang="es-MX">
                          <a:solidFill>
                            <a:schemeClr val="tx1"/>
                          </a:solidFill>
                          <a:latin typeface="Franklin Gothic Book"/>
                        </a:rPr>
                        <a:t>Sin cuenta propia en el CRM</a:t>
                      </a:r>
                    </a:p>
                  </a:txBody>
                  <a:tcPr marL="73152" marR="73152" marT="36576" marB="36576" anchor="ctr">
                    <a:solidFill>
                      <a:schemeClr val="bg2">
                        <a:lumMod val="20000"/>
                        <a:lumOff val="80000"/>
                      </a:schemeClr>
                    </a:solidFill>
                  </a:tcPr>
                </a:tc>
              </a:tr>
              <a:tr h="274320">
                <a:tc>
                  <a:txBody>
                    <a:bodyPr wrap="square"/>
                    <a:lstStyle/>
                    <a:p>
                      <a:r>
                        <a:rPr sz="1400" b="1" lang="es-MX">
                          <a:solidFill>
                            <a:schemeClr val="tx1"/>
                          </a:solidFill>
                          <a:latin typeface="Franklin Gothic Book"/>
                        </a:rPr>
                        <a:t>Sonora</a:t>
                      </a:r>
                    </a:p>
                  </a:txBody>
                  <a:tcPr marL="73152" marR="73152" marT="36576" marB="36576" anchor="ctr">
                    <a:solidFill>
                      <a:schemeClr val="bg1"/>
                    </a:solidFill>
                  </a:tcPr>
                </a:tc>
                <a:tc>
                  <a:txBody>
                    <a:bodyPr wrap="square"/>
                    <a:lstStyle/>
                    <a:p>
                      <a:r>
                        <a:rPr sz="1400" lang="es-MX">
                          <a:solidFill>
                            <a:schemeClr val="tx1"/>
                          </a:solidFill>
                          <a:latin typeface="Franklin Gothic Book"/>
                        </a:rPr>
                        <a:t>Sin cuenta propia en el CRM</a:t>
                      </a:r>
                    </a:p>
                  </a:txBody>
                  <a:tcPr marL="73152" marR="73152" marT="36576" marB="36576" anchor="ctr">
                    <a:solidFill>
                      <a:schemeClr val="bg1"/>
                    </a:solidFill>
                  </a:tcPr>
                </a:tc>
              </a:tr>
              <a:tr h="274320">
                <a:tc>
                  <a:txBody>
                    <a:bodyPr wrap="square"/>
                    <a:lstStyle/>
                    <a:p>
                      <a:r>
                        <a:rPr sz="1400" b="1" lang="es-MX">
                          <a:solidFill>
                            <a:schemeClr val="tx1"/>
                          </a:solidFill>
                          <a:latin typeface="Franklin Gothic Book"/>
                        </a:rPr>
                        <a:t>Yucatán</a:t>
                      </a:r>
                    </a:p>
                  </a:txBody>
                  <a:tcPr marL="73152" marR="73152" marT="36576" marB="36576" anchor="ctr">
                    <a:solidFill>
                      <a:schemeClr val="bg2">
                        <a:lumMod val="20000"/>
                        <a:lumOff val="80000"/>
                      </a:schemeClr>
                    </a:solidFill>
                  </a:tcPr>
                </a:tc>
                <a:tc>
                  <a:txBody>
                    <a:bodyPr wrap="square"/>
                    <a:lstStyle/>
                    <a:p>
                      <a:r>
                        <a:rPr sz="1400" lang="es-MX">
                          <a:solidFill>
                            <a:schemeClr val="tx1"/>
                          </a:solidFill>
                          <a:latin typeface="Franklin Gothic Book"/>
                        </a:rPr>
                        <a:t>Sin cuenta propia en el CRM</a:t>
                      </a:r>
                    </a:p>
                  </a:txBody>
                  <a:tcPr marL="73152" marR="73152" marT="36576" marB="36576" anchor="ctr">
                    <a:solidFill>
                      <a:schemeClr val="bg2">
                        <a:lumMod val="20000"/>
                        <a:lumOff val="80000"/>
                      </a:schemeClr>
                    </a:solidFill>
                  </a:tcPr>
                </a:tc>
              </a:tr>
              <a:tr h="274320">
                <a:tc>
                  <a:txBody>
                    <a:bodyPr wrap="square"/>
                    <a:lstStyle/>
                    <a:p>
                      <a:r>
                        <a:rPr sz="1400" b="1" lang="es-MX">
                          <a:solidFill>
                            <a:schemeClr val="tx1"/>
                          </a:solidFill>
                          <a:latin typeface="Franklin Gothic Book"/>
                        </a:rPr>
                        <a:t>Otros estados con historial</a:t>
                      </a:r>
                    </a:p>
                  </a:txBody>
                  <a:tcPr marL="73152" marR="73152" marT="36576" marB="36576" anchor="ctr">
                    <a:solidFill>
                      <a:schemeClr val="bg1"/>
                    </a:solidFill>
                  </a:tcPr>
                </a:tc>
                <a:tc>
                  <a:txBody>
                    <a:bodyPr wrap="square"/>
                    <a:lstStyle/>
                    <a:p>
                      <a:r>
                        <a:rPr sz="1400" lang="es-MX">
                          <a:solidFill>
                            <a:schemeClr val="tx1"/>
                          </a:solidFill>
                          <a:latin typeface="Franklin Gothic Book"/>
                        </a:rPr>
                        <a:t>Veracruz (Coatzacoalcos, 1 ganada 2024), San Luis Potosí (Ciudad Valles, 1 ganada 2025) y Tlaxcala (base Apizaco, 1 ganada 2019)</a:t>
                      </a:r>
                    </a:p>
                  </a:txBody>
                  <a:tcPr marL="73152" marR="73152" marT="36576" marB="36576" anchor="ctr">
                    <a:solidFill>
                      <a:schemeClr val="bg1"/>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Próximos pasos</a:t>
            </a:r>
          </a:p>
        </p:txBody>
      </p:sp>
      <p:sp>
        <p:nvSpPr>
          <p:cNvPr id="3" name="Content Placeholder 2"/>
          <p:cNvSpPr>
            <a:spLocks noGrp="1"/>
          </p:cNvSpPr>
          <p:nvPr>
            <p:ph idx="1" sz="half"/>
          </p:nvPr>
        </p:nvSpPr>
        <p:spPr/>
        <p:txBody>
          <a:bodyPr/>
          <a:lstStyle/>
          <a:p>
            <a:pPr marL="0" indent="0">
              <a:buNone/>
            </a:pPr>
            <a:r>
              <a:rPr lang="es-MX"/>
              <a:t>Visita y validación</a:t>
            </a:r>
          </a:p>
          <a:p>
            <a:pPr lvl="1"/>
            <a:r>
              <a:rPr lang="es-MX"/>
              <a:t>Confirmar la identidad de cada sitio: Tepeji = TIF A-239; Lagos = TIF A-183 y origen Guanajuato; Lerma = Toluca</a:t>
            </a:r>
          </a:p>
          <a:p>
            <a:pPr lvl="1"/>
            <a:r>
              <a:rPr lang="es-MX"/>
              <a:t>Confirmar domicilio y TIF de La Piedad</a:t>
            </a:r>
          </a:p>
          <a:p>
            <a:pPr marL="0" indent="0">
              <a:buNone/>
            </a:pPr>
            <a:r>
              <a:rPr lang="es-MX"/>
              <a:t>Coordinación</a:t>
            </a:r>
          </a:p>
          <a:p>
            <a:pPr lvl="1"/>
            <a:r>
              <a:rPr lang="es-MX"/>
              <a:t>Bachoco: coordinar con las regiones que ya atienden la cuenta antes de acercarnos a Lagos</a:t>
            </a:r>
          </a:p>
          <a:p>
            <a:pPr lvl="1"/>
            <a:r>
              <a:rPr lang="es-MX"/>
              <a:t>Bachoco Guanajuato: designar quién recupera el expediente; el responsable histórico figura inactivo</a:t>
            </a:r>
          </a:p>
          <a:p>
            <a:pPr marL="0" indent="0">
              <a:buNone/>
            </a:pPr>
            <a:r>
              <a:rPr lang="es-MX"/>
              <a:t>Prospección</a:t>
            </a:r>
          </a:p>
          <a:p>
            <a:pPr lvl="1"/>
            <a:r>
              <a:rPr lang="es-MX"/>
              <a:t>Sigma: priorizar Chihuahua, Guanajuato, Sonora y Yucatán</a:t>
            </a:r>
          </a:p>
          <a:p>
            <a:pPr lvl="1"/>
            <a:r>
              <a:rPr lang="es-MX"/>
              <a:t>Bafar: buscar en el CRM subsidiarias con otro nombre</a:t>
            </a:r>
          </a:p>
          <a:p>
            <a:pPr lvl="1"/>
            <a:r>
              <a:rPr lang="es-MX"/>
              <a:t>Pronóstico 2027: sin cifra publicada; revisar nuevas ediciones de USDA y Comecarne</a:t>
            </a:r>
          </a:p>
        </p:txBody>
      </p:sp>
      <p:sp>
        <p:nvSpPr>
          <p:cNvPr id="4" name="Text Placeholder 3"/>
          <p:cNvSpPr>
            <a:spLocks noGrp="1"/>
          </p:cNvSpPr>
          <p:nvPr>
            <p:ph type="body" idx="13" sz="quarter"/>
          </p:nvPr>
        </p:nvSpPr>
        <p:spPr/>
        <p:txBody>
          <a:bodyPr/>
          <a:lstStyle/>
          <a:p>
            <a:r>
              <a:rPr lang="es-MX"/>
              <a:t>Siguiente paso: visitar las plantas (Lagos, tras coordinar con las otras regiones)</a:t>
            </a:r>
          </a:p>
        </p:txBody>
      </p:sp>
      <p:sp>
        <p:nvSpPr>
          <p:cNvPr id="5" name="Slide Number Placeholder"/>
          <p:cNvSpPr>
            <a:spLocks noGrp="1"/>
          </p:cNvSpPr>
          <p:nvPr>
            <p:ph type="sldNum" sz="quarter" idx="12"/>
          </p:nvPr>
        </p:nvSpPr>
        <p:spPr/>
        <p:txBody>
          <a:bodyPr/>
          <a:lstStyle/>
          <a:p>
            <a:fld id="{A0BE9D2B-0ED2-4BCC-B2A9-58657EACF6C0}" type="slidenum">
              <a:rPr lang="es-MX"/>
              <a:pPr/>
              <a:t>‹#›</a:t>
            </a:fld>
            <a:endParaRPr lang="es-MX"/>
          </a:p>
        </p:txBody>
      </p:sp>
      <p:sp>
        <p:nvSpPr>
          <p:cNvPr id="6" name="Footer Placeholder 4"/>
          <p:cNvSpPr>
            <a:spLocks noGrp="1"/>
          </p:cNvSpPr>
          <p:nvPr>
            <p:ph type="ftr" sz="quarter" idx="3"/>
          </p:nvPr>
        </p:nvSpPr>
        <p:spPr/>
        <p:txBody>
          <a:bodyPr/>
          <a:lstStyle>
            <a:lvl1pPr algn="l">
              <a:defRPr sz="900">
                <a:solidFill>
                  <a:srgbClr val="797979"/>
                </a:solidFill>
                <a:latin typeface="Franklin Gothic Book" charset="0"/>
                <a:ea typeface="Franklin Gothic Book" charset="0"/>
                <a:cs typeface="Franklin Gothic Book" charset="0"/>
              </a:defRPr>
            </a:lvl1pPr>
          </a:lstStyle>
          <a:p>
            <a:r>
              <a:rPr lang="en-US" dirty="0"/>
              <a:t>Confidential Information. Use and disclosure limited for Gates business purposes only. ©2018 Gates Inc. All rights reserved.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Apéndice 1: fuentes de mercado con URL y fecha</a:t>
            </a:r>
          </a:p>
        </p:txBody>
      </p:sp>
      <p:sp>
        <p:nvSpPr>
          <p:cNvPr id="3" name="Slide Number Placeholder"/>
          <p:cNvSpPr>
            <a:spLocks noGrp="1"/>
          </p:cNvSpPr>
          <p:nvPr>
            <p:ph type="sldNum" sz="quarter" idx="12"/>
          </p:nvPr>
        </p:nvSpPr>
        <p:spPr/>
        <p:txBody>
          <a:bodyPr/>
          <a:lstStyle/>
          <a:p>
            <a:fld id="{A0BE9D2B-0ED2-4BCC-B2A9-58657EACF6C0}" type="slidenum">
              <a:rPr lang="es-MX"/>
              <a:pPr/>
              <a:t>‹#›</a:t>
            </a:fld>
            <a:endParaRPr lang="es-MX"/>
          </a:p>
        </p:txBody>
      </p:sp>
      <p:sp>
        <p:nvSpPr>
          <p:cNvPr id="4" name="Footer Placeholder 4"/>
          <p:cNvSpPr>
            <a:spLocks noGrp="1"/>
          </p:cNvSpPr>
          <p:nvPr>
            <p:ph type="ftr" sz="quarter" idx="3"/>
          </p:nvPr>
        </p:nvSpPr>
        <p:spPr/>
        <p:txBody>
          <a:bodyPr/>
          <a:lstStyle>
            <a:lvl1pPr algn="l">
              <a:defRPr sz="900">
                <a:solidFill>
                  <a:srgbClr val="797979"/>
                </a:solidFill>
                <a:latin typeface="Franklin Gothic Book" charset="0"/>
                <a:ea typeface="Franklin Gothic Book" charset="0"/>
                <a:cs typeface="Franklin Gothic Book" charset="0"/>
              </a:defRPr>
            </a:lvl1pPr>
          </a:lstStyle>
          <a:p>
            <a:r>
              <a:rPr lang="en-US" dirty="0"/>
              <a:t>Confidential Information. Use and disclosure limited for Gates business purposes only. ©2018 Gates Inc. All rights reserved. </a:t>
            </a:r>
          </a:p>
        </p:txBody>
      </p:sp>
      <p:graphicFrame>
        <p:nvGraphicFramePr>
          <p:cNvPr id="5" name="Table 4"/>
          <p:cNvGraphicFramePr>
            <a:graphicFrameLocks noGrp="1"/>
          </p:cNvGraphicFramePr>
          <p:nvPr/>
        </p:nvGraphicFramePr>
        <p:xfrm>
          <a:off x="704088" y="1737360"/>
          <a:ext cx="14987014" cy="2468880"/>
        </p:xfrm>
        <a:graphic>
          <a:graphicData uri="http://schemas.openxmlformats.org/drawingml/2006/table">
            <a:tbl>
              <a:tblPr firstRow="1">
                <a:tableStyleId>{5C22544A-7EE6-4342-B048-85BDC9FD1C3A}</a:tableStyleId>
              </a:tblPr>
              <a:tblGrid>
                <a:gridCol w="3655369"/>
                <a:gridCol w="3107064"/>
                <a:gridCol w="2010453"/>
                <a:gridCol w="6214128"/>
              </a:tblGrid>
              <a:tr h="274320">
                <a:tc>
                  <a:txBody>
                    <a:bodyPr wrap="square"/>
                    <a:lstStyle/>
                    <a:p>
                      <a:r>
                        <a:rPr sz="1400" lang="es-MX">
                          <a:solidFill>
                            <a:schemeClr val="bg1"/>
                          </a:solidFill>
                          <a:latin typeface="Franklin Gothic Book"/>
                        </a:rPr>
                        <a:t>Dato</a:t>
                      </a:r>
                    </a:p>
                  </a:txBody>
                  <a:tcPr marL="73152" marR="73152" marT="36576" marB="36576" anchor="ctr">
                    <a:solidFill>
                      <a:schemeClr val="accent1"/>
                    </a:solidFill>
                  </a:tcPr>
                </a:tc>
                <a:tc>
                  <a:txBody>
                    <a:bodyPr wrap="square"/>
                    <a:lstStyle/>
                    <a:p>
                      <a:r>
                        <a:rPr sz="1400" lang="es-MX">
                          <a:solidFill>
                            <a:schemeClr val="bg1"/>
                          </a:solidFill>
                          <a:latin typeface="Franklin Gothic Book"/>
                        </a:rPr>
                        <a:t>Fuente</a:t>
                      </a:r>
                    </a:p>
                  </a:txBody>
                  <a:tcPr marL="73152" marR="73152" marT="36576" marB="36576" anchor="ctr">
                    <a:solidFill>
                      <a:schemeClr val="accent1"/>
                    </a:solidFill>
                  </a:tcPr>
                </a:tc>
                <a:tc>
                  <a:txBody>
                    <a:bodyPr wrap="square"/>
                    <a:lstStyle/>
                    <a:p>
                      <a:r>
                        <a:rPr sz="1400" lang="es-MX">
                          <a:solidFill>
                            <a:schemeClr val="bg1"/>
                          </a:solidFill>
                          <a:latin typeface="Franklin Gothic Book"/>
                        </a:rPr>
                        <a:t>Fecha de publicación</a:t>
                      </a:r>
                    </a:p>
                  </a:txBody>
                  <a:tcPr marL="73152" marR="73152" marT="36576" marB="36576" anchor="ctr">
                    <a:solidFill>
                      <a:schemeClr val="accent1"/>
                    </a:solidFill>
                  </a:tcPr>
                </a:tc>
                <a:tc>
                  <a:txBody>
                    <a:bodyPr wrap="square"/>
                    <a:lstStyle/>
                    <a:p>
                      <a:r>
                        <a:rPr sz="1400" lang="es-MX">
                          <a:solidFill>
                            <a:schemeClr val="bg1"/>
                          </a:solidFill>
                          <a:latin typeface="Franklin Gothic Book"/>
                        </a:rPr>
                        <a:t>URL</a:t>
                      </a:r>
                    </a:p>
                  </a:txBody>
                  <a:tcPr marL="73152" marR="73152" marT="36576" marB="36576" anchor="ctr">
                    <a:solidFill>
                      <a:schemeClr val="accent1"/>
                    </a:solidFill>
                  </a:tcPr>
                </a:tc>
              </a:tr>
              <a:tr h="274320">
                <a:tc>
                  <a:txBody>
                    <a:bodyPr wrap="square"/>
                    <a:lstStyle/>
                    <a:p>
                      <a:r>
                        <a:rPr sz="1400" lang="es-MX">
                          <a:solidFill>
                            <a:schemeClr val="tx1"/>
                          </a:solidFill>
                          <a:latin typeface="Franklin Gothic Book"/>
                        </a:rPr>
                        <a:t>PIB primario +4.0%, nacional +0.8%, secundario −1.1% (2025)</a:t>
                      </a:r>
                    </a:p>
                  </a:txBody>
                  <a:tcPr marL="73152" marR="73152" marT="36576" marB="36576" anchor="ctr">
                    <a:solidFill>
                      <a:schemeClr val="bg1"/>
                    </a:solidFill>
                  </a:tcPr>
                </a:tc>
                <a:tc>
                  <a:txBody>
                    <a:bodyPr wrap="square"/>
                    <a:lstStyle/>
                    <a:p>
                      <a:r>
                        <a:rPr sz="1400" lang="es-MX">
                          <a:solidFill>
                            <a:schemeClr val="tx1"/>
                          </a:solidFill>
                          <a:latin typeface="Franklin Gothic Book"/>
                        </a:rPr>
                        <a:t>SIAP/SADER con base en INEGI</a:t>
                      </a:r>
                    </a:p>
                  </a:txBody>
                  <a:tcPr marL="73152" marR="73152" marT="36576" marB="36576" anchor="ctr">
                    <a:solidFill>
                      <a:schemeClr val="bg1"/>
                    </a:solidFill>
                  </a:tcPr>
                </a:tc>
                <a:tc>
                  <a:txBody>
                    <a:bodyPr wrap="square"/>
                    <a:lstStyle/>
                    <a:p>
                      <a:r>
                        <a:rPr sz="1400" lang="es-MX">
                          <a:solidFill>
                            <a:schemeClr val="tx1"/>
                          </a:solidFill>
                          <a:latin typeface="Franklin Gothic Book"/>
                        </a:rPr>
                        <a:t>23-feb-2026</a:t>
                      </a:r>
                    </a:p>
                  </a:txBody>
                  <a:tcPr marL="73152" marR="73152" marT="36576" marB="36576" anchor="ctr">
                    <a:solidFill>
                      <a:schemeClr val="bg1"/>
                    </a:solidFill>
                  </a:tcPr>
                </a:tc>
                <a:tc>
                  <a:txBody>
                    <a:bodyPr wrap="square"/>
                    <a:lstStyle/>
                    <a:p>
                      <a:r>
                        <a:rPr sz="1400" lang="es-MX">
                          <a:solidFill>
                            <a:schemeClr val="tx1"/>
                          </a:solidFill>
                          <a:latin typeface="Franklin Gothic Book"/>
                        </a:rPr>
                        <a:t>gob.mx/agricultura/dgsiap/articulos/el-pib-primario-tiene-su-mejor-desempeno-en-trece-anos-al-crecer-4-0-en-2025</a:t>
                      </a:r>
                    </a:p>
                  </a:txBody>
                  <a:tcPr marL="73152" marR="73152" marT="36576" marB="36576" anchor="ctr">
                    <a:solidFill>
                      <a:schemeClr val="bg1"/>
                    </a:solidFill>
                  </a:tcPr>
                </a:tc>
              </a:tr>
              <a:tr h="274320">
                <a:tc>
                  <a:txBody>
                    <a:bodyPr wrap="square"/>
                    <a:lstStyle/>
                    <a:p>
                      <a:r>
                        <a:rPr sz="1400" lang="es-MX">
                          <a:solidFill>
                            <a:schemeClr val="tx1"/>
                          </a:solidFill>
                          <a:latin typeface="Franklin Gothic Book"/>
                        </a:rPr>
                        <a:t>Consumo de carne +4.5%, producción +2.6% (2025)</a:t>
                      </a:r>
                    </a:p>
                  </a:txBody>
                  <a:tcPr marL="73152" marR="73152" marT="36576" marB="36576" anchor="ctr">
                    <a:solidFill>
                      <a:schemeClr val="bg2">
                        <a:lumMod val="20000"/>
                        <a:lumOff val="80000"/>
                      </a:schemeClr>
                    </a:solidFill>
                  </a:tcPr>
                </a:tc>
                <a:tc>
                  <a:txBody>
                    <a:bodyPr wrap="square"/>
                    <a:lstStyle/>
                    <a:p>
                      <a:r>
                        <a:rPr sz="1400" lang="es-MX">
                          <a:solidFill>
                            <a:schemeClr val="tx1"/>
                          </a:solidFill>
                          <a:latin typeface="Franklin Gothic Book"/>
                        </a:rPr>
                        <a:t>Consejo Mexicano de la Carne, Compendio 2026, citado por prensa</a:t>
                      </a:r>
                    </a:p>
                  </a:txBody>
                  <a:tcPr marL="73152" marR="73152" marT="36576" marB="36576" anchor="ctr">
                    <a:solidFill>
                      <a:schemeClr val="bg2">
                        <a:lumMod val="20000"/>
                        <a:lumOff val="80000"/>
                      </a:schemeClr>
                    </a:solidFill>
                  </a:tcPr>
                </a:tc>
                <a:tc>
                  <a:txBody>
                    <a:bodyPr wrap="square"/>
                    <a:lstStyle/>
                    <a:p>
                      <a:r>
                        <a:rPr sz="1400" lang="es-MX">
                          <a:solidFill>
                            <a:schemeClr val="tx1"/>
                          </a:solidFill>
                          <a:latin typeface="Franklin Gothic Book"/>
                        </a:rPr>
                        <a:t>feb-2026 (día exacto ND)</a:t>
                      </a:r>
                    </a:p>
                  </a:txBody>
                  <a:tcPr marL="73152" marR="73152" marT="36576" marB="36576" anchor="ctr">
                    <a:solidFill>
                      <a:schemeClr val="bg2">
                        <a:lumMod val="20000"/>
                        <a:lumOff val="80000"/>
                      </a:schemeClr>
                    </a:solidFill>
                  </a:tcPr>
                </a:tc>
                <a:tc>
                  <a:txBody>
                    <a:bodyPr wrap="square"/>
                    <a:lstStyle/>
                    <a:p>
                      <a:r>
                        <a:rPr sz="1400" lang="es-MX">
                          <a:solidFill>
                            <a:schemeClr val="tx1"/>
                          </a:solidFill>
                          <a:latin typeface="Franklin Gothic Book"/>
                        </a:rPr>
                        <a:t>comecarne.org/compendio26</a:t>
                      </a:r>
                    </a:p>
                  </a:txBody>
                  <a:tcPr marL="73152" marR="73152" marT="36576" marB="36576" anchor="ctr">
                    <a:solidFill>
                      <a:schemeClr val="bg2">
                        <a:lumMod val="20000"/>
                        <a:lumOff val="80000"/>
                      </a:schemeClr>
                    </a:solidFill>
                  </a:tcPr>
                </a:tc>
              </a:tr>
              <a:tr h="274320">
                <a:tc>
                  <a:txBody>
                    <a:bodyPr wrap="square"/>
                    <a:lstStyle/>
                    <a:p>
                      <a:r>
                        <a:rPr sz="1400" lang="es-MX">
                          <a:solidFill>
                            <a:schemeClr val="tx1"/>
                          </a:solidFill>
                          <a:latin typeface="Franklin Gothic Book"/>
                        </a:rPr>
                        <a:t>Pie de cría porcino +2% (pronóstico 2026)</a:t>
                      </a:r>
                    </a:p>
                  </a:txBody>
                  <a:tcPr marL="73152" marR="73152" marT="36576" marB="36576" anchor="ctr">
                    <a:solidFill>
                      <a:schemeClr val="bg1"/>
                    </a:solidFill>
                  </a:tcPr>
                </a:tc>
                <a:tc>
                  <a:txBody>
                    <a:bodyPr wrap="square"/>
                    <a:lstStyle/>
                    <a:p>
                      <a:r>
                        <a:rPr sz="1400" lang="es-MX">
                          <a:solidFill>
                            <a:schemeClr val="tx1"/>
                          </a:solidFill>
                          <a:latin typeface="Franklin Gothic Book"/>
                        </a:rPr>
                        <a:t>USDA FAS GAIN</a:t>
                      </a:r>
                    </a:p>
                  </a:txBody>
                  <a:tcPr marL="73152" marR="73152" marT="36576" marB="36576" anchor="ctr">
                    <a:solidFill>
                      <a:schemeClr val="bg1"/>
                    </a:solidFill>
                  </a:tcPr>
                </a:tc>
                <a:tc>
                  <a:txBody>
                    <a:bodyPr wrap="square"/>
                    <a:lstStyle/>
                    <a:p>
                      <a:r>
                        <a:rPr sz="1400" lang="es-MX">
                          <a:solidFill>
                            <a:schemeClr val="tx1"/>
                          </a:solidFill>
                          <a:latin typeface="Franklin Gothic Book"/>
                        </a:rPr>
                        <a:t>feb-2026</a:t>
                      </a:r>
                    </a:p>
                  </a:txBody>
                  <a:tcPr marL="73152" marR="73152" marT="36576" marB="36576" anchor="ctr">
                    <a:solidFill>
                      <a:schemeClr val="bg1"/>
                    </a:solidFill>
                  </a:tcPr>
                </a:tc>
                <a:tc>
                  <a:txBody>
                    <a:bodyPr wrap="square"/>
                    <a:lstStyle/>
                    <a:p>
                      <a:r>
                        <a:rPr sz="1400" lang="es-MX">
                          <a:solidFill>
                            <a:schemeClr val="tx1"/>
                          </a:solidFill>
                          <a:latin typeface="Franklin Gothic Book"/>
                        </a:rPr>
                        <a:t>fas.usda.gov/data/gain/2026/02/mexico-livestock-and-products-semi-annual</a:t>
                      </a:r>
                    </a:p>
                  </a:txBody>
                  <a:tcPr marL="73152" marR="73152" marT="36576" marB="36576" anchor="ctr">
                    <a:solidFill>
                      <a:schemeClr val="bg1"/>
                    </a:solidFill>
                  </a:tcPr>
                </a:tc>
              </a:tr>
              <a:tr h="274320">
                <a:tc>
                  <a:txBody>
                    <a:bodyPr wrap="square"/>
                    <a:lstStyle/>
                    <a:p>
                      <a:r>
                        <a:rPr sz="1400" lang="es-MX">
                          <a:solidFill>
                            <a:schemeClr val="tx1"/>
                          </a:solidFill>
                          <a:latin typeface="Franklin Gothic Book"/>
                        </a:rPr>
                        <a:t>Pollo +2% (pronóstico 2026)</a:t>
                      </a:r>
                    </a:p>
                  </a:txBody>
                  <a:tcPr marL="73152" marR="73152" marT="36576" marB="36576" anchor="ctr">
                    <a:solidFill>
                      <a:schemeClr val="bg2">
                        <a:lumMod val="20000"/>
                        <a:lumOff val="80000"/>
                      </a:schemeClr>
                    </a:solidFill>
                  </a:tcPr>
                </a:tc>
                <a:tc>
                  <a:txBody>
                    <a:bodyPr wrap="square"/>
                    <a:lstStyle/>
                    <a:p>
                      <a:r>
                        <a:rPr sz="1400" lang="es-MX">
                          <a:solidFill>
                            <a:schemeClr val="tx1"/>
                          </a:solidFill>
                          <a:latin typeface="Franklin Gothic Book"/>
                        </a:rPr>
                        <a:t>USDA FAS GAIN, Poultry Annual MX2025-0045</a:t>
                      </a:r>
                    </a:p>
                  </a:txBody>
                  <a:tcPr marL="73152" marR="73152" marT="36576" marB="36576" anchor="ctr">
                    <a:solidFill>
                      <a:schemeClr val="bg2">
                        <a:lumMod val="20000"/>
                        <a:lumOff val="80000"/>
                      </a:schemeClr>
                    </a:solidFill>
                  </a:tcPr>
                </a:tc>
                <a:tc>
                  <a:txBody>
                    <a:bodyPr wrap="square"/>
                    <a:lstStyle/>
                    <a:p>
                      <a:r>
                        <a:rPr sz="1400" lang="es-MX">
                          <a:solidFill>
                            <a:schemeClr val="tx1"/>
                          </a:solidFill>
                          <a:latin typeface="Franklin Gothic Book"/>
                        </a:rPr>
                        <a:t>2025 (día ND)</a:t>
                      </a:r>
                    </a:p>
                  </a:txBody>
                  <a:tcPr marL="73152" marR="73152" marT="36576" marB="36576" anchor="ctr">
                    <a:solidFill>
                      <a:schemeClr val="bg2">
                        <a:lumMod val="20000"/>
                        <a:lumOff val="80000"/>
                      </a:schemeClr>
                    </a:solidFill>
                  </a:tcPr>
                </a:tc>
                <a:tc>
                  <a:txBody>
                    <a:bodyPr wrap="square"/>
                    <a:lstStyle/>
                    <a:p>
                      <a:r>
                        <a:rPr sz="1400" lang="es-MX">
                          <a:solidFill>
                            <a:schemeClr val="tx1"/>
                          </a:solidFill>
                          <a:latin typeface="Franklin Gothic Book"/>
                        </a:rPr>
                        <a:t>apps.fas.usda.gov/newgainapi/api/Report/DownloadReportByFileName?fileName=Poultry+and+Products+Annual_Mexico+City_Mexico_MX2025-0045.pdf</a:t>
                      </a:r>
                    </a:p>
                  </a:txBody>
                  <a:tcPr marL="73152" marR="73152" marT="36576" marB="36576" anchor="ctr">
                    <a:solidFill>
                      <a:schemeClr val="bg2">
                        <a:lumMod val="20000"/>
                        <a:lumOff val="80000"/>
                      </a:schemeClr>
                    </a:solidFill>
                  </a:tcPr>
                </a:tc>
              </a:tr>
              <a:tr h="274320">
                <a:tc>
                  <a:txBody>
                    <a:bodyPr wrap="square"/>
                    <a:lstStyle/>
                    <a:p>
                      <a:r>
                        <a:rPr sz="1400" lang="es-MX">
                          <a:solidFill>
                            <a:schemeClr val="tx1"/>
                          </a:solidFill>
                          <a:latin typeface="Franklin Gothic Book"/>
                        </a:rPr>
                        <a:t>Pilgrim's: 1,300 mdd 2026–2030, +38% de capacidad</a:t>
                      </a:r>
                    </a:p>
                  </a:txBody>
                  <a:tcPr marL="73152" marR="73152" marT="36576" marB="36576" anchor="ctr">
                    <a:solidFill>
                      <a:schemeClr val="bg1"/>
                    </a:solidFill>
                  </a:tcPr>
                </a:tc>
                <a:tc>
                  <a:txBody>
                    <a:bodyPr wrap="square"/>
                    <a:lstStyle/>
                    <a:p>
                      <a:r>
                        <a:rPr sz="1400" lang="es-MX">
                          <a:solidFill>
                            <a:schemeClr val="tx1"/>
                          </a:solidFill>
                          <a:latin typeface="Franklin Gothic Book"/>
                        </a:rPr>
                        <a:t>Presidencia, Plan México</a:t>
                      </a:r>
                    </a:p>
                  </a:txBody>
                  <a:tcPr marL="73152" marR="73152" marT="36576" marB="36576" anchor="ctr">
                    <a:solidFill>
                      <a:schemeClr val="bg1"/>
                    </a:solidFill>
                  </a:tcPr>
                </a:tc>
                <a:tc>
                  <a:txBody>
                    <a:bodyPr wrap="square"/>
                    <a:lstStyle/>
                    <a:p>
                      <a:r>
                        <a:rPr sz="1400" lang="es-MX">
                          <a:solidFill>
                            <a:schemeClr val="tx1"/>
                          </a:solidFill>
                          <a:latin typeface="Franklin Gothic Book"/>
                        </a:rPr>
                        <a:t>15-ene-2026</a:t>
                      </a:r>
                    </a:p>
                  </a:txBody>
                  <a:tcPr marL="73152" marR="73152" marT="36576" marB="36576" anchor="ctr">
                    <a:solidFill>
                      <a:schemeClr val="bg1"/>
                    </a:solidFill>
                  </a:tcPr>
                </a:tc>
                <a:tc>
                  <a:txBody>
                    <a:bodyPr wrap="square"/>
                    <a:lstStyle/>
                    <a:p>
                      <a:r>
                        <a:rPr sz="1400" lang="es-MX">
                          <a:solidFill>
                            <a:schemeClr val="tx1"/>
                          </a:solidFill>
                          <a:latin typeface="Franklin Gothic Book"/>
                        </a:rPr>
                        <a:t>gob.mx/presidencia/prensa/plan-mexico-empresa-global-pilgrim-s-invertira-en-el-pais-mil-300-millones-de-dolares-para-2026-2030-generara-20-mil-empleos</a:t>
                      </a:r>
                    </a:p>
                  </a:txBody>
                  <a:tcPr marL="73152" marR="73152" marT="36576" marB="36576" anchor="ctr">
                    <a:solidFill>
                      <a:schemeClr val="bg1"/>
                    </a:solidFill>
                  </a:tcPr>
                </a:tc>
              </a:tr>
              <a:tr h="274320">
                <a:tc>
                  <a:txBody>
                    <a:bodyPr wrap="square"/>
                    <a:lstStyle/>
                    <a:p>
                      <a:r>
                        <a:rPr sz="1400" lang="es-MX">
                          <a:solidFill>
                            <a:schemeClr val="tx1"/>
                          </a:solidFill>
                          <a:latin typeface="Franklin Gothic Book"/>
                        </a:rPr>
                        <a:t>SuKarne: posible venta por más de 2,000 mdd</a:t>
                      </a:r>
                    </a:p>
                  </a:txBody>
                  <a:tcPr marL="73152" marR="73152" marT="36576" marB="36576" anchor="ctr">
                    <a:solidFill>
                      <a:schemeClr val="bg2">
                        <a:lumMod val="20000"/>
                        <a:lumOff val="80000"/>
                      </a:schemeClr>
                    </a:solidFill>
                  </a:tcPr>
                </a:tc>
                <a:tc>
                  <a:txBody>
                    <a:bodyPr wrap="square"/>
                    <a:lstStyle/>
                    <a:p>
                      <a:r>
                        <a:rPr sz="1400" lang="es-MX">
                          <a:solidFill>
                            <a:schemeClr val="tx1"/>
                          </a:solidFill>
                          <a:latin typeface="Franklin Gothic Book"/>
                        </a:rPr>
                        <a:t>El Financiero</a:t>
                      </a:r>
                    </a:p>
                  </a:txBody>
                  <a:tcPr marL="73152" marR="73152" marT="36576" marB="36576" anchor="ctr">
                    <a:solidFill>
                      <a:schemeClr val="bg2">
                        <a:lumMod val="20000"/>
                        <a:lumOff val="80000"/>
                      </a:schemeClr>
                    </a:solidFill>
                  </a:tcPr>
                </a:tc>
                <a:tc>
                  <a:txBody>
                    <a:bodyPr wrap="square"/>
                    <a:lstStyle/>
                    <a:p>
                      <a:r>
                        <a:rPr sz="1400" lang="es-MX">
                          <a:solidFill>
                            <a:schemeClr val="tx1"/>
                          </a:solidFill>
                          <a:latin typeface="Franklin Gothic Book"/>
                        </a:rPr>
                        <a:t>4-ago-2026</a:t>
                      </a:r>
                    </a:p>
                  </a:txBody>
                  <a:tcPr marL="73152" marR="73152" marT="36576" marB="36576" anchor="ctr">
                    <a:solidFill>
                      <a:schemeClr val="bg2">
                        <a:lumMod val="20000"/>
                        <a:lumOff val="80000"/>
                      </a:schemeClr>
                    </a:solidFill>
                  </a:tcPr>
                </a:tc>
                <a:tc>
                  <a:txBody>
                    <a:bodyPr wrap="square"/>
                    <a:lstStyle/>
                    <a:p>
                      <a:r>
                        <a:rPr sz="1400" lang="es-MX">
                          <a:solidFill>
                            <a:schemeClr val="tx1"/>
                          </a:solidFill>
                          <a:latin typeface="Franklin Gothic Book"/>
                        </a:rPr>
                        <a:t>elfinanciero.com.mx/empresas/2026/08/04/que-sabemos-de-la-posible-venta-de-sukarne-el-mayor-exportador-de-carne-de-mexico/</a:t>
                      </a:r>
                    </a:p>
                  </a:txBody>
                  <a:tcPr marL="73152" marR="73152" marT="36576" marB="36576" anchor="ctr">
                    <a:solidFill>
                      <a:schemeClr val="bg2">
                        <a:lumMod val="20000"/>
                        <a:lumOff val="80000"/>
                      </a:schemeClr>
                    </a:solidFill>
                  </a:tcPr>
                </a:tc>
              </a:tr>
              <a:tr h="274320">
                <a:tc>
                  <a:txBody>
                    <a:bodyPr wrap="square"/>
                    <a:lstStyle/>
                    <a:p>
                      <a:r>
                        <a:rPr sz="1400" lang="es-MX">
                          <a:solidFill>
                            <a:schemeClr val="tx1"/>
                          </a:solidFill>
                          <a:latin typeface="Franklin Gothic Book"/>
                        </a:rPr>
                        <a:t>Bafar: ventas netas +14.8% en 2025</a:t>
                      </a:r>
                    </a:p>
                  </a:txBody>
                  <a:tcPr marL="73152" marR="73152" marT="36576" marB="36576" anchor="ctr">
                    <a:solidFill>
                      <a:schemeClr val="bg1"/>
                    </a:solidFill>
                  </a:tcPr>
                </a:tc>
                <a:tc>
                  <a:txBody>
                    <a:bodyPr wrap="square"/>
                    <a:lstStyle/>
                    <a:p>
                      <a:r>
                        <a:rPr sz="1400" lang="es-MX">
                          <a:solidFill>
                            <a:schemeClr val="tx1"/>
                          </a:solidFill>
                          <a:latin typeface="Franklin Gothic Book"/>
                        </a:rPr>
                        <a:t>Grupo Bafar</a:t>
                      </a:r>
                    </a:p>
                  </a:txBody>
                  <a:tcPr marL="73152" marR="73152" marT="36576" marB="36576" anchor="ctr">
                    <a:solidFill>
                      <a:schemeClr val="bg1"/>
                    </a:solidFill>
                  </a:tcPr>
                </a:tc>
                <a:tc>
                  <a:txBody>
                    <a:bodyPr wrap="square"/>
                    <a:lstStyle/>
                    <a:p>
                      <a:r>
                        <a:rPr sz="1400" lang="es-MX">
                          <a:solidFill>
                            <a:schemeClr val="tx1"/>
                          </a:solidFill>
                          <a:latin typeface="Franklin Gothic Book"/>
                        </a:rPr>
                        <a:t>ND</a:t>
                      </a:r>
                    </a:p>
                  </a:txBody>
                  <a:tcPr marL="73152" marR="73152" marT="36576" marB="36576" anchor="ctr">
                    <a:solidFill>
                      <a:schemeClr val="bg1"/>
                    </a:solidFill>
                  </a:tcPr>
                </a:tc>
                <a:tc>
                  <a:txBody>
                    <a:bodyPr wrap="square"/>
                    <a:lstStyle/>
                    <a:p>
                      <a:r>
                        <a:rPr sz="1400" lang="es-MX">
                          <a:solidFill>
                            <a:schemeClr val="tx1"/>
                          </a:solidFill>
                          <a:latin typeface="Franklin Gothic Book"/>
                        </a:rPr>
                        <a:t>grupobafar.com/grupo-bafar-incrementa-14-8-sus-ventas-en-2025-y-dispara-173-1-su-utilidad-neta/</a:t>
                      </a:r>
                    </a:p>
                  </a:txBody>
                  <a:tcPr marL="73152" marR="73152" marT="36576" marB="36576" anchor="ctr">
                    <a:solidFill>
                      <a:schemeClr val="bg1"/>
                    </a:solidFill>
                  </a:tcPr>
                </a:tc>
              </a:tr>
              <a:tr h="274320">
                <a:tc>
                  <a:txBody>
                    <a:bodyPr wrap="square"/>
                    <a:lstStyle/>
                    <a:p>
                      <a:r>
                        <a:rPr sz="1400" lang="es-MX">
                          <a:solidFill>
                            <a:schemeClr val="tx1"/>
                          </a:solidFill>
                          <a:latin typeface="Franklin Gothic Book"/>
                        </a:rPr>
                        <a:t>Bafar: ventas netas +17.1% en 2T-2026</a:t>
                      </a:r>
                    </a:p>
                  </a:txBody>
                  <a:tcPr marL="73152" marR="73152" marT="36576" marB="36576" anchor="ctr">
                    <a:solidFill>
                      <a:schemeClr val="bg2">
                        <a:lumMod val="20000"/>
                        <a:lumOff val="80000"/>
                      </a:schemeClr>
                    </a:solidFill>
                  </a:tcPr>
                </a:tc>
                <a:tc>
                  <a:txBody>
                    <a:bodyPr wrap="square"/>
                    <a:lstStyle/>
                    <a:p>
                      <a:r>
                        <a:rPr sz="1400" lang="es-MX">
                          <a:solidFill>
                            <a:schemeClr val="tx1"/>
                          </a:solidFill>
                          <a:latin typeface="Franklin Gothic Book"/>
                        </a:rPr>
                        <a:t>El Heraldo de Chihuahua (OEM)</a:t>
                      </a:r>
                    </a:p>
                  </a:txBody>
                  <a:tcPr marL="73152" marR="73152" marT="36576" marB="36576" anchor="ctr">
                    <a:solidFill>
                      <a:schemeClr val="bg2">
                        <a:lumMod val="20000"/>
                        <a:lumOff val="80000"/>
                      </a:schemeClr>
                    </a:solidFill>
                  </a:tcPr>
                </a:tc>
                <a:tc>
                  <a:txBody>
                    <a:bodyPr wrap="square"/>
                    <a:lstStyle/>
                    <a:p>
                      <a:r>
                        <a:rPr sz="1400" lang="es-MX">
                          <a:solidFill>
                            <a:schemeClr val="tx1"/>
                          </a:solidFill>
                          <a:latin typeface="Franklin Gothic Book"/>
                        </a:rPr>
                        <a:t>28-jul-2026</a:t>
                      </a:r>
                    </a:p>
                  </a:txBody>
                  <a:tcPr marL="73152" marR="73152" marT="36576" marB="36576" anchor="ctr">
                    <a:solidFill>
                      <a:schemeClr val="bg2">
                        <a:lumMod val="20000"/>
                        <a:lumOff val="80000"/>
                      </a:schemeClr>
                    </a:solidFill>
                  </a:tcPr>
                </a:tc>
                <a:tc>
                  <a:txBody>
                    <a:bodyPr wrap="square"/>
                    <a:lstStyle/>
                    <a:p>
                      <a:r>
                        <a:rPr sz="1400" lang="es-MX">
                          <a:solidFill>
                            <a:schemeClr val="tx1"/>
                          </a:solidFill>
                          <a:latin typeface="Franklin Gothic Book"/>
                        </a:rPr>
                        <a:t>oem.com.mx/elheraldodechihuahua/finanzas/crecieron-un-17-las-ventas-netas-en-grupo-bafar-al-segundo-trimestre-de-2026-31348026</a:t>
                      </a:r>
                    </a:p>
                  </a:txBody>
                  <a:tcPr marL="73152" marR="73152" marT="36576" marB="36576" anchor="ctr">
                    <a:solidFill>
                      <a:schemeClr val="bg2">
                        <a:lumMod val="20000"/>
                        <a:lumOff val="80000"/>
                      </a:schemeClr>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Apéndice 2: fuentes de plantas y grupos</a:t>
            </a:r>
          </a:p>
        </p:txBody>
      </p:sp>
      <p:sp>
        <p:nvSpPr>
          <p:cNvPr id="3" name="Slide Number Placeholder"/>
          <p:cNvSpPr>
            <a:spLocks noGrp="1"/>
          </p:cNvSpPr>
          <p:nvPr>
            <p:ph type="sldNum" sz="quarter" idx="12"/>
          </p:nvPr>
        </p:nvSpPr>
        <p:spPr/>
        <p:txBody>
          <a:bodyPr/>
          <a:lstStyle/>
          <a:p>
            <a:fld id="{A0BE9D2B-0ED2-4BCC-B2A9-58657EACF6C0}" type="slidenum">
              <a:rPr lang="es-MX"/>
              <a:pPr/>
              <a:t>‹#›</a:t>
            </a:fld>
            <a:endParaRPr lang="es-MX"/>
          </a:p>
        </p:txBody>
      </p:sp>
      <p:sp>
        <p:nvSpPr>
          <p:cNvPr id="4" name="Footer Placeholder 4"/>
          <p:cNvSpPr>
            <a:spLocks noGrp="1"/>
          </p:cNvSpPr>
          <p:nvPr>
            <p:ph type="ftr" sz="quarter" idx="3"/>
          </p:nvPr>
        </p:nvSpPr>
        <p:spPr/>
        <p:txBody>
          <a:bodyPr/>
          <a:lstStyle>
            <a:lvl1pPr algn="l">
              <a:defRPr sz="900">
                <a:solidFill>
                  <a:srgbClr val="797979"/>
                </a:solidFill>
                <a:latin typeface="Franklin Gothic Book" charset="0"/>
                <a:ea typeface="Franklin Gothic Book" charset="0"/>
                <a:cs typeface="Franklin Gothic Book" charset="0"/>
              </a:defRPr>
            </a:lvl1pPr>
          </a:lstStyle>
          <a:p>
            <a:r>
              <a:rPr lang="en-US" dirty="0"/>
              <a:t>Confidential Information. Use and disclosure limited for Gates business purposes only. ©2018 Gates Inc. All rights reserved. </a:t>
            </a:r>
          </a:p>
        </p:txBody>
      </p:sp>
      <p:graphicFrame>
        <p:nvGraphicFramePr>
          <p:cNvPr id="5" name="Table 4"/>
          <p:cNvGraphicFramePr>
            <a:graphicFrameLocks noGrp="1"/>
          </p:cNvGraphicFramePr>
          <p:nvPr/>
        </p:nvGraphicFramePr>
        <p:xfrm>
          <a:off x="704088" y="1737360"/>
          <a:ext cx="14987013" cy="2743200"/>
        </p:xfrm>
        <a:graphic>
          <a:graphicData uri="http://schemas.openxmlformats.org/drawingml/2006/table">
            <a:tbl>
              <a:tblPr firstRow="1">
                <a:tableStyleId>{5C22544A-7EE6-4342-B048-85BDC9FD1C3A}</a:tableStyleId>
              </a:tblPr>
              <a:tblGrid>
                <a:gridCol w="4751980"/>
                <a:gridCol w="3289832"/>
                <a:gridCol w="2193221"/>
                <a:gridCol w="4751980"/>
              </a:tblGrid>
              <a:tr h="274320">
                <a:tc>
                  <a:txBody>
                    <a:bodyPr wrap="square"/>
                    <a:lstStyle/>
                    <a:p>
                      <a:r>
                        <a:rPr sz="1200" lang="es-MX">
                          <a:solidFill>
                            <a:schemeClr val="bg1"/>
                          </a:solidFill>
                          <a:latin typeface="Franklin Gothic Book"/>
                        </a:rPr>
                        <a:t>Dato</a:t>
                      </a:r>
                    </a:p>
                  </a:txBody>
                  <a:tcPr marL="73152" marR="73152" marT="36576" marB="36576" anchor="ctr">
                    <a:solidFill>
                      <a:schemeClr val="accent1"/>
                    </a:solidFill>
                  </a:tcPr>
                </a:tc>
                <a:tc>
                  <a:txBody>
                    <a:bodyPr wrap="square"/>
                    <a:lstStyle/>
                    <a:p>
                      <a:r>
                        <a:rPr sz="1200" lang="es-MX">
                          <a:solidFill>
                            <a:schemeClr val="bg1"/>
                          </a:solidFill>
                          <a:latin typeface="Franklin Gothic Book"/>
                        </a:rPr>
                        <a:t>Fuente</a:t>
                      </a:r>
                    </a:p>
                  </a:txBody>
                  <a:tcPr marL="73152" marR="73152" marT="36576" marB="36576" anchor="ctr">
                    <a:solidFill>
                      <a:schemeClr val="accent1"/>
                    </a:solidFill>
                  </a:tcPr>
                </a:tc>
                <a:tc>
                  <a:txBody>
                    <a:bodyPr wrap="square"/>
                    <a:lstStyle/>
                    <a:p>
                      <a:r>
                        <a:rPr sz="1200" lang="es-MX">
                          <a:solidFill>
                            <a:schemeClr val="bg1"/>
                          </a:solidFill>
                          <a:latin typeface="Franklin Gothic Book"/>
                        </a:rPr>
                        <a:t>Fecha de publicación</a:t>
                      </a:r>
                    </a:p>
                  </a:txBody>
                  <a:tcPr marL="73152" marR="73152" marT="36576" marB="36576" anchor="ctr">
                    <a:solidFill>
                      <a:schemeClr val="accent1"/>
                    </a:solidFill>
                  </a:tcPr>
                </a:tc>
                <a:tc>
                  <a:txBody>
                    <a:bodyPr wrap="square"/>
                    <a:lstStyle/>
                    <a:p>
                      <a:r>
                        <a:rPr sz="1200" lang="es-MX">
                          <a:solidFill>
                            <a:schemeClr val="bg1"/>
                          </a:solidFill>
                          <a:latin typeface="Franklin Gothic Book"/>
                        </a:rPr>
                        <a:t>URL</a:t>
                      </a:r>
                    </a:p>
                  </a:txBody>
                  <a:tcPr marL="73152" marR="73152" marT="36576" marB="36576" anchor="ctr">
                    <a:solidFill>
                      <a:schemeClr val="accent1"/>
                    </a:solidFill>
                  </a:tcPr>
                </a:tc>
              </a:tr>
              <a:tr h="274320">
                <a:tc>
                  <a:txBody>
                    <a:bodyPr wrap="square"/>
                    <a:lstStyle/>
                    <a:p>
                      <a:r>
                        <a:rPr sz="1200" lang="es-MX">
                          <a:solidFill>
                            <a:schemeClr val="tx1"/>
                          </a:solidFill>
                          <a:latin typeface="Franklin Gothic Book"/>
                        </a:rPr>
                        <a:t>TIF de SuKarne, Pilgrim's, Bachoco, Qualtia y Sigma; TIF 94 sin sacrificio; TIF 126 de Strattega, subsidiaria de Bafar, en Michoacán (¿La Piedad?, por confirmar)</a:t>
                      </a:r>
                    </a:p>
                  </a:txBody>
                  <a:tcPr marL="73152" marR="73152" marT="36576" marB="36576" anchor="ctr">
                    <a:solidFill>
                      <a:schemeClr val="bg1"/>
                    </a:solidFill>
                  </a:tcPr>
                </a:tc>
                <a:tc>
                  <a:txBody>
                    <a:bodyPr wrap="square"/>
                    <a:lstStyle/>
                    <a:p>
                      <a:r>
                        <a:rPr sz="1200" lang="es-MX">
                          <a:solidFill>
                            <a:schemeClr val="tx1"/>
                          </a:solidFill>
                          <a:latin typeface="Franklin Gothic Book"/>
                        </a:rPr>
                        <a:t>Directorio TIF, SENASICA</a:t>
                      </a:r>
                    </a:p>
                  </a:txBody>
                  <a:tcPr marL="73152" marR="73152" marT="36576" marB="36576" anchor="ctr">
                    <a:solidFill>
                      <a:schemeClr val="bg1"/>
                    </a:solidFill>
                  </a:tcPr>
                </a:tc>
                <a:tc>
                  <a:txBody>
                    <a:bodyPr wrap="square"/>
                    <a:lstStyle/>
                    <a:p>
                      <a:r>
                        <a:rPr sz="1200" lang="es-MX">
                          <a:solidFill>
                            <a:schemeClr val="tx1"/>
                          </a:solidFill>
                          <a:latin typeface="Franklin Gothic Book"/>
                        </a:rPr>
                        <a:t>7-sep-2026</a:t>
                      </a:r>
                    </a:p>
                  </a:txBody>
                  <a:tcPr marL="73152" marR="73152" marT="36576" marB="36576" anchor="ctr">
                    <a:solidFill>
                      <a:schemeClr val="bg1"/>
                    </a:solidFill>
                  </a:tcPr>
                </a:tc>
                <a:tc>
                  <a:txBody>
                    <a:bodyPr wrap="square"/>
                    <a:lstStyle/>
                    <a:p>
                      <a:r>
                        <a:rPr sz="1200" lang="es-MX">
                          <a:solidFill>
                            <a:schemeClr val="tx1"/>
                          </a:solidFill>
                          <a:latin typeface="Franklin Gothic Book"/>
                        </a:rPr>
                        <a:t>gob.mx/cms/uploads/attachment/file/1095992/DIRECTORIO_TIF_07-09-2026.pdf</a:t>
                      </a:r>
                    </a:p>
                  </a:txBody>
                  <a:tcPr marL="73152" marR="73152" marT="36576" marB="36576" anchor="ctr">
                    <a:solidFill>
                      <a:schemeClr val="bg1"/>
                    </a:solidFill>
                  </a:tcPr>
                </a:tc>
              </a:tr>
              <a:tr h="274320">
                <a:tc>
                  <a:txBody>
                    <a:bodyPr wrap="square"/>
                    <a:lstStyle/>
                    <a:p>
                      <a:r>
                        <a:rPr sz="1200" lang="es-MX">
                          <a:solidFill>
                            <a:schemeClr val="tx1"/>
                          </a:solidFill>
                          <a:latin typeface="Franklin Gothic Book"/>
                        </a:rPr>
                        <a:t>Bachoco: 64 plantas en 10 complejos (una fuente de 2009 hablaba de siete; se usa la más reciente)</a:t>
                      </a:r>
                    </a:p>
                  </a:txBody>
                  <a:tcPr marL="73152" marR="73152" marT="36576" marB="36576" anchor="ctr">
                    <a:solidFill>
                      <a:schemeClr val="bg2">
                        <a:lumMod val="20000"/>
                        <a:lumOff val="80000"/>
                      </a:schemeClr>
                    </a:solidFill>
                  </a:tcPr>
                </a:tc>
                <a:tc>
                  <a:txBody>
                    <a:bodyPr wrap="square"/>
                    <a:lstStyle/>
                    <a:p>
                      <a:r>
                        <a:rPr sz="1200" lang="es-MX">
                          <a:solidFill>
                            <a:schemeClr val="tx1"/>
                          </a:solidFill>
                          <a:latin typeface="Franklin Gothic Book"/>
                        </a:rPr>
                        <a:t>Informe Anual 2024, Bachoco (BMV)</a:t>
                      </a:r>
                    </a:p>
                  </a:txBody>
                  <a:tcPr marL="73152" marR="73152" marT="36576" marB="36576" anchor="ctr">
                    <a:solidFill>
                      <a:schemeClr val="bg2">
                        <a:lumMod val="20000"/>
                        <a:lumOff val="80000"/>
                      </a:schemeClr>
                    </a:solidFill>
                  </a:tcPr>
                </a:tc>
                <a:tc>
                  <a:txBody>
                    <a:bodyPr wrap="square"/>
                    <a:lstStyle/>
                    <a:p>
                      <a:r>
                        <a:rPr sz="1200" lang="es-MX">
                          <a:solidFill>
                            <a:schemeClr val="tx1"/>
                          </a:solidFill>
                          <a:latin typeface="Franklin Gothic Book"/>
                        </a:rPr>
                        <a:t>ND</a:t>
                      </a:r>
                    </a:p>
                  </a:txBody>
                  <a:tcPr marL="73152" marR="73152" marT="36576" marB="36576" anchor="ctr">
                    <a:solidFill>
                      <a:schemeClr val="bg2">
                        <a:lumMod val="20000"/>
                        <a:lumOff val="80000"/>
                      </a:schemeClr>
                    </a:solidFill>
                  </a:tcPr>
                </a:tc>
                <a:tc>
                  <a:txBody>
                    <a:bodyPr wrap="square"/>
                    <a:lstStyle/>
                    <a:p>
                      <a:r>
                        <a:rPr sz="1200" lang="es-MX">
                          <a:solidFill>
                            <a:schemeClr val="tx1"/>
                          </a:solidFill>
                          <a:latin typeface="Franklin Gothic Book"/>
                        </a:rPr>
                        <a:t>grupobachoco.com/wp-content/downloads/2025/Informe-Anual-2024-BMV.pdf</a:t>
                      </a:r>
                    </a:p>
                  </a:txBody>
                  <a:tcPr marL="73152" marR="73152" marT="36576" marB="36576" anchor="ctr">
                    <a:solidFill>
                      <a:schemeClr val="bg2">
                        <a:lumMod val="20000"/>
                        <a:lumOff val="80000"/>
                      </a:schemeClr>
                    </a:solidFill>
                  </a:tcPr>
                </a:tc>
              </a:tr>
              <a:tr h="274320">
                <a:tc>
                  <a:txBody>
                    <a:bodyPr wrap="square"/>
                    <a:lstStyle/>
                    <a:p>
                      <a:r>
                        <a:rPr sz="1200" lang="es-MX">
                          <a:solidFill>
                            <a:schemeClr val="tx1"/>
                          </a:solidFill>
                          <a:latin typeface="Franklin Gothic Book"/>
                        </a:rPr>
                        <a:t>Bafar: 4 complejos productivos; La Piedad (Complejo Agroindustrial, 650 mdd); compra de carne a terceros; Strattega como subsidiaria</a:t>
                      </a:r>
                    </a:p>
                  </a:txBody>
                  <a:tcPr marL="73152" marR="73152" marT="36576" marB="36576" anchor="ctr">
                    <a:solidFill>
                      <a:schemeClr val="bg1"/>
                    </a:solidFill>
                  </a:tcPr>
                </a:tc>
                <a:tc>
                  <a:txBody>
                    <a:bodyPr wrap="square"/>
                    <a:lstStyle/>
                    <a:p>
                      <a:r>
                        <a:rPr sz="1200" lang="es-MX">
                          <a:solidFill>
                            <a:schemeClr val="tx1"/>
                          </a:solidFill>
                          <a:latin typeface="Franklin Gothic Book"/>
                        </a:rPr>
                        <a:t>Reporte Anual 2024, Grupo Bafar (BIVA)</a:t>
                      </a:r>
                    </a:p>
                  </a:txBody>
                  <a:tcPr marL="73152" marR="73152" marT="36576" marB="36576" anchor="ctr">
                    <a:solidFill>
                      <a:schemeClr val="bg1"/>
                    </a:solidFill>
                  </a:tcPr>
                </a:tc>
                <a:tc>
                  <a:txBody>
                    <a:bodyPr wrap="square"/>
                    <a:lstStyle/>
                    <a:p>
                      <a:r>
                        <a:rPr sz="1200" lang="es-MX">
                          <a:solidFill>
                            <a:schemeClr val="tx1"/>
                          </a:solidFill>
                          <a:latin typeface="Franklin Gothic Book"/>
                        </a:rPr>
                        <a:t>ND (≈ 30-abr-2025, inferida del sello del archivo)</a:t>
                      </a:r>
                    </a:p>
                  </a:txBody>
                  <a:tcPr marL="73152" marR="73152" marT="36576" marB="36576" anchor="ctr">
                    <a:solidFill>
                      <a:schemeClr val="bg1"/>
                    </a:solidFill>
                  </a:tcPr>
                </a:tc>
                <a:tc>
                  <a:txBody>
                    <a:bodyPr wrap="square"/>
                    <a:lstStyle/>
                    <a:p>
                      <a:r>
                        <a:rPr sz="1200" lang="es-MX">
                          <a:solidFill>
                            <a:schemeClr val="tx1"/>
                          </a:solidFill>
                          <a:latin typeface="Franklin Gothic Book"/>
                        </a:rPr>
                        <a:t>biva.mx/storage/information-send/RAN/BAFAR/ReporteAnual_2024_BAFAR_1746046978785.pdf</a:t>
                      </a:r>
                    </a:p>
                  </a:txBody>
                  <a:tcPr marL="73152" marR="73152" marT="36576" marB="36576" anchor="ctr">
                    <a:solidFill>
                      <a:schemeClr val="bg1"/>
                    </a:solidFill>
                  </a:tcPr>
                </a:tc>
              </a:tr>
              <a:tr h="274320">
                <a:tc>
                  <a:txBody>
                    <a:bodyPr wrap="square"/>
                    <a:lstStyle/>
                    <a:p>
                      <a:r>
                        <a:rPr sz="1200" lang="es-MX">
                          <a:solidFill>
                            <a:schemeClr val="tx1"/>
                          </a:solidFill>
                          <a:latin typeface="Franklin Gothic Book"/>
                        </a:rPr>
                        <a:t>Sigma: 24 plantas en México (11 de carnes frías), flota propia</a:t>
                      </a:r>
                    </a:p>
                  </a:txBody>
                  <a:tcPr marL="73152" marR="73152" marT="36576" marB="36576" anchor="ctr">
                    <a:solidFill>
                      <a:schemeClr val="bg2">
                        <a:lumMod val="20000"/>
                        <a:lumOff val="80000"/>
                      </a:schemeClr>
                    </a:solidFill>
                  </a:tcPr>
                </a:tc>
                <a:tc>
                  <a:txBody>
                    <a:bodyPr wrap="square"/>
                    <a:lstStyle/>
                    <a:p>
                      <a:r>
                        <a:rPr sz="1200" lang="es-MX">
                          <a:solidFill>
                            <a:schemeClr val="tx1"/>
                          </a:solidFill>
                          <a:latin typeface="Franklin Gothic Book"/>
                        </a:rPr>
                        <a:t>Reporte Anual SIGMA 2024</a:t>
                      </a:r>
                    </a:p>
                  </a:txBody>
                  <a:tcPr marL="73152" marR="73152" marT="36576" marB="36576" anchor="ctr">
                    <a:solidFill>
                      <a:schemeClr val="bg2">
                        <a:lumMod val="20000"/>
                        <a:lumOff val="80000"/>
                      </a:schemeClr>
                    </a:solidFill>
                  </a:tcPr>
                </a:tc>
                <a:tc>
                  <a:txBody>
                    <a:bodyPr wrap="square"/>
                    <a:lstStyle/>
                    <a:p>
                      <a:r>
                        <a:rPr sz="1200" lang="es-MX">
                          <a:solidFill>
                            <a:schemeClr val="tx1"/>
                          </a:solidFill>
                          <a:latin typeface="Franklin Gothic Book"/>
                        </a:rPr>
                        <a:t>ND (ejercicio al 31-dic-2024)</a:t>
                      </a:r>
                    </a:p>
                  </a:txBody>
                  <a:tcPr marL="73152" marR="73152" marT="36576" marB="36576" anchor="ctr">
                    <a:solidFill>
                      <a:schemeClr val="bg2">
                        <a:lumMod val="20000"/>
                        <a:lumOff val="80000"/>
                      </a:schemeClr>
                    </a:solidFill>
                  </a:tcPr>
                </a:tc>
                <a:tc>
                  <a:txBody>
                    <a:bodyPr wrap="square"/>
                    <a:lstStyle/>
                    <a:p>
                      <a:r>
                        <a:rPr sz="1200" lang="es-MX">
                          <a:solidFill>
                            <a:schemeClr val="tx1"/>
                          </a:solidFill>
                          <a:latin typeface="Franklin Gothic Book"/>
                        </a:rPr>
                        <a:t>sigma-alimentos.com/wp-content/uploads/2025/05/Reporte-Anual-SIGMA-2024.pdf</a:t>
                      </a:r>
                    </a:p>
                  </a:txBody>
                  <a:tcPr marL="73152" marR="73152" marT="36576" marB="36576" anchor="ctr">
                    <a:solidFill>
                      <a:schemeClr val="bg2">
                        <a:lumMod val="20000"/>
                        <a:lumOff val="80000"/>
                      </a:schemeClr>
                    </a:solidFill>
                  </a:tcPr>
                </a:tc>
              </a:tr>
              <a:tr h="274320">
                <a:tc>
                  <a:txBody>
                    <a:bodyPr wrap="square"/>
                    <a:lstStyle/>
                    <a:p>
                      <a:r>
                        <a:rPr sz="1200" lang="es-MX">
                          <a:solidFill>
                            <a:schemeClr val="tx1"/>
                          </a:solidFill>
                          <a:latin typeface="Franklin Gothic Book"/>
                        </a:rPr>
                        <a:t>Sigma: 65 plantas globales (no solo México)</a:t>
                      </a:r>
                    </a:p>
                  </a:txBody>
                  <a:tcPr marL="73152" marR="73152" marT="36576" marB="36576" anchor="ctr">
                    <a:solidFill>
                      <a:schemeClr val="bg1"/>
                    </a:solidFill>
                  </a:tcPr>
                </a:tc>
                <a:tc>
                  <a:txBody>
                    <a:bodyPr wrap="square"/>
                    <a:lstStyle/>
                    <a:p>
                      <a:r>
                        <a:rPr sz="1200" lang="es-MX">
                          <a:solidFill>
                            <a:schemeClr val="tx1"/>
                          </a:solidFill>
                          <a:latin typeface="Franklin Gothic Book"/>
                        </a:rPr>
                        <a:t>Sigma Foods, resultados 4T25</a:t>
                      </a:r>
                    </a:p>
                  </a:txBody>
                  <a:tcPr marL="73152" marR="73152" marT="36576" marB="36576" anchor="ctr">
                    <a:solidFill>
                      <a:schemeClr val="bg1"/>
                    </a:solidFill>
                  </a:tcPr>
                </a:tc>
                <a:tc>
                  <a:txBody>
                    <a:bodyPr wrap="square"/>
                    <a:lstStyle/>
                    <a:p>
                      <a:r>
                        <a:rPr sz="1200" lang="es-MX">
                          <a:solidFill>
                            <a:schemeClr val="tx1"/>
                          </a:solidFill>
                          <a:latin typeface="Franklin Gothic Book"/>
                        </a:rPr>
                        <a:t>11-feb-2026</a:t>
                      </a:r>
                    </a:p>
                  </a:txBody>
                  <a:tcPr marL="73152" marR="73152" marT="36576" marB="36576" anchor="ctr">
                    <a:solidFill>
                      <a:schemeClr val="bg1"/>
                    </a:solidFill>
                  </a:tcPr>
                </a:tc>
                <a:tc>
                  <a:txBody>
                    <a:bodyPr wrap="square"/>
                    <a:lstStyle/>
                    <a:p>
                      <a:r>
                        <a:rPr sz="1200" lang="es-MX">
                          <a:solidFill>
                            <a:schemeClr val="tx1"/>
                          </a:solidFill>
                          <a:latin typeface="Franklin Gothic Book"/>
                        </a:rPr>
                        <a:t>sigmafoods.com/wp-content/uploads/2026/02/SigmaFoods4T25Resultados.pdf</a:t>
                      </a:r>
                    </a:p>
                  </a:txBody>
                  <a:tcPr marL="73152" marR="73152" marT="36576" marB="36576" anchor="ctr">
                    <a:solidFill>
                      <a:schemeClr val="bg1"/>
                    </a:solidFill>
                  </a:tcPr>
                </a:tc>
              </a:tr>
              <a:tr h="274320">
                <a:tc>
                  <a:txBody>
                    <a:bodyPr wrap="square"/>
                    <a:lstStyle/>
                    <a:p>
                      <a:r>
                        <a:rPr sz="1200" lang="es-MX">
                          <a:solidFill>
                            <a:schemeClr val="tx1"/>
                          </a:solidFill>
                          <a:latin typeface="Franklin Gothic Book"/>
                        </a:rPr>
                        <a:t>SuKarne: TIF 645 (Lucero), 111 (Vizur) y 105 (S.K.) atribuidos al grupo</a:t>
                      </a:r>
                    </a:p>
                  </a:txBody>
                  <a:tcPr marL="73152" marR="73152" marT="36576" marB="36576" anchor="ctr">
                    <a:solidFill>
                      <a:schemeClr val="bg2">
                        <a:lumMod val="20000"/>
                        <a:lumOff val="80000"/>
                      </a:schemeClr>
                    </a:solidFill>
                  </a:tcPr>
                </a:tc>
                <a:tc>
                  <a:txBody>
                    <a:bodyPr wrap="square"/>
                    <a:lstStyle/>
                    <a:p>
                      <a:r>
                        <a:rPr sz="1200" lang="es-MX">
                          <a:solidFill>
                            <a:schemeClr val="tx1"/>
                          </a:solidFill>
                          <a:latin typeface="Franklin Gothic Book"/>
                        </a:rPr>
                        <a:t>sukarne.com, consultada el 11-sep-2026</a:t>
                      </a:r>
                    </a:p>
                  </a:txBody>
                  <a:tcPr marL="73152" marR="73152" marT="36576" marB="36576" anchor="ctr">
                    <a:solidFill>
                      <a:schemeClr val="bg2">
                        <a:lumMod val="20000"/>
                        <a:lumOff val="80000"/>
                      </a:schemeClr>
                    </a:solidFill>
                  </a:tcPr>
                </a:tc>
                <a:tc>
                  <a:txBody>
                    <a:bodyPr wrap="square"/>
                    <a:lstStyle/>
                    <a:p>
                      <a:r>
                        <a:rPr sz="1200" lang="es-MX">
                          <a:solidFill>
                            <a:schemeClr val="tx1"/>
                          </a:solidFill>
                          <a:latin typeface="Franklin Gothic Book"/>
                        </a:rPr>
                        <a:t>ND</a:t>
                      </a:r>
                    </a:p>
                  </a:txBody>
                  <a:tcPr marL="73152" marR="73152" marT="36576" marB="36576" anchor="ctr">
                    <a:solidFill>
                      <a:schemeClr val="bg2">
                        <a:lumMod val="20000"/>
                        <a:lumOff val="80000"/>
                      </a:schemeClr>
                    </a:solidFill>
                  </a:tcPr>
                </a:tc>
                <a:tc>
                  <a:txBody>
                    <a:bodyPr wrap="square"/>
                    <a:lstStyle/>
                    <a:p>
                      <a:r>
                        <a:rPr sz="1200" lang="es-MX">
                          <a:solidFill>
                            <a:schemeClr val="tx1"/>
                          </a:solidFill>
                          <a:latin typeface="Franklin Gothic Book"/>
                        </a:rPr>
                        <a:t>sukarne.com/plantas/</a:t>
                      </a:r>
                    </a:p>
                  </a:txBody>
                  <a:tcPr marL="73152" marR="73152" marT="36576" marB="36576" anchor="ctr">
                    <a:solidFill>
                      <a:schemeClr val="bg2">
                        <a:lumMod val="20000"/>
                        <a:lumOff val="80000"/>
                      </a:schemeClr>
                    </a:solidFill>
                  </a:tcPr>
                </a:tc>
              </a:tr>
              <a:tr h="274320">
                <a:tc>
                  <a:txBody>
                    <a:bodyPr wrap="square"/>
                    <a:lstStyle/>
                    <a:p>
                      <a:r>
                        <a:rPr sz="1200" lang="es-MX">
                          <a:solidFill>
                            <a:schemeClr val="tx1"/>
                          </a:solidFill>
                          <a:latin typeface="Franklin Gothic Book"/>
                        </a:rPr>
                        <a:t>SuKarne TIF 718: 120 t/semana, meta de 840 (no confirmada)</a:t>
                      </a:r>
                    </a:p>
                  </a:txBody>
                  <a:tcPr marL="73152" marR="73152" marT="36576" marB="36576" anchor="ctr">
                    <a:solidFill>
                      <a:schemeClr val="bg1"/>
                    </a:solidFill>
                  </a:tcPr>
                </a:tc>
                <a:tc>
                  <a:txBody>
                    <a:bodyPr wrap="square"/>
                    <a:lstStyle/>
                    <a:p>
                      <a:r>
                        <a:rPr sz="1200" lang="es-MX">
                          <a:solidFill>
                            <a:schemeClr val="tx1"/>
                          </a:solidFill>
                          <a:latin typeface="Franklin Gothic Book"/>
                        </a:rPr>
                        <a:t>Expansión</a:t>
                      </a:r>
                    </a:p>
                  </a:txBody>
                  <a:tcPr marL="73152" marR="73152" marT="36576" marB="36576" anchor="ctr">
                    <a:solidFill>
                      <a:schemeClr val="bg1"/>
                    </a:solidFill>
                  </a:tcPr>
                </a:tc>
                <a:tc>
                  <a:txBody>
                    <a:bodyPr wrap="square"/>
                    <a:lstStyle/>
                    <a:p>
                      <a:r>
                        <a:rPr sz="1200" lang="es-MX">
                          <a:solidFill>
                            <a:schemeClr val="tx1"/>
                          </a:solidFill>
                          <a:latin typeface="Franklin Gothic Book"/>
                        </a:rPr>
                        <a:t>12-abr-2023</a:t>
                      </a:r>
                    </a:p>
                  </a:txBody>
                  <a:tcPr marL="73152" marR="73152" marT="36576" marB="36576" anchor="ctr">
                    <a:solidFill>
                      <a:schemeClr val="bg1"/>
                    </a:solidFill>
                  </a:tcPr>
                </a:tc>
                <a:tc>
                  <a:txBody>
                    <a:bodyPr wrap="square"/>
                    <a:lstStyle/>
                    <a:p>
                      <a:r>
                        <a:rPr sz="1200" lang="es-MX">
                          <a:solidFill>
                            <a:schemeClr val="tx1"/>
                          </a:solidFill>
                          <a:latin typeface="Franklin Gothic Book"/>
                        </a:rPr>
                        <a:t>expansion.mx/empresas/2023/04/12/sukarne-adquiere-planta-procesadora-tlaxcala</a:t>
                      </a:r>
                    </a:p>
                  </a:txBody>
                  <a:tcPr marL="73152" marR="73152" marT="36576" marB="36576" anchor="ctr">
                    <a:solidFill>
                      <a:schemeClr val="bg1"/>
                    </a:solidFill>
                  </a:tcPr>
                </a:tc>
              </a:tr>
              <a:tr h="274320">
                <a:tc>
                  <a:txBody>
                    <a:bodyPr wrap="square"/>
                    <a:lstStyle/>
                    <a:p>
                      <a:r>
                        <a:rPr sz="1200" lang="es-MX">
                          <a:solidFill>
                            <a:schemeClr val="tx1"/>
                          </a:solidFill>
                          <a:latin typeface="Franklin Gothic Book"/>
                        </a:rPr>
                        <a:t>Pilgrim's Tepeji; Toluca</a:t>
                      </a:r>
                    </a:p>
                  </a:txBody>
                  <a:tcPr marL="73152" marR="73152" marT="36576" marB="36576" anchor="ctr">
                    <a:solidFill>
                      <a:schemeClr val="bg2">
                        <a:lumMod val="20000"/>
                        <a:lumOff val="80000"/>
                      </a:schemeClr>
                    </a:solidFill>
                  </a:tcPr>
                </a:tc>
                <a:tc>
                  <a:txBody>
                    <a:bodyPr wrap="square"/>
                    <a:lstStyle/>
                    <a:p>
                      <a:r>
                        <a:rPr sz="1200" lang="es-MX">
                          <a:solidFill>
                            <a:schemeClr val="tx1"/>
                          </a:solidFill>
                          <a:latin typeface="Franklin Gothic Book"/>
                        </a:rPr>
                        <a:t>az-mexico.com; abctelefonos.com (directorios comerciales, consultados el 11-sep-2026)</a:t>
                      </a:r>
                    </a:p>
                  </a:txBody>
                  <a:tcPr marL="73152" marR="73152" marT="36576" marB="36576" anchor="ctr">
                    <a:solidFill>
                      <a:schemeClr val="bg2">
                        <a:lumMod val="20000"/>
                        <a:lumOff val="80000"/>
                      </a:schemeClr>
                    </a:solidFill>
                  </a:tcPr>
                </a:tc>
                <a:tc>
                  <a:txBody>
                    <a:bodyPr wrap="square"/>
                    <a:lstStyle/>
                    <a:p>
                      <a:r>
                        <a:rPr sz="1200" lang="es-MX">
                          <a:solidFill>
                            <a:schemeClr val="tx1"/>
                          </a:solidFill>
                          <a:latin typeface="Franklin Gothic Book"/>
                        </a:rPr>
                        <a:t>ND</a:t>
                      </a:r>
                    </a:p>
                  </a:txBody>
                  <a:tcPr marL="73152" marR="73152" marT="36576" marB="36576" anchor="ctr">
                    <a:solidFill>
                      <a:schemeClr val="bg2">
                        <a:lumMod val="20000"/>
                        <a:lumOff val="80000"/>
                      </a:schemeClr>
                    </a:solidFill>
                  </a:tcPr>
                </a:tc>
                <a:tc>
                  <a:txBody>
                    <a:bodyPr wrap="square"/>
                    <a:lstStyle/>
                    <a:p>
                      <a:r>
                        <a:rPr sz="1200" lang="es-MX">
                          <a:solidFill>
                            <a:schemeClr val="tx1"/>
                          </a:solidFill>
                          <a:latin typeface="Franklin Gothic Book"/>
                        </a:rPr>
                        <a:t>az-mexico.com/empresas/pilgrims_pride_tepeji_del_rio_de_ocampo_hgo_carretera_antga_mex_queretaro_sn_72_5 · abctelefonos.com/persona_mexico/pilgrim/pag_22</a:t>
                      </a:r>
                    </a:p>
                  </a:txBody>
                  <a:tcPr marL="73152" marR="73152" marT="36576" marB="36576" anchor="ctr">
                    <a:solidFill>
                      <a:schemeClr val="bg2">
                        <a:lumMod val="20000"/>
                        <a:lumOff val="80000"/>
                      </a:schemeClr>
                    </a:solidFill>
                  </a:tcPr>
                </a:tc>
              </a:tr>
              <a:tr h="274320">
                <a:tc>
                  <a:txBody>
                    <a:bodyPr wrap="square"/>
                    <a:lstStyle/>
                    <a:p>
                      <a:r>
                        <a:rPr sz="1200" lang="es-MX">
                          <a:solidFill>
                            <a:schemeClr val="tx1"/>
                          </a:solidFill>
                          <a:latin typeface="Franklin Gothic Book"/>
                        </a:rPr>
                        <a:t>Bachoco Lagos de Moreno; Bafar Lerma</a:t>
                      </a:r>
                    </a:p>
                  </a:txBody>
                  <a:tcPr marL="73152" marR="73152" marT="36576" marB="36576" anchor="ctr">
                    <a:solidFill>
                      <a:schemeClr val="bg1"/>
                    </a:solidFill>
                  </a:tcPr>
                </a:tc>
                <a:tc>
                  <a:txBody>
                    <a:bodyPr wrap="square"/>
                    <a:lstStyle/>
                    <a:p>
                      <a:r>
                        <a:rPr sz="1200" lang="es-MX">
                          <a:solidFill>
                            <a:schemeClr val="tx1"/>
                          </a:solidFill>
                          <a:latin typeface="Franklin Gothic Book"/>
                        </a:rPr>
                        <a:t>desarrolloeconomicolagos.com; manufactura-latam.com (consultados el 11-sep-2026)</a:t>
                      </a:r>
                    </a:p>
                  </a:txBody>
                  <a:tcPr marL="73152" marR="73152" marT="36576" marB="36576" anchor="ctr">
                    <a:solidFill>
                      <a:schemeClr val="bg1"/>
                    </a:solidFill>
                  </a:tcPr>
                </a:tc>
                <a:tc>
                  <a:txBody>
                    <a:bodyPr wrap="square"/>
                    <a:lstStyle/>
                    <a:p>
                      <a:r>
                        <a:rPr sz="1200" lang="es-MX">
                          <a:solidFill>
                            <a:schemeClr val="tx1"/>
                          </a:solidFill>
                          <a:latin typeface="Franklin Gothic Book"/>
                        </a:rPr>
                        <a:t>ND</a:t>
                      </a:r>
                    </a:p>
                  </a:txBody>
                  <a:tcPr marL="73152" marR="73152" marT="36576" marB="36576" anchor="ctr">
                    <a:solidFill>
                      <a:schemeClr val="bg1"/>
                    </a:solidFill>
                  </a:tcPr>
                </a:tc>
                <a:tc>
                  <a:txBody>
                    <a:bodyPr wrap="square"/>
                    <a:lstStyle/>
                    <a:p>
                      <a:r>
                        <a:rPr sz="1200" lang="es-MX">
                          <a:solidFill>
                            <a:schemeClr val="tx1"/>
                          </a:solidFill>
                          <a:latin typeface="Franklin Gothic Book"/>
                        </a:rPr>
                        <a:t>desarrolloeconomicolagos.com/listing/bachoco/ · manufactura-latam.com/mexico/lerma-de-villada/fabricantes/grupo-bafar</a:t>
                      </a:r>
                    </a:p>
                  </a:txBody>
                  <a:tcPr marL="73152" marR="73152" marT="36576" marB="36576" anchor="ctr">
                    <a:solidFill>
                      <a:schemeClr val="bg1"/>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Apéndice 3: oportunidades citadas</a:t>
            </a:r>
          </a:p>
        </p:txBody>
      </p:sp>
      <p:sp>
        <p:nvSpPr>
          <p:cNvPr id="3" name="Slide Number Placeholder"/>
          <p:cNvSpPr>
            <a:spLocks noGrp="1"/>
          </p:cNvSpPr>
          <p:nvPr>
            <p:ph type="sldNum" sz="quarter" idx="12"/>
          </p:nvPr>
        </p:nvSpPr>
        <p:spPr/>
        <p:txBody>
          <a:bodyPr/>
          <a:lstStyle/>
          <a:p>
            <a:fld id="{A0BE9D2B-0ED2-4BCC-B2A9-58657EACF6C0}" type="slidenum">
              <a:rPr lang="es-MX"/>
              <a:pPr/>
              <a:t>‹#›</a:t>
            </a:fld>
            <a:endParaRPr lang="es-MX"/>
          </a:p>
        </p:txBody>
      </p:sp>
      <p:sp>
        <p:nvSpPr>
          <p:cNvPr id="4" name="Footer Placeholder 4"/>
          <p:cNvSpPr>
            <a:spLocks noGrp="1"/>
          </p:cNvSpPr>
          <p:nvPr>
            <p:ph type="ftr" sz="quarter" idx="3"/>
          </p:nvPr>
        </p:nvSpPr>
        <p:spPr/>
        <p:txBody>
          <a:bodyPr/>
          <a:lstStyle>
            <a:lvl1pPr algn="l">
              <a:defRPr sz="900">
                <a:solidFill>
                  <a:srgbClr val="797979"/>
                </a:solidFill>
                <a:latin typeface="Franklin Gothic Book" charset="0"/>
                <a:ea typeface="Franklin Gothic Book" charset="0"/>
                <a:cs typeface="Franklin Gothic Book" charset="0"/>
              </a:defRPr>
            </a:lvl1pPr>
          </a:lstStyle>
          <a:p>
            <a:r>
              <a:rPr lang="en-US" dirty="0"/>
              <a:t>Confidential Information. Use and disclosure limited for Gates business purposes only. ©2018 Gates Inc. All rights reserved. </a:t>
            </a:r>
          </a:p>
        </p:txBody>
      </p:sp>
      <p:graphicFrame>
        <p:nvGraphicFramePr>
          <p:cNvPr id="5" name="Table 4"/>
          <p:cNvGraphicFramePr>
            <a:graphicFrameLocks noGrp="1"/>
          </p:cNvGraphicFramePr>
          <p:nvPr/>
        </p:nvGraphicFramePr>
        <p:xfrm>
          <a:off x="704088" y="1737360"/>
          <a:ext cx="14987013" cy="2194560"/>
        </p:xfrm>
        <a:graphic>
          <a:graphicData uri="http://schemas.openxmlformats.org/drawingml/2006/table">
            <a:tbl>
              <a:tblPr firstRow="1">
                <a:tableStyleId>{5C22544A-7EE6-4342-B048-85BDC9FD1C3A}</a:tableStyleId>
              </a:tblPr>
              <a:tblGrid>
                <a:gridCol w="5665823"/>
                <a:gridCol w="1370763"/>
                <a:gridCol w="1644916"/>
                <a:gridCol w="2193221"/>
                <a:gridCol w="4112290"/>
              </a:tblGrid>
              <a:tr h="274320">
                <a:tc>
                  <a:txBody>
                    <a:bodyPr wrap="square"/>
                    <a:lstStyle/>
                    <a:p>
                      <a:r>
                        <a:rPr sz="1500" lang="es-MX">
                          <a:solidFill>
                            <a:schemeClr val="bg1"/>
                          </a:solidFill>
                          <a:latin typeface="Franklin Gothic Book"/>
                        </a:rPr>
                        <a:t>Nomenclatura completa</a:t>
                      </a:r>
                    </a:p>
                  </a:txBody>
                  <a:tcPr marL="73152" marR="73152" marT="36576" marB="36576" anchor="ctr">
                    <a:solidFill>
                      <a:schemeClr val="accent1"/>
                    </a:solidFill>
                  </a:tcPr>
                </a:tc>
                <a:tc>
                  <a:txBody>
                    <a:bodyPr wrap="square"/>
                    <a:lstStyle/>
                    <a:p>
                      <a:r>
                        <a:rPr sz="1500" lang="es-MX">
                          <a:solidFill>
                            <a:schemeClr val="bg1"/>
                          </a:solidFill>
                          <a:latin typeface="Franklin Gothic Book"/>
                        </a:rPr>
                        <a:t>N.º</a:t>
                      </a:r>
                    </a:p>
                  </a:txBody>
                  <a:tcPr marL="73152" marR="73152" marT="36576" marB="36576" anchor="ctr">
                    <a:solidFill>
                      <a:schemeClr val="accent1"/>
                    </a:solidFill>
                  </a:tcPr>
                </a:tc>
                <a:tc>
                  <a:txBody>
                    <a:bodyPr wrap="square"/>
                    <a:lstStyle/>
                    <a:p>
                      <a:r>
                        <a:rPr sz="1500" lang="es-MX">
                          <a:solidFill>
                            <a:schemeClr val="bg1"/>
                          </a:solidFill>
                          <a:latin typeface="Franklin Gothic Book"/>
                        </a:rPr>
                        <a:t>Estado y año</a:t>
                      </a:r>
                    </a:p>
                  </a:txBody>
                  <a:tcPr marL="73152" marR="73152" marT="36576" marB="36576" anchor="ctr">
                    <a:solidFill>
                      <a:schemeClr val="accent1"/>
                    </a:solidFill>
                  </a:tcPr>
                </a:tc>
                <a:tc>
                  <a:txBody>
                    <a:bodyPr wrap="square"/>
                    <a:lstStyle/>
                    <a:p>
                      <a:r>
                        <a:rPr sz="1500" lang="es-MX">
                          <a:solidFill>
                            <a:schemeClr val="bg1"/>
                          </a:solidFill>
                          <a:latin typeface="Franklin Gothic Book"/>
                        </a:rPr>
                        <a:t>MXN (potencial anual registrado)</a:t>
                      </a:r>
                    </a:p>
                  </a:txBody>
                  <a:tcPr marL="73152" marR="73152" marT="36576" marB="36576" anchor="ctr">
                    <a:solidFill>
                      <a:schemeClr val="accent1"/>
                    </a:solidFill>
                  </a:tcPr>
                </a:tc>
                <a:tc>
                  <a:txBody>
                    <a:bodyPr wrap="square"/>
                    <a:lstStyle/>
                    <a:p>
                      <a:r>
                        <a:rPr sz="1500" lang="es-MX">
                          <a:solidFill>
                            <a:schemeClr val="bg1"/>
                          </a:solidFill>
                          <a:latin typeface="Franklin Gothic Book"/>
                        </a:rPr>
                        <a:t>Canal (campo Proveedor CRM)</a:t>
                      </a:r>
                    </a:p>
                  </a:txBody>
                  <a:tcPr marL="73152" marR="73152" marT="36576" marB="36576" anchor="ctr">
                    <a:solidFill>
                      <a:schemeClr val="accent1"/>
                    </a:solidFill>
                  </a:tcPr>
                </a:tc>
              </a:tr>
              <a:tr h="274320">
                <a:tc gridSpan="5">
                  <a:txBody>
                    <a:bodyPr wrap="square"/>
                    <a:lstStyle/>
                    <a:p>
                      <a:r>
                        <a:rPr sz="1500" lang="es-MX" b="1">
                          <a:solidFill>
                            <a:schemeClr val="tx1"/>
                          </a:solidFill>
                          <a:latin typeface="Franklin Gothic Book"/>
                        </a:rPr>
                        <a:t>Del CRM de Gates (oportunidades elegibles), verificadas el 14-oct-2026; año = Año cierre</a:t>
                      </a:r>
                    </a:p>
                  </a:txBody>
                  <a:tcPr marL="73152" marR="73152" marT="36576" marB="36576" anchor="ctr">
                    <a:solidFill>
                      <a:schemeClr val="bg2">
                        <a:lumMod val="40000"/>
                        <a:lumOff val="60000"/>
                      </a:schemeClr>
                    </a:solidFill>
                  </a:tcPr>
                </a:tc>
                <a:tc hMerge="1">
                  <a:txBody>
                    <a:bodyPr wrap="square"/>
                    <a:lstStyle/>
                    <a:p>
                      <a:r>
                        <a:rPr sz="1500" lang="es-MX">
                          <a:solidFill>
                            <a:schemeClr val="tx1"/>
                          </a:solidFill>
                          <a:latin typeface="Franklin Gothic Book"/>
                        </a:rPr>
                        <a:t/>
                      </a:r>
                    </a:p>
                  </a:txBody>
                  <a:tcPr marL="73152" marR="73152" marT="36576" marB="36576" anchor="ctr">
                    <a:solidFill>
                      <a:schemeClr val="bg1"/>
                    </a:solidFill>
                  </a:tcPr>
                </a:tc>
                <a:tc hMerge="1">
                  <a:txBody>
                    <a:bodyPr wrap="square"/>
                    <a:lstStyle/>
                    <a:p>
                      <a:r>
                        <a:rPr sz="1500" lang="es-MX">
                          <a:solidFill>
                            <a:schemeClr val="tx1"/>
                          </a:solidFill>
                          <a:latin typeface="Franklin Gothic Book"/>
                        </a:rPr>
                        <a:t/>
                      </a:r>
                    </a:p>
                  </a:txBody>
                  <a:tcPr marL="73152" marR="73152" marT="36576" marB="36576" anchor="ctr">
                    <a:solidFill>
                      <a:schemeClr val="bg1"/>
                    </a:solidFill>
                  </a:tcPr>
                </a:tc>
                <a:tc hMerge="1">
                  <a:txBody>
                    <a:bodyPr wrap="square"/>
                    <a:lstStyle/>
                    <a:p>
                      <a:r>
                        <a:rPr sz="1500" lang="es-MX">
                          <a:solidFill>
                            <a:schemeClr val="tx1"/>
                          </a:solidFill>
                          <a:latin typeface="Franklin Gothic Book"/>
                        </a:rPr>
                        <a:t/>
                      </a:r>
                    </a:p>
                  </a:txBody>
                  <a:tcPr marL="73152" marR="73152" marT="36576" marB="36576" anchor="ctr">
                    <a:solidFill>
                      <a:schemeClr val="bg1"/>
                    </a:solidFill>
                  </a:tcPr>
                </a:tc>
                <a:tc hMerge="1">
                  <a:txBody>
                    <a:bodyPr wrap="square"/>
                    <a:lstStyle/>
                    <a:p>
                      <a:r>
                        <a:rPr sz="1500" lang="es-MX">
                          <a:solidFill>
                            <a:schemeClr val="tx1"/>
                          </a:solidFill>
                          <a:latin typeface="Franklin Gothic Book"/>
                        </a:rPr>
                        <a:t/>
                      </a:r>
                    </a:p>
                  </a:txBody>
                  <a:tcPr marL="73152" marR="73152" marT="36576" marB="36576" anchor="ctr">
                    <a:solidFill>
                      <a:schemeClr val="bg1"/>
                    </a:solidFill>
                  </a:tcPr>
                </a:tc>
              </a:tr>
              <a:tr h="274320">
                <a:tc>
                  <a:txBody>
                    <a:bodyPr wrap="square"/>
                    <a:lstStyle/>
                    <a:p>
                      <a:r>
                        <a:rPr sz="1500" lang="es-MX">
                          <a:solidFill>
                            <a:schemeClr val="tx1"/>
                          </a:solidFill>
                          <a:latin typeface="Franklin Gothic Book"/>
                        </a:rPr>
                        <a:t>7.1 PCC C2B-Bachoco Lagos- Bamac Guadalajara</a:t>
                      </a:r>
                    </a:p>
                  </a:txBody>
                  <a:tcPr marL="73152" marR="73152" marT="36576" marB="36576" anchor="ctr">
                    <a:solidFill>
                      <a:schemeClr val="bg2">
                        <a:lumMod val="20000"/>
                        <a:lumOff val="80000"/>
                      </a:schemeClr>
                    </a:solidFill>
                  </a:tcPr>
                </a:tc>
                <a:tc>
                  <a:txBody>
                    <a:bodyPr wrap="square"/>
                    <a:lstStyle/>
                    <a:p>
                      <a:r>
                        <a:rPr sz="1500" lang="es-MX">
                          <a:solidFill>
                            <a:schemeClr val="tx1"/>
                          </a:solidFill>
                          <a:latin typeface="Franklin Gothic Book"/>
                        </a:rPr>
                        <a:t>O-00218689</a:t>
                      </a:r>
                    </a:p>
                  </a:txBody>
                  <a:tcPr marL="73152" marR="73152" marT="36576" marB="36576" anchor="ctr">
                    <a:solidFill>
                      <a:schemeClr val="bg2">
                        <a:lumMod val="20000"/>
                        <a:lumOff val="80000"/>
                      </a:schemeClr>
                    </a:solidFill>
                  </a:tcPr>
                </a:tc>
                <a:tc>
                  <a:txBody>
                    <a:bodyPr wrap="square"/>
                    <a:lstStyle/>
                    <a:p>
                      <a:r>
                        <a:rPr sz="1500" lang="es-MX">
                          <a:solidFill>
                            <a:schemeClr val="tx1"/>
                          </a:solidFill>
                          <a:latin typeface="Franklin Gothic Book"/>
                        </a:rPr>
                        <a:t>Perdida 2020</a:t>
                      </a:r>
                    </a:p>
                  </a:txBody>
                  <a:tcPr marL="73152" marR="73152" marT="36576" marB="36576" anchor="ctr">
                    <a:solidFill>
                      <a:schemeClr val="bg2">
                        <a:lumMod val="20000"/>
                        <a:lumOff val="80000"/>
                      </a:schemeClr>
                    </a:solidFill>
                  </a:tcPr>
                </a:tc>
                <a:tc>
                  <a:txBody>
                    <a:bodyPr wrap="square"/>
                    <a:lstStyle/>
                    <a:p>
                      <a:r>
                        <a:rPr sz="1500" lang="es-MX">
                          <a:solidFill>
                            <a:schemeClr val="tx1"/>
                          </a:solidFill>
                          <a:latin typeface="Franklin Gothic Book"/>
                        </a:rPr>
                        <a:t>834,766.20</a:t>
                      </a:r>
                    </a:p>
                  </a:txBody>
                  <a:tcPr marL="73152" marR="73152" marT="36576" marB="36576" anchor="ctr">
                    <a:solidFill>
                      <a:schemeClr val="bg2">
                        <a:lumMod val="20000"/>
                        <a:lumOff val="80000"/>
                      </a:schemeClr>
                    </a:solidFill>
                  </a:tcPr>
                </a:tc>
                <a:tc>
                  <a:txBody>
                    <a:bodyPr wrap="square"/>
                    <a:lstStyle/>
                    <a:p>
                      <a:r>
                        <a:rPr sz="1500" lang="es-MX">
                          <a:solidFill>
                            <a:schemeClr val="tx1"/>
                          </a:solidFill>
                          <a:latin typeface="Franklin Gothic Book"/>
                        </a:rPr>
                        <a:t>BANDAS Y MANGUERAS EL CAMINO SA DE - 60311 - GUADALAJARA</a:t>
                      </a:r>
                    </a:p>
                  </a:txBody>
                  <a:tcPr marL="73152" marR="73152" marT="36576" marB="36576" anchor="ctr">
                    <a:solidFill>
                      <a:schemeClr val="bg2">
                        <a:lumMod val="20000"/>
                        <a:lumOff val="80000"/>
                      </a:schemeClr>
                    </a:solidFill>
                  </a:tcPr>
                </a:tc>
              </a:tr>
              <a:tr h="274320">
                <a:tc>
                  <a:txBody>
                    <a:bodyPr wrap="square"/>
                    <a:lstStyle/>
                    <a:p>
                      <a:r>
                        <a:rPr sz="1500" lang="es-MX">
                          <a:solidFill>
                            <a:schemeClr val="tx1"/>
                          </a:solidFill>
                          <a:latin typeface="Franklin Gothic Book"/>
                        </a:rPr>
                        <a:t>7.1 TPU Grupo Bafar Chihuahua - Rorisa Chihuahua PT-PU BELTS-566392</a:t>
                      </a:r>
                    </a:p>
                  </a:txBody>
                  <a:tcPr marL="73152" marR="73152" marT="36576" marB="36576" anchor="ctr">
                    <a:solidFill>
                      <a:schemeClr val="bg1"/>
                    </a:solidFill>
                  </a:tcPr>
                </a:tc>
                <a:tc>
                  <a:txBody>
                    <a:bodyPr wrap="square"/>
                    <a:lstStyle/>
                    <a:p>
                      <a:r>
                        <a:rPr sz="1500" lang="es-MX">
                          <a:solidFill>
                            <a:schemeClr val="tx1"/>
                          </a:solidFill>
                          <a:latin typeface="Franklin Gothic Book"/>
                        </a:rPr>
                        <a:t>566392</a:t>
                      </a:r>
                    </a:p>
                  </a:txBody>
                  <a:tcPr marL="73152" marR="73152" marT="36576" marB="36576" anchor="ctr">
                    <a:solidFill>
                      <a:schemeClr val="bg1"/>
                    </a:solidFill>
                  </a:tcPr>
                </a:tc>
                <a:tc>
                  <a:txBody>
                    <a:bodyPr wrap="square"/>
                    <a:lstStyle/>
                    <a:p>
                      <a:r>
                        <a:rPr sz="1500" lang="es-MX">
                          <a:solidFill>
                            <a:schemeClr val="tx1"/>
                          </a:solidFill>
                          <a:latin typeface="Franklin Gothic Book"/>
                        </a:rPr>
                        <a:t>Perdida 2023</a:t>
                      </a:r>
                    </a:p>
                  </a:txBody>
                  <a:tcPr marL="73152" marR="73152" marT="36576" marB="36576" anchor="ctr">
                    <a:solidFill>
                      <a:schemeClr val="bg1"/>
                    </a:solidFill>
                  </a:tcPr>
                </a:tc>
                <a:tc>
                  <a:txBody>
                    <a:bodyPr wrap="square"/>
                    <a:lstStyle/>
                    <a:p>
                      <a:r>
                        <a:rPr sz="1500" lang="es-MX">
                          <a:solidFill>
                            <a:schemeClr val="tx1"/>
                          </a:solidFill>
                          <a:latin typeface="Franklin Gothic Book"/>
                        </a:rPr>
                        <a:t>591,804.81</a:t>
                      </a:r>
                    </a:p>
                  </a:txBody>
                  <a:tcPr marL="73152" marR="73152" marT="36576" marB="36576" anchor="ctr">
                    <a:solidFill>
                      <a:schemeClr val="bg1"/>
                    </a:solidFill>
                  </a:tcPr>
                </a:tc>
                <a:tc>
                  <a:txBody>
                    <a:bodyPr wrap="square"/>
                    <a:lstStyle/>
                    <a:p>
                      <a:r>
                        <a:rPr sz="1500" lang="es-MX">
                          <a:solidFill>
                            <a:schemeClr val="tx1"/>
                          </a:solidFill>
                          <a:latin typeface="Franklin Gothic Book"/>
                        </a:rPr>
                        <a:t>RODAMIENTOS Y REPRESENTACIONES INDU - 62314 - CHIHUAHUA</a:t>
                      </a:r>
                    </a:p>
                  </a:txBody>
                  <a:tcPr marL="73152" marR="73152" marT="36576" marB="36576" anchor="ctr">
                    <a:solidFill>
                      <a:schemeClr val="bg1"/>
                    </a:solidFill>
                  </a:tcPr>
                </a:tc>
              </a:tr>
              <a:tr h="274320">
                <a:tc>
                  <a:txBody>
                    <a:bodyPr wrap="square"/>
                    <a:lstStyle/>
                    <a:p>
                      <a:r>
                        <a:rPr sz="1500" lang="es-MX">
                          <a:solidFill>
                            <a:schemeClr val="tx1"/>
                          </a:solidFill>
                          <a:latin typeface="Franklin Gothic Book"/>
                        </a:rPr>
                        <a:t>7.1 - TPU + LINATRIL - Grupo Bafar Chihuahua - Interbandas Chihuahua PT-PU BELTS-656090</a:t>
                      </a:r>
                    </a:p>
                  </a:txBody>
                  <a:tcPr marL="73152" marR="73152" marT="36576" marB="36576" anchor="ctr">
                    <a:solidFill>
                      <a:schemeClr val="bg2">
                        <a:lumMod val="20000"/>
                        <a:lumOff val="80000"/>
                      </a:schemeClr>
                    </a:solidFill>
                  </a:tcPr>
                </a:tc>
                <a:tc>
                  <a:txBody>
                    <a:bodyPr wrap="square"/>
                    <a:lstStyle/>
                    <a:p>
                      <a:r>
                        <a:rPr sz="1500" lang="es-MX">
                          <a:solidFill>
                            <a:schemeClr val="tx1"/>
                          </a:solidFill>
                          <a:latin typeface="Franklin Gothic Book"/>
                        </a:rPr>
                        <a:t>656090</a:t>
                      </a:r>
                    </a:p>
                  </a:txBody>
                  <a:tcPr marL="73152" marR="73152" marT="36576" marB="36576" anchor="ctr">
                    <a:solidFill>
                      <a:schemeClr val="bg2">
                        <a:lumMod val="20000"/>
                        <a:lumOff val="80000"/>
                      </a:schemeClr>
                    </a:solidFill>
                  </a:tcPr>
                </a:tc>
                <a:tc>
                  <a:txBody>
                    <a:bodyPr wrap="square"/>
                    <a:lstStyle/>
                    <a:p>
                      <a:r>
                        <a:rPr sz="1500" lang="es-MX">
                          <a:solidFill>
                            <a:schemeClr val="tx1"/>
                          </a:solidFill>
                          <a:latin typeface="Franklin Gothic Book"/>
                        </a:rPr>
                        <a:t>Perdida 2023</a:t>
                      </a:r>
                    </a:p>
                  </a:txBody>
                  <a:tcPr marL="73152" marR="73152" marT="36576" marB="36576" anchor="ctr">
                    <a:solidFill>
                      <a:schemeClr val="bg2">
                        <a:lumMod val="20000"/>
                        <a:lumOff val="80000"/>
                      </a:schemeClr>
                    </a:solidFill>
                  </a:tcPr>
                </a:tc>
                <a:tc>
                  <a:txBody>
                    <a:bodyPr wrap="square"/>
                    <a:lstStyle/>
                    <a:p>
                      <a:r>
                        <a:rPr sz="1500" lang="es-MX">
                          <a:solidFill>
                            <a:schemeClr val="tx1"/>
                          </a:solidFill>
                          <a:latin typeface="Franklin Gothic Book"/>
                        </a:rPr>
                        <a:t>286,935.76</a:t>
                      </a:r>
                    </a:p>
                  </a:txBody>
                  <a:tcPr marL="73152" marR="73152" marT="36576" marB="36576" anchor="ctr">
                    <a:solidFill>
                      <a:schemeClr val="bg2">
                        <a:lumMod val="20000"/>
                        <a:lumOff val="80000"/>
                      </a:schemeClr>
                    </a:solidFill>
                  </a:tcPr>
                </a:tc>
                <a:tc>
                  <a:txBody>
                    <a:bodyPr wrap="square"/>
                    <a:lstStyle/>
                    <a:p>
                      <a:r>
                        <a:rPr sz="1500" lang="es-MX">
                          <a:solidFill>
                            <a:schemeClr val="tx1"/>
                          </a:solidFill>
                          <a:latin typeface="Franklin Gothic Book"/>
                        </a:rPr>
                        <a:t>INTERNACIONAL DE BANDAS Y SERVICIOS - 110109 - CHIHUAHUA</a:t>
                      </a:r>
                    </a:p>
                  </a:txBody>
                  <a:tcPr marL="73152" marR="73152" marT="36576" marB="36576" anchor="ctr">
                    <a:solidFill>
                      <a:schemeClr val="bg2">
                        <a:lumMod val="20000"/>
                        <a:lumOff val="80000"/>
                      </a:schemeClr>
                    </a:solidFill>
                  </a:tcPr>
                </a:tc>
              </a:tr>
              <a:tr h="274320">
                <a:tc gridSpan="5">
                  <a:txBody>
                    <a:bodyPr wrap="square"/>
                    <a:lstStyle/>
                    <a:p>
                      <a:r>
                        <a:rPr sz="1500" lang="es-MX" b="1">
                          <a:solidFill>
                            <a:schemeClr val="tx1"/>
                          </a:solidFill>
                          <a:latin typeface="Franklin Gothic Book"/>
                        </a:rPr>
                        <a:t>Abiertas, posteriores al corte del CRM del 12-ago-2026</a:t>
                      </a:r>
                    </a:p>
                  </a:txBody>
                  <a:tcPr marL="73152" marR="73152" marT="36576" marB="36576" anchor="ctr">
                    <a:solidFill>
                      <a:schemeClr val="bg2">
                        <a:lumMod val="40000"/>
                        <a:lumOff val="60000"/>
                      </a:schemeClr>
                    </a:solidFill>
                  </a:tcPr>
                </a:tc>
                <a:tc hMerge="1">
                  <a:txBody>
                    <a:bodyPr wrap="square"/>
                    <a:lstStyle/>
                    <a:p>
                      <a:r>
                        <a:rPr sz="1500" lang="es-MX">
                          <a:solidFill>
                            <a:schemeClr val="tx1"/>
                          </a:solidFill>
                          <a:latin typeface="Franklin Gothic Book"/>
                        </a:rPr>
                        <a:t/>
                      </a:r>
                    </a:p>
                  </a:txBody>
                  <a:tcPr marL="73152" marR="73152" marT="36576" marB="36576" anchor="ctr">
                    <a:solidFill>
                      <a:schemeClr val="bg1"/>
                    </a:solidFill>
                  </a:tcPr>
                </a:tc>
                <a:tc hMerge="1">
                  <a:txBody>
                    <a:bodyPr wrap="square"/>
                    <a:lstStyle/>
                    <a:p>
                      <a:r>
                        <a:rPr sz="1500" lang="es-MX">
                          <a:solidFill>
                            <a:schemeClr val="tx1"/>
                          </a:solidFill>
                          <a:latin typeface="Franklin Gothic Book"/>
                        </a:rPr>
                        <a:t/>
                      </a:r>
                    </a:p>
                  </a:txBody>
                  <a:tcPr marL="73152" marR="73152" marT="36576" marB="36576" anchor="ctr">
                    <a:solidFill>
                      <a:schemeClr val="bg1"/>
                    </a:solidFill>
                  </a:tcPr>
                </a:tc>
                <a:tc hMerge="1">
                  <a:txBody>
                    <a:bodyPr wrap="square"/>
                    <a:lstStyle/>
                    <a:p>
                      <a:r>
                        <a:rPr sz="1500" lang="es-MX">
                          <a:solidFill>
                            <a:schemeClr val="tx1"/>
                          </a:solidFill>
                          <a:latin typeface="Franklin Gothic Book"/>
                        </a:rPr>
                        <a:t/>
                      </a:r>
                    </a:p>
                  </a:txBody>
                  <a:tcPr marL="73152" marR="73152" marT="36576" marB="36576" anchor="ctr">
                    <a:solidFill>
                      <a:schemeClr val="bg1"/>
                    </a:solidFill>
                  </a:tcPr>
                </a:tc>
                <a:tc hMerge="1">
                  <a:txBody>
                    <a:bodyPr wrap="square"/>
                    <a:lstStyle/>
                    <a:p>
                      <a:r>
                        <a:rPr sz="1500" lang="es-MX">
                          <a:solidFill>
                            <a:schemeClr val="tx1"/>
                          </a:solidFill>
                          <a:latin typeface="Franklin Gothic Book"/>
                        </a:rPr>
                        <a:t/>
                      </a:r>
                    </a:p>
                  </a:txBody>
                  <a:tcPr marL="73152" marR="73152" marT="36576" marB="36576" anchor="ctr">
                    <a:solidFill>
                      <a:schemeClr val="bg1"/>
                    </a:solidFill>
                  </a:tcPr>
                </a:tc>
              </a:tr>
              <a:tr h="274320">
                <a:tc>
                  <a:txBody>
                    <a:bodyPr wrap="square"/>
                    <a:lstStyle/>
                    <a:p>
                      <a:r>
                        <a:rPr sz="1500" lang="es-MX">
                          <a:solidFill>
                            <a:schemeClr val="tx1"/>
                          </a:solidFill>
                          <a:latin typeface="Franklin Gothic Book"/>
                        </a:rPr>
                        <a:t>3.1 MI Grupo bafar, sab de cv - La piedad FP-HYDRAULICS-813492</a:t>
                      </a:r>
                    </a:p>
                  </a:txBody>
                  <a:tcPr marL="73152" marR="73152" marT="36576" marB="36576" anchor="ctr">
                    <a:solidFill>
                      <a:schemeClr val="bg2">
                        <a:lumMod val="20000"/>
                        <a:lumOff val="80000"/>
                      </a:schemeClr>
                    </a:solidFill>
                  </a:tcPr>
                </a:tc>
                <a:tc>
                  <a:txBody>
                    <a:bodyPr wrap="square"/>
                    <a:lstStyle/>
                    <a:p>
                      <a:r>
                        <a:rPr sz="1500" lang="es-MX">
                          <a:solidFill>
                            <a:schemeClr val="tx1"/>
                          </a:solidFill>
                          <a:latin typeface="Franklin Gothic Book"/>
                        </a:rPr>
                        <a:t>813492</a:t>
                      </a:r>
                    </a:p>
                  </a:txBody>
                  <a:tcPr marL="73152" marR="73152" marT="36576" marB="36576" anchor="ctr">
                    <a:solidFill>
                      <a:schemeClr val="bg2">
                        <a:lumMod val="20000"/>
                        <a:lumOff val="80000"/>
                      </a:schemeClr>
                    </a:solidFill>
                  </a:tcPr>
                </a:tc>
                <a:tc>
                  <a:txBody>
                    <a:bodyPr wrap="square"/>
                    <a:lstStyle/>
                    <a:p>
                      <a:r>
                        <a:rPr sz="1500" lang="es-MX">
                          <a:solidFill>
                            <a:schemeClr val="tx1"/>
                          </a:solidFill>
                          <a:latin typeface="Franklin Gothic Book"/>
                        </a:rPr>
                        <a:t>Abierta</a:t>
                      </a:r>
                    </a:p>
                  </a:txBody>
                  <a:tcPr marL="73152" marR="73152" marT="36576" marB="36576" anchor="ctr">
                    <a:solidFill>
                      <a:schemeClr val="bg2">
                        <a:lumMod val="20000"/>
                        <a:lumOff val="80000"/>
                      </a:schemeClr>
                    </a:solidFill>
                  </a:tcPr>
                </a:tc>
                <a:tc>
                  <a:txBody>
                    <a:bodyPr wrap="square"/>
                    <a:lstStyle/>
                    <a:p>
                      <a:r>
                        <a:rPr sz="1500" lang="es-MX">
                          <a:solidFill>
                            <a:schemeClr val="tx1"/>
                          </a:solidFill>
                          <a:latin typeface="Franklin Gothic Book"/>
                        </a:rPr>
                        <a:t>650,220</a:t>
                      </a:r>
                    </a:p>
                  </a:txBody>
                  <a:tcPr marL="73152" marR="73152" marT="36576" marB="36576" anchor="ctr">
                    <a:solidFill>
                      <a:schemeClr val="bg2">
                        <a:lumMod val="20000"/>
                        <a:lumOff val="80000"/>
                      </a:schemeClr>
                    </a:solidFill>
                  </a:tcPr>
                </a:tc>
                <a:tc>
                  <a:txBody>
                    <a:bodyPr wrap="square"/>
                    <a:lstStyle/>
                    <a:p>
                      <a:r>
                        <a:rPr sz="1500" lang="es-MX">
                          <a:solidFill>
                            <a:schemeClr val="tx1"/>
                          </a:solidFill>
                          <a:latin typeface="Franklin Gothic Book"/>
                        </a:rPr>
                        <a:t>No aparece en la nomenclatura</a:t>
                      </a:r>
                    </a:p>
                  </a:txBody>
                  <a:tcPr marL="73152" marR="73152" marT="36576" marB="36576" anchor="ctr">
                    <a:solidFill>
                      <a:schemeClr val="bg2">
                        <a:lumMod val="20000"/>
                        <a:lumOff val="80000"/>
                      </a:schemeClr>
                    </a:solidFill>
                  </a:tcPr>
                </a:tc>
              </a:tr>
              <a:tr h="274320">
                <a:tc>
                  <a:txBody>
                    <a:bodyPr wrap="square"/>
                    <a:lstStyle/>
                    <a:p>
                      <a:r>
                        <a:rPr sz="1500" lang="es-MX">
                          <a:solidFill>
                            <a:schemeClr val="tx1"/>
                          </a:solidFill>
                          <a:latin typeface="Franklin Gothic Book"/>
                        </a:rPr>
                        <a:t>7.1 PTI Grupo bafar, sab de cv - La piedad- Ryasa Morelia PT-IND SYNCH BELTS-814010</a:t>
                      </a:r>
                    </a:p>
                  </a:txBody>
                  <a:tcPr marL="73152" marR="73152" marT="36576" marB="36576" anchor="ctr">
                    <a:solidFill>
                      <a:schemeClr val="bg1"/>
                    </a:solidFill>
                  </a:tcPr>
                </a:tc>
                <a:tc>
                  <a:txBody>
                    <a:bodyPr wrap="square"/>
                    <a:lstStyle/>
                    <a:p>
                      <a:r>
                        <a:rPr sz="1500" lang="es-MX">
                          <a:solidFill>
                            <a:schemeClr val="tx1"/>
                          </a:solidFill>
                          <a:latin typeface="Franklin Gothic Book"/>
                        </a:rPr>
                        <a:t>814010</a:t>
                      </a:r>
                    </a:p>
                  </a:txBody>
                  <a:tcPr marL="73152" marR="73152" marT="36576" marB="36576" anchor="ctr">
                    <a:solidFill>
                      <a:schemeClr val="bg1"/>
                    </a:solidFill>
                  </a:tcPr>
                </a:tc>
                <a:tc>
                  <a:txBody>
                    <a:bodyPr wrap="square"/>
                    <a:lstStyle/>
                    <a:p>
                      <a:r>
                        <a:rPr sz="1500" lang="es-MX">
                          <a:solidFill>
                            <a:schemeClr val="tx1"/>
                          </a:solidFill>
                          <a:latin typeface="Franklin Gothic Book"/>
                        </a:rPr>
                        <a:t>Abierta</a:t>
                      </a:r>
                    </a:p>
                  </a:txBody>
                  <a:tcPr marL="73152" marR="73152" marT="36576" marB="36576" anchor="ctr">
                    <a:solidFill>
                      <a:schemeClr val="bg1"/>
                    </a:solidFill>
                  </a:tcPr>
                </a:tc>
                <a:tc>
                  <a:txBody>
                    <a:bodyPr wrap="square"/>
                    <a:lstStyle/>
                    <a:p>
                      <a:r>
                        <a:rPr sz="1500" lang="es-MX">
                          <a:solidFill>
                            <a:schemeClr val="tx1"/>
                          </a:solidFill>
                          <a:latin typeface="Franklin Gothic Book"/>
                        </a:rPr>
                        <a:t>265,000</a:t>
                      </a:r>
                    </a:p>
                  </a:txBody>
                  <a:tcPr marL="73152" marR="73152" marT="36576" marB="36576" anchor="ctr">
                    <a:solidFill>
                      <a:schemeClr val="bg1"/>
                    </a:solidFill>
                  </a:tcPr>
                </a:tc>
                <a:tc>
                  <a:txBody>
                    <a:bodyPr wrap="square"/>
                    <a:lstStyle/>
                    <a:p>
                      <a:r>
                        <a:rPr sz="1500" lang="es-MX">
                          <a:solidFill>
                            <a:schemeClr val="tx1"/>
                          </a:solidFill>
                          <a:latin typeface="Franklin Gothic Book"/>
                        </a:rPr>
                        <a:t>Ryasa Morelia (nomenclatura)</a:t>
                      </a:r>
                    </a:p>
                  </a:txBody>
                  <a:tcPr marL="73152" marR="73152" marT="36576" marB="36576" anchor="ctr">
                    <a:solidFill>
                      <a:schemeClr val="bg1"/>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Apéndice 4: oportunidades de Sigma</a:t>
            </a:r>
          </a:p>
        </p:txBody>
      </p:sp>
      <p:sp>
        <p:nvSpPr>
          <p:cNvPr id="3" name="Slide Number Placeholder"/>
          <p:cNvSpPr>
            <a:spLocks noGrp="1"/>
          </p:cNvSpPr>
          <p:nvPr>
            <p:ph type="sldNum" sz="quarter" idx="12"/>
          </p:nvPr>
        </p:nvSpPr>
        <p:spPr/>
        <p:txBody>
          <a:bodyPr/>
          <a:lstStyle/>
          <a:p>
            <a:fld id="{A0BE9D2B-0ED2-4BCC-B2A9-58657EACF6C0}" type="slidenum">
              <a:rPr lang="es-MX"/>
              <a:pPr/>
              <a:t>‹#›</a:t>
            </a:fld>
            <a:endParaRPr lang="es-MX"/>
          </a:p>
        </p:txBody>
      </p:sp>
      <p:sp>
        <p:nvSpPr>
          <p:cNvPr id="4" name="Footer Placeholder 4"/>
          <p:cNvSpPr>
            <a:spLocks noGrp="1"/>
          </p:cNvSpPr>
          <p:nvPr>
            <p:ph type="ftr" sz="quarter" idx="3"/>
          </p:nvPr>
        </p:nvSpPr>
        <p:spPr/>
        <p:txBody>
          <a:bodyPr/>
          <a:lstStyle>
            <a:lvl1pPr algn="l">
              <a:defRPr sz="900">
                <a:solidFill>
                  <a:srgbClr val="797979"/>
                </a:solidFill>
                <a:latin typeface="Franklin Gothic Book" charset="0"/>
                <a:ea typeface="Franklin Gothic Book" charset="0"/>
                <a:cs typeface="Franklin Gothic Book" charset="0"/>
              </a:defRPr>
            </a:lvl1pPr>
          </a:lstStyle>
          <a:p>
            <a:r>
              <a:rPr lang="en-US" dirty="0"/>
              <a:t>Confidential Information. Use and disclosure limited for Gates business purposes only. ©2018 Gates Inc. All rights reserved. </a:t>
            </a:r>
          </a:p>
        </p:txBody>
      </p:sp>
      <p:graphicFrame>
        <p:nvGraphicFramePr>
          <p:cNvPr id="5" name="Table 4"/>
          <p:cNvGraphicFramePr>
            <a:graphicFrameLocks noGrp="1"/>
          </p:cNvGraphicFramePr>
          <p:nvPr/>
        </p:nvGraphicFramePr>
        <p:xfrm>
          <a:off x="704088" y="1737360"/>
          <a:ext cx="14987012" cy="3566160"/>
        </p:xfrm>
        <a:graphic>
          <a:graphicData uri="http://schemas.openxmlformats.org/drawingml/2006/table">
            <a:tbl>
              <a:tblPr firstRow="1">
                <a:tableStyleId>{5C22544A-7EE6-4342-B048-85BDC9FD1C3A}</a:tableStyleId>
              </a:tblPr>
              <a:tblGrid>
                <a:gridCol w="4840526"/>
                <a:gridCol w="1210131"/>
                <a:gridCol w="2420263"/>
                <a:gridCol w="1303218"/>
                <a:gridCol w="1489392"/>
                <a:gridCol w="3723482"/>
              </a:tblGrid>
              <a:tr h="274320">
                <a:tc>
                  <a:txBody>
                    <a:bodyPr wrap="square"/>
                    <a:lstStyle/>
                    <a:p>
                      <a:r>
                        <a:rPr sz="1200" lang="es-MX">
                          <a:solidFill>
                            <a:schemeClr val="bg1"/>
                          </a:solidFill>
                          <a:latin typeface="Franklin Gothic Book"/>
                        </a:rPr>
                        <a:t>Nomenclatura completa</a:t>
                      </a:r>
                    </a:p>
                  </a:txBody>
                  <a:tcPr marL="73152" marR="73152" marT="36576" marB="36576" anchor="ctr">
                    <a:solidFill>
                      <a:schemeClr val="accent1"/>
                    </a:solidFill>
                  </a:tcPr>
                </a:tc>
                <a:tc>
                  <a:txBody>
                    <a:bodyPr wrap="square"/>
                    <a:lstStyle/>
                    <a:p>
                      <a:r>
                        <a:rPr sz="1200" lang="es-MX">
                          <a:solidFill>
                            <a:schemeClr val="bg1"/>
                          </a:solidFill>
                          <a:latin typeface="Franklin Gothic Book"/>
                        </a:rPr>
                        <a:t>N.º</a:t>
                      </a:r>
                    </a:p>
                  </a:txBody>
                  <a:tcPr marL="73152" marR="73152" marT="36576" marB="36576" anchor="ctr">
                    <a:solidFill>
                      <a:schemeClr val="accent1"/>
                    </a:solidFill>
                  </a:tcPr>
                </a:tc>
                <a:tc>
                  <a:txBody>
                    <a:bodyPr wrap="square"/>
                    <a:lstStyle/>
                    <a:p>
                      <a:r>
                        <a:rPr sz="1200" lang="es-MX">
                          <a:solidFill>
                            <a:schemeClr val="bg1"/>
                          </a:solidFill>
                          <a:latin typeface="Franklin Gothic Book"/>
                        </a:rPr>
                        <a:t>Planta o clave</a:t>
                      </a:r>
                    </a:p>
                  </a:txBody>
                  <a:tcPr marL="73152" marR="73152" marT="36576" marB="36576" anchor="ctr">
                    <a:solidFill>
                      <a:schemeClr val="accent1"/>
                    </a:solidFill>
                  </a:tcPr>
                </a:tc>
                <a:tc>
                  <a:txBody>
                    <a:bodyPr wrap="square"/>
                    <a:lstStyle/>
                    <a:p>
                      <a:r>
                        <a:rPr sz="1200" lang="es-MX">
                          <a:solidFill>
                            <a:schemeClr val="bg1"/>
                          </a:solidFill>
                          <a:latin typeface="Franklin Gothic Book"/>
                        </a:rPr>
                        <a:t>Estado y año</a:t>
                      </a:r>
                    </a:p>
                  </a:txBody>
                  <a:tcPr marL="73152" marR="73152" marT="36576" marB="36576" anchor="ctr">
                    <a:solidFill>
                      <a:schemeClr val="accent1"/>
                    </a:solidFill>
                  </a:tcPr>
                </a:tc>
                <a:tc>
                  <a:txBody>
                    <a:bodyPr wrap="square"/>
                    <a:lstStyle/>
                    <a:p>
                      <a:r>
                        <a:rPr sz="1200" lang="es-MX">
                          <a:solidFill>
                            <a:schemeClr val="bg1"/>
                          </a:solidFill>
                          <a:latin typeface="Franklin Gothic Book"/>
                        </a:rPr>
                        <a:t>MXN (potencial anual registrado)</a:t>
                      </a:r>
                    </a:p>
                  </a:txBody>
                  <a:tcPr marL="73152" marR="73152" marT="36576" marB="36576" anchor="ctr">
                    <a:solidFill>
                      <a:schemeClr val="accent1"/>
                    </a:solidFill>
                  </a:tcPr>
                </a:tc>
                <a:tc>
                  <a:txBody>
                    <a:bodyPr wrap="square"/>
                    <a:lstStyle/>
                    <a:p>
                      <a:r>
                        <a:rPr sz="1200" lang="es-MX">
                          <a:solidFill>
                            <a:schemeClr val="bg1"/>
                          </a:solidFill>
                          <a:latin typeface="Franklin Gothic Book"/>
                        </a:rPr>
                        <a:t>Canal (campo Proveedor CRM)</a:t>
                      </a:r>
                    </a:p>
                  </a:txBody>
                  <a:tcPr marL="73152" marR="73152" marT="36576" marB="36576" anchor="ctr">
                    <a:solidFill>
                      <a:schemeClr val="accent1"/>
                    </a:solidFill>
                  </a:tcPr>
                </a:tc>
              </a:tr>
              <a:tr h="274320">
                <a:tc>
                  <a:txBody>
                    <a:bodyPr wrap="square"/>
                    <a:lstStyle/>
                    <a:p>
                      <a:r>
                        <a:rPr sz="1200" lang="es-MX">
                          <a:solidFill>
                            <a:schemeClr val="tx1"/>
                          </a:solidFill>
                          <a:latin typeface="Franklin Gothic Book"/>
                        </a:rPr>
                        <a:t>2.2 PTI Optibelt Nayar Embutidos Tonala Macomich Gdl</a:t>
                      </a:r>
                    </a:p>
                  </a:txBody>
                  <a:tcPr marL="73152" marR="73152" marT="36576" marB="36576" anchor="ctr">
                    <a:solidFill>
                      <a:schemeClr val="bg1"/>
                    </a:solidFill>
                  </a:tcPr>
                </a:tc>
                <a:tc>
                  <a:txBody>
                    <a:bodyPr wrap="square"/>
                    <a:lstStyle/>
                    <a:p>
                      <a:r>
                        <a:rPr sz="1200" lang="es-MX">
                          <a:solidFill>
                            <a:schemeClr val="tx1"/>
                          </a:solidFill>
                          <a:latin typeface="Franklin Gothic Book"/>
                        </a:rPr>
                        <a:t>O-00241294</a:t>
                      </a:r>
                    </a:p>
                  </a:txBody>
                  <a:tcPr marL="73152" marR="73152" marT="36576" marB="36576" anchor="ctr">
                    <a:solidFill>
                      <a:schemeClr val="bg1"/>
                    </a:solidFill>
                  </a:tcPr>
                </a:tc>
                <a:tc>
                  <a:txBody>
                    <a:bodyPr wrap="square"/>
                    <a:lstStyle/>
                    <a:p>
                      <a:r>
                        <a:rPr sz="1200" lang="es-MX">
                          <a:solidFill>
                            <a:schemeClr val="tx1"/>
                          </a:solidFill>
                          <a:latin typeface="Franklin Gothic Book"/>
                        </a:rPr>
                        <a:t>Tonalá, Jalisco (vinculada a Sigma, por confirmar)</a:t>
                      </a:r>
                    </a:p>
                  </a:txBody>
                  <a:tcPr marL="73152" marR="73152" marT="36576" marB="36576" anchor="ctr">
                    <a:solidFill>
                      <a:schemeClr val="bg1"/>
                    </a:solidFill>
                  </a:tcPr>
                </a:tc>
                <a:tc>
                  <a:txBody>
                    <a:bodyPr wrap="square"/>
                    <a:lstStyle/>
                    <a:p>
                      <a:r>
                        <a:rPr sz="1200" lang="es-MX">
                          <a:solidFill>
                            <a:schemeClr val="tx1"/>
                          </a:solidFill>
                          <a:latin typeface="Franklin Gothic Book"/>
                        </a:rPr>
                        <a:t>Ganada 2020</a:t>
                      </a:r>
                    </a:p>
                  </a:txBody>
                  <a:tcPr marL="73152" marR="73152" marT="36576" marB="36576" anchor="ctr">
                    <a:solidFill>
                      <a:schemeClr val="bg1"/>
                    </a:solidFill>
                  </a:tcPr>
                </a:tc>
                <a:tc>
                  <a:txBody>
                    <a:bodyPr wrap="square"/>
                    <a:lstStyle/>
                    <a:p>
                      <a:r>
                        <a:rPr sz="1200" lang="es-MX">
                          <a:solidFill>
                            <a:schemeClr val="tx1"/>
                          </a:solidFill>
                          <a:latin typeface="Franklin Gothic Book"/>
                        </a:rPr>
                        <a:t>371,007.16</a:t>
                      </a:r>
                    </a:p>
                  </a:txBody>
                  <a:tcPr marL="73152" marR="73152" marT="36576" marB="36576" anchor="ctr">
                    <a:solidFill>
                      <a:schemeClr val="bg1"/>
                    </a:solidFill>
                  </a:tcPr>
                </a:tc>
                <a:tc>
                  <a:txBody>
                    <a:bodyPr wrap="square"/>
                    <a:lstStyle/>
                    <a:p>
                      <a:r>
                        <a:rPr sz="1200" lang="es-MX">
                          <a:solidFill>
                            <a:schemeClr val="tx1"/>
                          </a:solidFill>
                          <a:latin typeface="Franklin Gothic Book"/>
                        </a:rPr>
                        <a:t>MANGUERAS AUTOMOTRICES E INDUSTRIAL - 50901 - GUADALAJARA</a:t>
                      </a:r>
                    </a:p>
                  </a:txBody>
                  <a:tcPr marL="73152" marR="73152" marT="36576" marB="36576" anchor="ctr">
                    <a:solidFill>
                      <a:schemeClr val="bg1"/>
                    </a:solidFill>
                  </a:tcPr>
                </a:tc>
              </a:tr>
              <a:tr h="274320">
                <a:tc>
                  <a:txBody>
                    <a:bodyPr wrap="square"/>
                    <a:lstStyle/>
                    <a:p>
                      <a:r>
                        <a:rPr sz="1200" lang="es-MX">
                          <a:solidFill>
                            <a:schemeClr val="tx1"/>
                          </a:solidFill>
                          <a:latin typeface="Franklin Gothic Book"/>
                        </a:rPr>
                        <a:t>7.1 V-Belts Sigma Alimentos Coatzacoalcos Ryasa Coatzacoalcos</a:t>
                      </a:r>
                    </a:p>
                  </a:txBody>
                  <a:tcPr marL="73152" marR="73152" marT="36576" marB="36576" anchor="ctr">
                    <a:solidFill>
                      <a:schemeClr val="bg2">
                        <a:lumMod val="20000"/>
                        <a:lumOff val="80000"/>
                      </a:schemeClr>
                    </a:solidFill>
                  </a:tcPr>
                </a:tc>
                <a:tc>
                  <a:txBody>
                    <a:bodyPr wrap="square"/>
                    <a:lstStyle/>
                    <a:p>
                      <a:r>
                        <a:rPr sz="1200" lang="es-MX">
                          <a:solidFill>
                            <a:schemeClr val="tx1"/>
                          </a:solidFill>
                          <a:latin typeface="Franklin Gothic Book"/>
                        </a:rPr>
                        <a:t>708835</a:t>
                      </a:r>
                    </a:p>
                  </a:txBody>
                  <a:tcPr marL="73152" marR="73152" marT="36576" marB="36576" anchor="ctr">
                    <a:solidFill>
                      <a:schemeClr val="bg2">
                        <a:lumMod val="20000"/>
                        <a:lumOff val="80000"/>
                      </a:schemeClr>
                    </a:solidFill>
                  </a:tcPr>
                </a:tc>
                <a:tc>
                  <a:txBody>
                    <a:bodyPr wrap="square"/>
                    <a:lstStyle/>
                    <a:p>
                      <a:r>
                        <a:rPr sz="1200" lang="es-MX">
                          <a:solidFill>
                            <a:schemeClr val="tx1"/>
                          </a:solidFill>
                          <a:latin typeface="Franklin Gothic Book"/>
                        </a:rPr>
                        <a:t>Coatzacoalcos, Veracruz</a:t>
                      </a:r>
                    </a:p>
                  </a:txBody>
                  <a:tcPr marL="73152" marR="73152" marT="36576" marB="36576" anchor="ctr">
                    <a:solidFill>
                      <a:schemeClr val="bg2">
                        <a:lumMod val="20000"/>
                        <a:lumOff val="80000"/>
                      </a:schemeClr>
                    </a:solidFill>
                  </a:tcPr>
                </a:tc>
                <a:tc>
                  <a:txBody>
                    <a:bodyPr wrap="square"/>
                    <a:lstStyle/>
                    <a:p>
                      <a:r>
                        <a:rPr sz="1200" lang="es-MX">
                          <a:solidFill>
                            <a:schemeClr val="tx1"/>
                          </a:solidFill>
                          <a:latin typeface="Franklin Gothic Book"/>
                        </a:rPr>
                        <a:t>Ganada 2024</a:t>
                      </a:r>
                    </a:p>
                  </a:txBody>
                  <a:tcPr marL="73152" marR="73152" marT="36576" marB="36576" anchor="ctr">
                    <a:solidFill>
                      <a:schemeClr val="bg2">
                        <a:lumMod val="20000"/>
                        <a:lumOff val="80000"/>
                      </a:schemeClr>
                    </a:solidFill>
                  </a:tcPr>
                </a:tc>
                <a:tc>
                  <a:txBody>
                    <a:bodyPr wrap="square"/>
                    <a:lstStyle/>
                    <a:p>
                      <a:r>
                        <a:rPr sz="1200" lang="es-MX">
                          <a:solidFill>
                            <a:schemeClr val="tx1"/>
                          </a:solidFill>
                          <a:latin typeface="Franklin Gothic Book"/>
                        </a:rPr>
                        <a:t>361,081.80</a:t>
                      </a:r>
                    </a:p>
                  </a:txBody>
                  <a:tcPr marL="73152" marR="73152" marT="36576" marB="36576" anchor="ctr">
                    <a:solidFill>
                      <a:schemeClr val="bg2">
                        <a:lumMod val="20000"/>
                        <a:lumOff val="80000"/>
                      </a:schemeClr>
                    </a:solidFill>
                  </a:tcPr>
                </a:tc>
                <a:tc>
                  <a:txBody>
                    <a:bodyPr wrap="square"/>
                    <a:lstStyle/>
                    <a:p>
                      <a:r>
                        <a:rPr sz="1200" lang="es-MX">
                          <a:solidFill>
                            <a:schemeClr val="tx1"/>
                          </a:solidFill>
                          <a:latin typeface="Franklin Gothic Book"/>
                        </a:rPr>
                        <a:t>RODAMIENTOS Y ACCESORIOS, S.A. DE C -030411-COATZACOALCOS</a:t>
                      </a:r>
                    </a:p>
                  </a:txBody>
                  <a:tcPr marL="73152" marR="73152" marT="36576" marB="36576" anchor="ctr">
                    <a:solidFill>
                      <a:schemeClr val="bg2">
                        <a:lumMod val="20000"/>
                        <a:lumOff val="80000"/>
                      </a:schemeClr>
                    </a:solidFill>
                  </a:tcPr>
                </a:tc>
              </a:tr>
              <a:tr h="274320">
                <a:tc>
                  <a:txBody>
                    <a:bodyPr wrap="square"/>
                    <a:lstStyle/>
                    <a:p>
                      <a:r>
                        <a:rPr sz="1200" lang="es-MX">
                          <a:solidFill>
                            <a:schemeClr val="tx1"/>
                          </a:solidFill>
                          <a:latin typeface="Franklin Gothic Book"/>
                        </a:rPr>
                        <a:t>2.2. MIG Conti SIGMA ALIMENTOS Tula RYSBASA Apaxco</a:t>
                      </a:r>
                    </a:p>
                  </a:txBody>
                  <a:tcPr marL="73152" marR="73152" marT="36576" marB="36576" anchor="ctr">
                    <a:solidFill>
                      <a:schemeClr val="bg1"/>
                    </a:solidFill>
                  </a:tcPr>
                </a:tc>
                <a:tc>
                  <a:txBody>
                    <a:bodyPr wrap="square"/>
                    <a:lstStyle/>
                    <a:p>
                      <a:r>
                        <a:rPr sz="1200" lang="es-MX">
                          <a:solidFill>
                            <a:schemeClr val="tx1"/>
                          </a:solidFill>
                          <a:latin typeface="Franklin Gothic Book"/>
                        </a:rPr>
                        <a:t>O-00231261</a:t>
                      </a:r>
                    </a:p>
                  </a:txBody>
                  <a:tcPr marL="73152" marR="73152" marT="36576" marB="36576" anchor="ctr">
                    <a:solidFill>
                      <a:schemeClr val="bg1"/>
                    </a:solidFill>
                  </a:tcPr>
                </a:tc>
                <a:tc>
                  <a:txBody>
                    <a:bodyPr wrap="square"/>
                    <a:lstStyle/>
                    <a:p>
                      <a:r>
                        <a:rPr sz="1200" lang="es-MX">
                          <a:solidFill>
                            <a:schemeClr val="tx1"/>
                          </a:solidFill>
                          <a:latin typeface="Franklin Gothic Book"/>
                        </a:rPr>
                        <a:t>Xalostoc, Edo. de México</a:t>
                      </a:r>
                    </a:p>
                  </a:txBody>
                  <a:tcPr marL="73152" marR="73152" marT="36576" marB="36576" anchor="ctr">
                    <a:solidFill>
                      <a:schemeClr val="bg1"/>
                    </a:solidFill>
                  </a:tcPr>
                </a:tc>
                <a:tc>
                  <a:txBody>
                    <a:bodyPr wrap="square"/>
                    <a:lstStyle/>
                    <a:p>
                      <a:r>
                        <a:rPr sz="1200" lang="es-MX">
                          <a:solidFill>
                            <a:schemeClr val="tx1"/>
                          </a:solidFill>
                          <a:latin typeface="Franklin Gothic Book"/>
                        </a:rPr>
                        <a:t>Ganada 2020</a:t>
                      </a:r>
                    </a:p>
                  </a:txBody>
                  <a:tcPr marL="73152" marR="73152" marT="36576" marB="36576" anchor="ctr">
                    <a:solidFill>
                      <a:schemeClr val="bg1"/>
                    </a:solidFill>
                  </a:tcPr>
                </a:tc>
                <a:tc>
                  <a:txBody>
                    <a:bodyPr wrap="square"/>
                    <a:lstStyle/>
                    <a:p>
                      <a:r>
                        <a:rPr sz="1200" lang="es-MX">
                          <a:solidFill>
                            <a:schemeClr val="tx1"/>
                          </a:solidFill>
                          <a:latin typeface="Franklin Gothic Book"/>
                        </a:rPr>
                        <a:t>324,631.22</a:t>
                      </a:r>
                    </a:p>
                  </a:txBody>
                  <a:tcPr marL="73152" marR="73152" marT="36576" marB="36576" anchor="ctr">
                    <a:solidFill>
                      <a:schemeClr val="bg1"/>
                    </a:solidFill>
                  </a:tcPr>
                </a:tc>
                <a:tc>
                  <a:txBody>
                    <a:bodyPr wrap="square"/>
                    <a:lstStyle/>
                    <a:p>
                      <a:r>
                        <a:rPr sz="1200" lang="es-MX">
                          <a:solidFill>
                            <a:schemeClr val="tx1"/>
                          </a:solidFill>
                          <a:latin typeface="Franklin Gothic Book"/>
                        </a:rPr>
                        <a:t>REFACCIONES Y SERVICIOS BARRERA, S. - 15288 - APAXCO</a:t>
                      </a:r>
                    </a:p>
                  </a:txBody>
                  <a:tcPr marL="73152" marR="73152" marT="36576" marB="36576" anchor="ctr">
                    <a:solidFill>
                      <a:schemeClr val="bg1"/>
                    </a:solidFill>
                  </a:tcPr>
                </a:tc>
              </a:tr>
              <a:tr h="274320">
                <a:tc>
                  <a:txBody>
                    <a:bodyPr wrap="square"/>
                    <a:lstStyle/>
                    <a:p>
                      <a:r>
                        <a:rPr sz="1200" lang="es-MX">
                          <a:solidFill>
                            <a:schemeClr val="tx1"/>
                          </a:solidFill>
                          <a:latin typeface="Franklin Gothic Book"/>
                        </a:rPr>
                        <a:t>2.2 HD EOM SIGMA ALIMENTOS NAL RYASA Mex - 02/20/20 - 2019-07-25T16:44:00.000Z</a:t>
                      </a:r>
                    </a:p>
                  </a:txBody>
                  <a:tcPr marL="73152" marR="73152" marT="36576" marB="36576" anchor="ctr">
                    <a:solidFill>
                      <a:schemeClr val="bg2">
                        <a:lumMod val="20000"/>
                        <a:lumOff val="80000"/>
                      </a:schemeClr>
                    </a:solidFill>
                  </a:tcPr>
                </a:tc>
                <a:tc>
                  <a:txBody>
                    <a:bodyPr wrap="square"/>
                    <a:lstStyle/>
                    <a:p>
                      <a:r>
                        <a:rPr sz="1200" lang="es-MX">
                          <a:solidFill>
                            <a:schemeClr val="tx1"/>
                          </a:solidFill>
                          <a:latin typeface="Franklin Gothic Book"/>
                        </a:rPr>
                        <a:t>O-00231265</a:t>
                      </a:r>
                    </a:p>
                  </a:txBody>
                  <a:tcPr marL="73152" marR="73152" marT="36576" marB="36576" anchor="ctr">
                    <a:solidFill>
                      <a:schemeClr val="bg2">
                        <a:lumMod val="20000"/>
                        <a:lumOff val="80000"/>
                      </a:schemeClr>
                    </a:solidFill>
                  </a:tcPr>
                </a:tc>
                <a:tc>
                  <a:txBody>
                    <a:bodyPr wrap="square"/>
                    <a:lstStyle/>
                    <a:p>
                      <a:r>
                        <a:rPr sz="1200" lang="es-MX">
                          <a:solidFill>
                            <a:schemeClr val="tx1"/>
                          </a:solidFill>
                          <a:latin typeface="Franklin Gothic Book"/>
                        </a:rPr>
                        <a:t>Xalostoc, Edo. de México</a:t>
                      </a:r>
                    </a:p>
                  </a:txBody>
                  <a:tcPr marL="73152" marR="73152" marT="36576" marB="36576" anchor="ctr">
                    <a:solidFill>
                      <a:schemeClr val="bg2">
                        <a:lumMod val="20000"/>
                        <a:lumOff val="80000"/>
                      </a:schemeClr>
                    </a:solidFill>
                  </a:tcPr>
                </a:tc>
                <a:tc>
                  <a:txBody>
                    <a:bodyPr wrap="square"/>
                    <a:lstStyle/>
                    <a:p>
                      <a:r>
                        <a:rPr sz="1200" lang="es-MX">
                          <a:solidFill>
                            <a:schemeClr val="tx1"/>
                          </a:solidFill>
                          <a:latin typeface="Franklin Gothic Book"/>
                        </a:rPr>
                        <a:t>Perdida 2020</a:t>
                      </a:r>
                    </a:p>
                  </a:txBody>
                  <a:tcPr marL="73152" marR="73152" marT="36576" marB="36576" anchor="ctr">
                    <a:solidFill>
                      <a:schemeClr val="bg2">
                        <a:lumMod val="20000"/>
                        <a:lumOff val="80000"/>
                      </a:schemeClr>
                    </a:solidFill>
                  </a:tcPr>
                </a:tc>
                <a:tc>
                  <a:txBody>
                    <a:bodyPr wrap="square"/>
                    <a:lstStyle/>
                    <a:p>
                      <a:r>
                        <a:rPr sz="1200" lang="es-MX">
                          <a:solidFill>
                            <a:schemeClr val="tx1"/>
                          </a:solidFill>
                          <a:latin typeface="Franklin Gothic Book"/>
                        </a:rPr>
                        <a:t>649,262.62</a:t>
                      </a:r>
                    </a:p>
                  </a:txBody>
                  <a:tcPr marL="73152" marR="73152" marT="36576" marB="36576" anchor="ctr">
                    <a:solidFill>
                      <a:schemeClr val="bg2">
                        <a:lumMod val="20000"/>
                        <a:lumOff val="80000"/>
                      </a:schemeClr>
                    </a:solidFill>
                  </a:tcPr>
                </a:tc>
                <a:tc>
                  <a:txBody>
                    <a:bodyPr wrap="square"/>
                    <a:lstStyle/>
                    <a:p>
                      <a:r>
                        <a:rPr sz="1200" lang="es-MX">
                          <a:solidFill>
                            <a:schemeClr val="tx1"/>
                          </a:solidFill>
                          <a:latin typeface="Franklin Gothic Book"/>
                        </a:rPr>
                        <a:t>RODAMIENTOS Y ACCESORIOS, S.A. DE C - 21015 - MIGUEL HIDALGO</a:t>
                      </a:r>
                    </a:p>
                  </a:txBody>
                  <a:tcPr marL="73152" marR="73152" marT="36576" marB="36576" anchor="ctr">
                    <a:solidFill>
                      <a:schemeClr val="bg2">
                        <a:lumMod val="20000"/>
                        <a:lumOff val="80000"/>
                      </a:schemeClr>
                    </a:solidFill>
                  </a:tcPr>
                </a:tc>
              </a:tr>
              <a:tr h="274320">
                <a:tc>
                  <a:txBody>
                    <a:bodyPr wrap="square"/>
                    <a:lstStyle/>
                    <a:p>
                      <a:r>
                        <a:rPr sz="1200" lang="es-MX">
                          <a:solidFill>
                            <a:schemeClr val="tx1"/>
                          </a:solidFill>
                          <a:latin typeface="Franklin Gothic Book"/>
                        </a:rPr>
                        <a:t>2.2 HD EOM SIGMA ALIMENTOS NAL RYASA Mex</a:t>
                      </a:r>
                    </a:p>
                  </a:txBody>
                  <a:tcPr marL="73152" marR="73152" marT="36576" marB="36576" anchor="ctr">
                    <a:solidFill>
                      <a:schemeClr val="bg1"/>
                    </a:solidFill>
                  </a:tcPr>
                </a:tc>
                <a:tc>
                  <a:txBody>
                    <a:bodyPr wrap="square"/>
                    <a:lstStyle/>
                    <a:p>
                      <a:r>
                        <a:rPr sz="1200" lang="es-MX">
                          <a:solidFill>
                            <a:schemeClr val="tx1"/>
                          </a:solidFill>
                          <a:latin typeface="Franklin Gothic Book"/>
                        </a:rPr>
                        <a:t>O-00244934</a:t>
                      </a:r>
                    </a:p>
                  </a:txBody>
                  <a:tcPr marL="73152" marR="73152" marT="36576" marB="36576" anchor="ctr">
                    <a:solidFill>
                      <a:schemeClr val="bg1"/>
                    </a:solidFill>
                  </a:tcPr>
                </a:tc>
                <a:tc>
                  <a:txBody>
                    <a:bodyPr wrap="square"/>
                    <a:lstStyle/>
                    <a:p>
                      <a:r>
                        <a:rPr sz="1200" lang="es-MX">
                          <a:solidFill>
                            <a:schemeClr val="tx1"/>
                          </a:solidFill>
                          <a:latin typeface="Franklin Gothic Book"/>
                        </a:rPr>
                        <a:t>Xalostoc, Edo. de México</a:t>
                      </a:r>
                    </a:p>
                  </a:txBody>
                  <a:tcPr marL="73152" marR="73152" marT="36576" marB="36576" anchor="ctr">
                    <a:solidFill>
                      <a:schemeClr val="bg1"/>
                    </a:solidFill>
                  </a:tcPr>
                </a:tc>
                <a:tc>
                  <a:txBody>
                    <a:bodyPr wrap="square"/>
                    <a:lstStyle/>
                    <a:p>
                      <a:r>
                        <a:rPr sz="1200" lang="es-MX">
                          <a:solidFill>
                            <a:schemeClr val="tx1"/>
                          </a:solidFill>
                          <a:latin typeface="Franklin Gothic Book"/>
                        </a:rPr>
                        <a:t>Ganada 2020</a:t>
                      </a:r>
                    </a:p>
                  </a:txBody>
                  <a:tcPr marL="73152" marR="73152" marT="36576" marB="36576" anchor="ctr">
                    <a:solidFill>
                      <a:schemeClr val="bg1"/>
                    </a:solidFill>
                  </a:tcPr>
                </a:tc>
                <a:tc>
                  <a:txBody>
                    <a:bodyPr wrap="square"/>
                    <a:lstStyle/>
                    <a:p>
                      <a:r>
                        <a:rPr sz="1200" lang="es-MX">
                          <a:solidFill>
                            <a:schemeClr val="tx1"/>
                          </a:solidFill>
                          <a:latin typeface="Franklin Gothic Book"/>
                        </a:rPr>
                        <a:t>1,391,276.95</a:t>
                      </a:r>
                    </a:p>
                  </a:txBody>
                  <a:tcPr marL="73152" marR="73152" marT="36576" marB="36576" anchor="ctr">
                    <a:solidFill>
                      <a:schemeClr val="bg1"/>
                    </a:solidFill>
                  </a:tcPr>
                </a:tc>
                <a:tc>
                  <a:txBody>
                    <a:bodyPr wrap="square"/>
                    <a:lstStyle/>
                    <a:p>
                      <a:r>
                        <a:rPr sz="1200" lang="es-MX">
                          <a:solidFill>
                            <a:schemeClr val="tx1"/>
                          </a:solidFill>
                          <a:latin typeface="Franklin Gothic Book"/>
                        </a:rPr>
                        <a:t>RODAMIENTOS Y ACCESORIOS, S.A. DE C - 21015 - MIGUEL HIDALGO</a:t>
                      </a:r>
                    </a:p>
                  </a:txBody>
                  <a:tcPr marL="73152" marR="73152" marT="36576" marB="36576" anchor="ctr">
                    <a:solidFill>
                      <a:schemeClr val="bg1"/>
                    </a:solidFill>
                  </a:tcPr>
                </a:tc>
              </a:tr>
              <a:tr h="274320">
                <a:tc>
                  <a:txBody>
                    <a:bodyPr wrap="square"/>
                    <a:lstStyle/>
                    <a:p>
                      <a:r>
                        <a:rPr sz="1200" lang="es-MX">
                          <a:solidFill>
                            <a:schemeClr val="tx1"/>
                          </a:solidFill>
                          <a:latin typeface="Franklin Gothic Book"/>
                        </a:rPr>
                        <a:t>2.2 Optibelt Sigma Alimentos Binasa Puebla</a:t>
                      </a:r>
                    </a:p>
                  </a:txBody>
                  <a:tcPr marL="73152" marR="73152" marT="36576" marB="36576" anchor="ctr">
                    <a:solidFill>
                      <a:schemeClr val="bg2">
                        <a:lumMod val="20000"/>
                        <a:lumOff val="80000"/>
                      </a:schemeClr>
                    </a:solidFill>
                  </a:tcPr>
                </a:tc>
                <a:tc>
                  <a:txBody>
                    <a:bodyPr wrap="square"/>
                    <a:lstStyle/>
                    <a:p>
                      <a:r>
                        <a:rPr sz="1200" lang="es-MX">
                          <a:solidFill>
                            <a:schemeClr val="tx1"/>
                          </a:solidFill>
                          <a:latin typeface="Franklin Gothic Book"/>
                        </a:rPr>
                        <a:t>O-00222731</a:t>
                      </a:r>
                    </a:p>
                  </a:txBody>
                  <a:tcPr marL="73152" marR="73152" marT="36576" marB="36576" anchor="ctr">
                    <a:solidFill>
                      <a:schemeClr val="bg2">
                        <a:lumMod val="20000"/>
                        <a:lumOff val="80000"/>
                      </a:schemeClr>
                    </a:solidFill>
                  </a:tcPr>
                </a:tc>
                <a:tc>
                  <a:txBody>
                    <a:bodyPr wrap="square"/>
                    <a:lstStyle/>
                    <a:p>
                      <a:r>
                        <a:rPr sz="1200" lang="es-MX">
                          <a:solidFill>
                            <a:schemeClr val="tx1"/>
                          </a:solidFill>
                          <a:latin typeface="Franklin Gothic Book"/>
                        </a:rPr>
                        <a:t>Base Apizaco, Tlaxcala</a:t>
                      </a:r>
                    </a:p>
                  </a:txBody>
                  <a:tcPr marL="73152" marR="73152" marT="36576" marB="36576" anchor="ctr">
                    <a:solidFill>
                      <a:schemeClr val="bg2">
                        <a:lumMod val="20000"/>
                        <a:lumOff val="80000"/>
                      </a:schemeClr>
                    </a:solidFill>
                  </a:tcPr>
                </a:tc>
                <a:tc>
                  <a:txBody>
                    <a:bodyPr wrap="square"/>
                    <a:lstStyle/>
                    <a:p>
                      <a:r>
                        <a:rPr sz="1200" lang="es-MX">
                          <a:solidFill>
                            <a:schemeClr val="tx1"/>
                          </a:solidFill>
                          <a:latin typeface="Franklin Gothic Book"/>
                        </a:rPr>
                        <a:t>Ganada 2019</a:t>
                      </a:r>
                    </a:p>
                  </a:txBody>
                  <a:tcPr marL="73152" marR="73152" marT="36576" marB="36576" anchor="ctr">
                    <a:solidFill>
                      <a:schemeClr val="bg2">
                        <a:lumMod val="20000"/>
                        <a:lumOff val="80000"/>
                      </a:schemeClr>
                    </a:solidFill>
                  </a:tcPr>
                </a:tc>
                <a:tc>
                  <a:txBody>
                    <a:bodyPr wrap="square"/>
                    <a:lstStyle/>
                    <a:p>
                      <a:r>
                        <a:rPr sz="1200" lang="es-MX">
                          <a:solidFill>
                            <a:schemeClr val="tx1"/>
                          </a:solidFill>
                          <a:latin typeface="Franklin Gothic Book"/>
                        </a:rPr>
                        <a:t>46,375.94</a:t>
                      </a:r>
                    </a:p>
                  </a:txBody>
                  <a:tcPr marL="73152" marR="73152" marT="36576" marB="36576" anchor="ctr">
                    <a:solidFill>
                      <a:schemeClr val="bg2">
                        <a:lumMod val="20000"/>
                        <a:lumOff val="80000"/>
                      </a:schemeClr>
                    </a:solidFill>
                  </a:tcPr>
                </a:tc>
                <a:tc>
                  <a:txBody>
                    <a:bodyPr wrap="square"/>
                    <a:lstStyle/>
                    <a:p>
                      <a:r>
                        <a:rPr sz="1200" lang="es-MX">
                          <a:solidFill>
                            <a:schemeClr val="tx1"/>
                          </a:solidFill>
                          <a:latin typeface="Franklin Gothic Book"/>
                        </a:rPr>
                        <a:t>BINASA RODAMIENTOS Y REFACCIONES, S. DE R.L. DE C. - 10114 - Puebla</a:t>
                      </a:r>
                    </a:p>
                  </a:txBody>
                  <a:tcPr marL="73152" marR="73152" marT="36576" marB="36576" anchor="ctr">
                    <a:solidFill>
                      <a:schemeClr val="bg2">
                        <a:lumMod val="20000"/>
                        <a:lumOff val="80000"/>
                      </a:schemeClr>
                    </a:solidFill>
                  </a:tcPr>
                </a:tc>
              </a:tr>
              <a:tr h="274320">
                <a:tc>
                  <a:txBody>
                    <a:bodyPr wrap="square"/>
                    <a:lstStyle/>
                    <a:p>
                      <a:r>
                        <a:rPr sz="1200" lang="es-MX">
                          <a:solidFill>
                            <a:schemeClr val="tx1"/>
                          </a:solidFill>
                          <a:latin typeface="Franklin Gothic Book"/>
                        </a:rPr>
                        <a:t>2.2 Pneum Sigma Tula Rysbasa Apaxco</a:t>
                      </a:r>
                    </a:p>
                  </a:txBody>
                  <a:tcPr marL="73152" marR="73152" marT="36576" marB="36576" anchor="ctr">
                    <a:solidFill>
                      <a:schemeClr val="bg1"/>
                    </a:solidFill>
                  </a:tcPr>
                </a:tc>
                <a:tc>
                  <a:txBody>
                    <a:bodyPr wrap="square"/>
                    <a:lstStyle/>
                    <a:p>
                      <a:r>
                        <a:rPr sz="1200" lang="es-MX">
                          <a:solidFill>
                            <a:schemeClr val="tx1"/>
                          </a:solidFill>
                          <a:latin typeface="Franklin Gothic Book"/>
                        </a:rPr>
                        <a:t>570597</a:t>
                      </a:r>
                    </a:p>
                  </a:txBody>
                  <a:tcPr marL="73152" marR="73152" marT="36576" marB="36576" anchor="ctr">
                    <a:solidFill>
                      <a:schemeClr val="bg1"/>
                    </a:solidFill>
                  </a:tcPr>
                </a:tc>
                <a:tc>
                  <a:txBody>
                    <a:bodyPr wrap="square"/>
                    <a:lstStyle/>
                    <a:p>
                      <a:r>
                        <a:rPr sz="1200" lang="es-MX">
                          <a:solidFill>
                            <a:schemeClr val="tx1"/>
                          </a:solidFill>
                          <a:latin typeface="Franklin Gothic Book"/>
                        </a:rPr>
                        <a:t>Base Atitalaquia, Hidalgo</a:t>
                      </a:r>
                    </a:p>
                  </a:txBody>
                  <a:tcPr marL="73152" marR="73152" marT="36576" marB="36576" anchor="ctr">
                    <a:solidFill>
                      <a:schemeClr val="bg1"/>
                    </a:solidFill>
                  </a:tcPr>
                </a:tc>
                <a:tc>
                  <a:txBody>
                    <a:bodyPr wrap="square"/>
                    <a:lstStyle/>
                    <a:p>
                      <a:r>
                        <a:rPr sz="1200" lang="es-MX">
                          <a:solidFill>
                            <a:schemeClr val="tx1"/>
                          </a:solidFill>
                          <a:latin typeface="Franklin Gothic Book"/>
                        </a:rPr>
                        <a:t>Perdida 2022</a:t>
                      </a:r>
                    </a:p>
                  </a:txBody>
                  <a:tcPr marL="73152" marR="73152" marT="36576" marB="36576" anchor="ctr">
                    <a:solidFill>
                      <a:schemeClr val="bg1"/>
                    </a:solidFill>
                  </a:tcPr>
                </a:tc>
                <a:tc>
                  <a:txBody>
                    <a:bodyPr wrap="square"/>
                    <a:lstStyle/>
                    <a:p>
                      <a:r>
                        <a:rPr sz="1200" lang="es-MX">
                          <a:solidFill>
                            <a:schemeClr val="tx1"/>
                          </a:solidFill>
                          <a:latin typeface="Franklin Gothic Book"/>
                        </a:rPr>
                        <a:t>350,318.65</a:t>
                      </a:r>
                    </a:p>
                  </a:txBody>
                  <a:tcPr marL="73152" marR="73152" marT="36576" marB="36576" anchor="ctr">
                    <a:solidFill>
                      <a:schemeClr val="bg1"/>
                    </a:solidFill>
                  </a:tcPr>
                </a:tc>
                <a:tc>
                  <a:txBody>
                    <a:bodyPr wrap="square"/>
                    <a:lstStyle/>
                    <a:p>
                      <a:r>
                        <a:rPr sz="1200" lang="es-MX">
                          <a:solidFill>
                            <a:schemeClr val="tx1"/>
                          </a:solidFill>
                          <a:latin typeface="Franklin Gothic Book"/>
                        </a:rPr>
                        <a:t>REFACCIONES Y SERVICIOS BARRERA, S. - 15288 - APAXCO</a:t>
                      </a:r>
                    </a:p>
                  </a:txBody>
                  <a:tcPr marL="73152" marR="73152" marT="36576" marB="36576" anchor="ctr">
                    <a:solidFill>
                      <a:schemeClr val="bg1"/>
                    </a:solidFill>
                  </a:tcPr>
                </a:tc>
              </a:tr>
              <a:tr h="274320">
                <a:tc>
                  <a:txBody>
                    <a:bodyPr wrap="square"/>
                    <a:lstStyle/>
                    <a:p>
                      <a:r>
                        <a:rPr sz="1200" lang="es-MX">
                          <a:solidFill>
                            <a:schemeClr val="tx1"/>
                          </a:solidFill>
                          <a:latin typeface="Franklin Gothic Book"/>
                        </a:rPr>
                        <a:t>7.1 TPU Sigma Pachuca RYASA Tula</a:t>
                      </a:r>
                    </a:p>
                  </a:txBody>
                  <a:tcPr marL="73152" marR="73152" marT="36576" marB="36576" anchor="ctr">
                    <a:solidFill>
                      <a:schemeClr val="bg2">
                        <a:lumMod val="20000"/>
                        <a:lumOff val="80000"/>
                      </a:schemeClr>
                    </a:solidFill>
                  </a:tcPr>
                </a:tc>
                <a:tc>
                  <a:txBody>
                    <a:bodyPr wrap="square"/>
                    <a:lstStyle/>
                    <a:p>
                      <a:r>
                        <a:rPr sz="1200" lang="es-MX">
                          <a:solidFill>
                            <a:schemeClr val="tx1"/>
                          </a:solidFill>
                          <a:latin typeface="Franklin Gothic Book"/>
                        </a:rPr>
                        <a:t>520100</a:t>
                      </a:r>
                    </a:p>
                  </a:txBody>
                  <a:tcPr marL="73152" marR="73152" marT="36576" marB="36576" anchor="ctr">
                    <a:solidFill>
                      <a:schemeClr val="bg2">
                        <a:lumMod val="20000"/>
                        <a:lumOff val="80000"/>
                      </a:schemeClr>
                    </a:solidFill>
                  </a:tcPr>
                </a:tc>
                <a:tc>
                  <a:txBody>
                    <a:bodyPr wrap="square"/>
                    <a:lstStyle/>
                    <a:p>
                      <a:r>
                        <a:rPr sz="1200" lang="es-MX">
                          <a:solidFill>
                            <a:schemeClr val="tx1"/>
                          </a:solidFill>
                          <a:latin typeface="Franklin Gothic Book"/>
                        </a:rPr>
                        <a:t>Base Pachuca, Hidalgo</a:t>
                      </a:r>
                    </a:p>
                  </a:txBody>
                  <a:tcPr marL="73152" marR="73152" marT="36576" marB="36576" anchor="ctr">
                    <a:solidFill>
                      <a:schemeClr val="bg2">
                        <a:lumMod val="20000"/>
                        <a:lumOff val="80000"/>
                      </a:schemeClr>
                    </a:solidFill>
                  </a:tcPr>
                </a:tc>
                <a:tc>
                  <a:txBody>
                    <a:bodyPr wrap="square"/>
                    <a:lstStyle/>
                    <a:p>
                      <a:r>
                        <a:rPr sz="1200" lang="es-MX">
                          <a:solidFill>
                            <a:schemeClr val="tx1"/>
                          </a:solidFill>
                          <a:latin typeface="Franklin Gothic Book"/>
                        </a:rPr>
                        <a:t>Perdida 2021</a:t>
                      </a:r>
                    </a:p>
                  </a:txBody>
                  <a:tcPr marL="73152" marR="73152" marT="36576" marB="36576" anchor="ctr">
                    <a:solidFill>
                      <a:schemeClr val="bg2">
                        <a:lumMod val="20000"/>
                        <a:lumOff val="80000"/>
                      </a:schemeClr>
                    </a:solidFill>
                  </a:tcPr>
                </a:tc>
                <a:tc>
                  <a:txBody>
                    <a:bodyPr wrap="square"/>
                    <a:lstStyle/>
                    <a:p>
                      <a:r>
                        <a:rPr sz="1200" lang="es-MX">
                          <a:solidFill>
                            <a:schemeClr val="tx1"/>
                          </a:solidFill>
                          <a:latin typeface="Franklin Gothic Book"/>
                        </a:rPr>
                        <a:t>87,579.71</a:t>
                      </a:r>
                    </a:p>
                  </a:txBody>
                  <a:tcPr marL="73152" marR="73152" marT="36576" marB="36576" anchor="ctr">
                    <a:solidFill>
                      <a:schemeClr val="bg2">
                        <a:lumMod val="20000"/>
                        <a:lumOff val="80000"/>
                      </a:schemeClr>
                    </a:solidFill>
                  </a:tcPr>
                </a:tc>
                <a:tc>
                  <a:txBody>
                    <a:bodyPr wrap="square"/>
                    <a:lstStyle/>
                    <a:p>
                      <a:r>
                        <a:rPr sz="1200" lang="es-MX">
                          <a:solidFill>
                            <a:schemeClr val="tx1"/>
                          </a:solidFill>
                          <a:latin typeface="Franklin Gothic Book"/>
                        </a:rPr>
                        <a:t>RODAMIENTOS Y ACCESORIOS, S.A. DE C - 30902 - TULA DE ALLENDE</a:t>
                      </a:r>
                    </a:p>
                  </a:txBody>
                  <a:tcPr marL="73152" marR="73152" marT="36576" marB="36576" anchor="ctr">
                    <a:solidFill>
                      <a:schemeClr val="bg2">
                        <a:lumMod val="20000"/>
                        <a:lumOff val="80000"/>
                      </a:schemeClr>
                    </a:solidFill>
                  </a:tcPr>
                </a:tc>
              </a:tr>
              <a:tr h="274320">
                <a:tc>
                  <a:txBody>
                    <a:bodyPr wrap="square"/>
                    <a:lstStyle/>
                    <a:p>
                      <a:r>
                        <a:rPr sz="1200" lang="es-MX">
                          <a:solidFill>
                            <a:schemeClr val="tx1"/>
                          </a:solidFill>
                          <a:latin typeface="Franklin Gothic Book"/>
                        </a:rPr>
                        <a:t>2.2 MI Sigma Alimentos comercial, S.A. de C.V - Ciudad valles FP-ENGINE HOSE-768398</a:t>
                      </a:r>
                    </a:p>
                  </a:txBody>
                  <a:tcPr marL="73152" marR="73152" marT="36576" marB="36576" anchor="ctr">
                    <a:solidFill>
                      <a:schemeClr val="bg1"/>
                    </a:solidFill>
                  </a:tcPr>
                </a:tc>
                <a:tc>
                  <a:txBody>
                    <a:bodyPr wrap="square"/>
                    <a:lstStyle/>
                    <a:p>
                      <a:r>
                        <a:rPr sz="1200" lang="es-MX">
                          <a:solidFill>
                            <a:schemeClr val="tx1"/>
                          </a:solidFill>
                          <a:latin typeface="Franklin Gothic Book"/>
                        </a:rPr>
                        <a:t>768398</a:t>
                      </a:r>
                    </a:p>
                  </a:txBody>
                  <a:tcPr marL="73152" marR="73152" marT="36576" marB="36576" anchor="ctr">
                    <a:solidFill>
                      <a:schemeClr val="bg1"/>
                    </a:solidFill>
                  </a:tcPr>
                </a:tc>
                <a:tc>
                  <a:txBody>
                    <a:bodyPr wrap="square"/>
                    <a:lstStyle/>
                    <a:p>
                      <a:r>
                        <a:rPr sz="1200" lang="es-MX">
                          <a:solidFill>
                            <a:schemeClr val="tx1"/>
                          </a:solidFill>
                          <a:latin typeface="Franklin Gothic Book"/>
                        </a:rPr>
                        <a:t>Ciudad Valles, S.L.P.</a:t>
                      </a:r>
                    </a:p>
                  </a:txBody>
                  <a:tcPr marL="73152" marR="73152" marT="36576" marB="36576" anchor="ctr">
                    <a:solidFill>
                      <a:schemeClr val="bg1"/>
                    </a:solidFill>
                  </a:tcPr>
                </a:tc>
                <a:tc>
                  <a:txBody>
                    <a:bodyPr wrap="square"/>
                    <a:lstStyle/>
                    <a:p>
                      <a:r>
                        <a:rPr sz="1200" lang="es-MX">
                          <a:solidFill>
                            <a:schemeClr val="tx1"/>
                          </a:solidFill>
                          <a:latin typeface="Franklin Gothic Book"/>
                        </a:rPr>
                        <a:t>Ganada 2025</a:t>
                      </a:r>
                    </a:p>
                  </a:txBody>
                  <a:tcPr marL="73152" marR="73152" marT="36576" marB="36576" anchor="ctr">
                    <a:solidFill>
                      <a:schemeClr val="bg1"/>
                    </a:solidFill>
                  </a:tcPr>
                </a:tc>
                <a:tc>
                  <a:txBody>
                    <a:bodyPr wrap="square"/>
                    <a:lstStyle/>
                    <a:p>
                      <a:r>
                        <a:rPr sz="1200" lang="es-MX">
                          <a:solidFill>
                            <a:schemeClr val="tx1"/>
                          </a:solidFill>
                          <a:latin typeface="Franklin Gothic Book"/>
                        </a:rPr>
                        <a:t>491,710.59</a:t>
                      </a:r>
                    </a:p>
                  </a:txBody>
                  <a:tcPr marL="73152" marR="73152" marT="36576" marB="36576" anchor="ctr">
                    <a:solidFill>
                      <a:schemeClr val="bg1"/>
                    </a:solidFill>
                  </a:tcPr>
                </a:tc>
                <a:tc>
                  <a:txBody>
                    <a:bodyPr wrap="square"/>
                    <a:lstStyle/>
                    <a:p>
                      <a:r>
                        <a:rPr sz="1200" lang="es-MX">
                          <a:solidFill>
                            <a:schemeClr val="tx1"/>
                          </a:solidFill>
                          <a:latin typeface="Franklin Gothic Book"/>
                        </a:rPr>
                        <a:t>BINASA REFACCIONES INDUSTRIALES, S. - 10615 - SAN LUIS POTOSI</a:t>
                      </a:r>
                    </a:p>
                  </a:txBody>
                  <a:tcPr marL="73152" marR="73152" marT="36576" marB="36576" anchor="ctr">
                    <a:solidFill>
                      <a:schemeClr val="bg1"/>
                    </a:solidFill>
                  </a:tcPr>
                </a:tc>
              </a:tr>
              <a:tr h="274320">
                <a:tc>
                  <a:txBody>
                    <a:bodyPr wrap="square"/>
                    <a:lstStyle/>
                    <a:p>
                      <a:r>
                        <a:rPr sz="1200" lang="es-MX">
                          <a:solidFill>
                            <a:schemeClr val="tx1"/>
                          </a:solidFill>
                          <a:latin typeface="Franklin Gothic Book"/>
                        </a:rPr>
                        <a:t>2.2 SIGMS ALIMENTOS BANDAS E HIDRAULICA</a:t>
                      </a:r>
                    </a:p>
                  </a:txBody>
                  <a:tcPr marL="73152" marR="73152" marT="36576" marB="36576" anchor="ctr">
                    <a:solidFill>
                      <a:schemeClr val="bg2">
                        <a:lumMod val="20000"/>
                        <a:lumOff val="80000"/>
                      </a:schemeClr>
                    </a:solidFill>
                  </a:tcPr>
                </a:tc>
                <a:tc>
                  <a:txBody>
                    <a:bodyPr wrap="square"/>
                    <a:lstStyle/>
                    <a:p>
                      <a:r>
                        <a:rPr sz="1200" lang="es-MX">
                          <a:solidFill>
                            <a:schemeClr val="tx1"/>
                          </a:solidFill>
                          <a:latin typeface="Franklin Gothic Book"/>
                        </a:rPr>
                        <a:t>O-00244436</a:t>
                      </a:r>
                    </a:p>
                  </a:txBody>
                  <a:tcPr marL="73152" marR="73152" marT="36576" marB="36576" anchor="ctr">
                    <a:solidFill>
                      <a:schemeClr val="bg2">
                        <a:lumMod val="20000"/>
                        <a:lumOff val="80000"/>
                      </a:schemeClr>
                    </a:solidFill>
                  </a:tcPr>
                </a:tc>
                <a:tc>
                  <a:txBody>
                    <a:bodyPr wrap="square"/>
                    <a:lstStyle/>
                    <a:p>
                      <a:r>
                        <a:rPr sz="1200" lang="es-MX">
                          <a:solidFill>
                            <a:schemeClr val="tx1"/>
                          </a:solidFill>
                          <a:latin typeface="Franklin Gothic Book"/>
                        </a:rPr>
                        <a:t>Monterrey, Nuevo León</a:t>
                      </a:r>
                    </a:p>
                  </a:txBody>
                  <a:tcPr marL="73152" marR="73152" marT="36576" marB="36576" anchor="ctr">
                    <a:solidFill>
                      <a:schemeClr val="bg2">
                        <a:lumMod val="20000"/>
                        <a:lumOff val="80000"/>
                      </a:schemeClr>
                    </a:solidFill>
                  </a:tcPr>
                </a:tc>
                <a:tc>
                  <a:txBody>
                    <a:bodyPr wrap="square"/>
                    <a:lstStyle/>
                    <a:p>
                      <a:r>
                        <a:rPr sz="1200" lang="es-MX">
                          <a:solidFill>
                            <a:schemeClr val="tx1"/>
                          </a:solidFill>
                          <a:latin typeface="Franklin Gothic Book"/>
                        </a:rPr>
                        <a:t>Ganada 2020</a:t>
                      </a:r>
                    </a:p>
                  </a:txBody>
                  <a:tcPr marL="73152" marR="73152" marT="36576" marB="36576" anchor="ctr">
                    <a:solidFill>
                      <a:schemeClr val="bg2">
                        <a:lumMod val="20000"/>
                        <a:lumOff val="80000"/>
                      </a:schemeClr>
                    </a:solidFill>
                  </a:tcPr>
                </a:tc>
                <a:tc>
                  <a:txBody>
                    <a:bodyPr wrap="square"/>
                    <a:lstStyle/>
                    <a:p>
                      <a:r>
                        <a:rPr sz="1200" lang="es-MX">
                          <a:solidFill>
                            <a:schemeClr val="tx1"/>
                          </a:solidFill>
                          <a:latin typeface="Franklin Gothic Book"/>
                        </a:rPr>
                        <a:t>231,879.52</a:t>
                      </a:r>
                    </a:p>
                  </a:txBody>
                  <a:tcPr marL="73152" marR="73152" marT="36576" marB="36576" anchor="ctr">
                    <a:solidFill>
                      <a:schemeClr val="bg2">
                        <a:lumMod val="20000"/>
                        <a:lumOff val="80000"/>
                      </a:schemeClr>
                    </a:solidFill>
                  </a:tcPr>
                </a:tc>
                <a:tc>
                  <a:txBody>
                    <a:bodyPr wrap="square"/>
                    <a:lstStyle/>
                    <a:p>
                      <a:r>
                        <a:rPr sz="1200" lang="es-MX">
                          <a:solidFill>
                            <a:schemeClr val="tx1"/>
                          </a:solidFill>
                          <a:latin typeface="Franklin Gothic Book"/>
                        </a:rPr>
                        <a:t>RODAMIENTOS Y ACCESORIOS, S.A. DE C - 30902 - SAN NICOLAS DE LOS GARZA</a:t>
                      </a:r>
                    </a:p>
                  </a:txBody>
                  <a:tcPr marL="73152" marR="73152" marT="36576" marB="36576" anchor="ctr">
                    <a:solidFill>
                      <a:schemeClr val="bg2">
                        <a:lumMod val="20000"/>
                        <a:lumOff val="80000"/>
                      </a:schemeClr>
                    </a:solidFill>
                  </a:tcPr>
                </a:tc>
              </a:tr>
              <a:tr h="274320">
                <a:tc>
                  <a:txBody>
                    <a:bodyPr wrap="square"/>
                    <a:lstStyle/>
                    <a:p>
                      <a:r>
                        <a:rPr sz="1200" lang="es-MX">
                          <a:solidFill>
                            <a:schemeClr val="tx1"/>
                          </a:solidFill>
                          <a:latin typeface="Franklin Gothic Book"/>
                        </a:rPr>
                        <a:t>2.2 FP INDS Kuriyama- SIGMA Alimentos Mty, -Ryasa Mty - 705389</a:t>
                      </a:r>
                    </a:p>
                  </a:txBody>
                  <a:tcPr marL="73152" marR="73152" marT="36576" marB="36576" anchor="ctr">
                    <a:solidFill>
                      <a:schemeClr val="bg1"/>
                    </a:solidFill>
                  </a:tcPr>
                </a:tc>
                <a:tc>
                  <a:txBody>
                    <a:bodyPr wrap="square"/>
                    <a:lstStyle/>
                    <a:p>
                      <a:r>
                        <a:rPr sz="1200" lang="es-MX">
                          <a:solidFill>
                            <a:schemeClr val="tx1"/>
                          </a:solidFill>
                          <a:latin typeface="Franklin Gothic Book"/>
                        </a:rPr>
                        <a:t>705389</a:t>
                      </a:r>
                    </a:p>
                  </a:txBody>
                  <a:tcPr marL="73152" marR="73152" marT="36576" marB="36576" anchor="ctr">
                    <a:solidFill>
                      <a:schemeClr val="bg1"/>
                    </a:solidFill>
                  </a:tcPr>
                </a:tc>
                <a:tc>
                  <a:txBody>
                    <a:bodyPr wrap="square"/>
                    <a:lstStyle/>
                    <a:p>
                      <a:r>
                        <a:rPr sz="1200" lang="es-MX">
                          <a:solidFill>
                            <a:schemeClr val="tx1"/>
                          </a:solidFill>
                          <a:latin typeface="Franklin Gothic Book"/>
                        </a:rPr>
                        <a:t>Monterrey, Nuevo León</a:t>
                      </a:r>
                    </a:p>
                  </a:txBody>
                  <a:tcPr marL="73152" marR="73152" marT="36576" marB="36576" anchor="ctr">
                    <a:solidFill>
                      <a:schemeClr val="bg1"/>
                    </a:solidFill>
                  </a:tcPr>
                </a:tc>
                <a:tc>
                  <a:txBody>
                    <a:bodyPr wrap="square"/>
                    <a:lstStyle/>
                    <a:p>
                      <a:r>
                        <a:rPr sz="1200" lang="es-MX">
                          <a:solidFill>
                            <a:schemeClr val="tx1"/>
                          </a:solidFill>
                          <a:latin typeface="Franklin Gothic Book"/>
                        </a:rPr>
                        <a:t>Ganada 2024</a:t>
                      </a:r>
                    </a:p>
                  </a:txBody>
                  <a:tcPr marL="73152" marR="73152" marT="36576" marB="36576" anchor="ctr">
                    <a:solidFill>
                      <a:schemeClr val="bg1"/>
                    </a:solidFill>
                  </a:tcPr>
                </a:tc>
                <a:tc>
                  <a:txBody>
                    <a:bodyPr wrap="square"/>
                    <a:lstStyle/>
                    <a:p>
                      <a:r>
                        <a:rPr sz="1200" lang="es-MX">
                          <a:solidFill>
                            <a:schemeClr val="tx1"/>
                          </a:solidFill>
                          <a:latin typeface="Franklin Gothic Book"/>
                        </a:rPr>
                        <a:t>263,073.92</a:t>
                      </a:r>
                    </a:p>
                  </a:txBody>
                  <a:tcPr marL="73152" marR="73152" marT="36576" marB="36576" anchor="ctr">
                    <a:solidFill>
                      <a:schemeClr val="bg1"/>
                    </a:solidFill>
                  </a:tcPr>
                </a:tc>
                <a:tc>
                  <a:txBody>
                    <a:bodyPr wrap="square"/>
                    <a:lstStyle/>
                    <a:p>
                      <a:r>
                        <a:rPr sz="1200" lang="es-MX">
                          <a:solidFill>
                            <a:schemeClr val="tx1"/>
                          </a:solidFill>
                          <a:latin typeface="Franklin Gothic Book"/>
                        </a:rPr>
                        <a:t>RODAMIENTOS Y ACCESORIOS, S.A. DE C - 30902 - SAN NICOLAS DE LOS GARZA</a:t>
                      </a:r>
                    </a:p>
                  </a:txBody>
                  <a:tcPr marL="73152" marR="73152" marT="36576" marB="36576" anchor="ctr">
                    <a:solidFill>
                      <a:schemeClr val="bg1"/>
                    </a:solidFill>
                  </a:tcPr>
                </a:tc>
              </a:tr>
              <a:tr h="274320">
                <a:tc>
                  <a:txBody>
                    <a:bodyPr wrap="square"/>
                    <a:lstStyle/>
                    <a:p>
                      <a:r>
                        <a:rPr sz="1200" lang="es-MX">
                          <a:solidFill>
                            <a:schemeClr val="tx1"/>
                          </a:solidFill>
                          <a:latin typeface="Franklin Gothic Book"/>
                        </a:rPr>
                        <a:t>3.1 - PNEUMATIC - PARKER - SIGMA ALIMENTOS - MANGUERAS Y CONEXIONES CHIHUAHUA</a:t>
                      </a:r>
                    </a:p>
                  </a:txBody>
                  <a:tcPr marL="73152" marR="73152" marT="36576" marB="36576" anchor="ctr">
                    <a:solidFill>
                      <a:schemeClr val="bg2">
                        <a:lumMod val="20000"/>
                        <a:lumOff val="80000"/>
                      </a:schemeClr>
                    </a:solidFill>
                  </a:tcPr>
                </a:tc>
                <a:tc>
                  <a:txBody>
                    <a:bodyPr wrap="square"/>
                    <a:lstStyle/>
                    <a:p>
                      <a:r>
                        <a:rPr sz="1200" lang="es-MX">
                          <a:solidFill>
                            <a:schemeClr val="tx1"/>
                          </a:solidFill>
                          <a:latin typeface="Franklin Gothic Book"/>
                        </a:rPr>
                        <a:t>O-00223013</a:t>
                      </a:r>
                    </a:p>
                  </a:txBody>
                  <a:tcPr marL="73152" marR="73152" marT="36576" marB="36576" anchor="ctr">
                    <a:solidFill>
                      <a:schemeClr val="bg2">
                        <a:lumMod val="20000"/>
                        <a:lumOff val="80000"/>
                      </a:schemeClr>
                    </a:solidFill>
                  </a:tcPr>
                </a:tc>
                <a:tc>
                  <a:txBody>
                    <a:bodyPr wrap="square"/>
                    <a:lstStyle/>
                    <a:p>
                      <a:r>
                        <a:rPr sz="1200" lang="es-MX">
                          <a:solidFill>
                            <a:schemeClr val="tx1"/>
                          </a:solidFill>
                          <a:latin typeface="Franklin Gothic Book"/>
                        </a:rPr>
                        <a:t>Clave corporativa</a:t>
                      </a:r>
                    </a:p>
                  </a:txBody>
                  <a:tcPr marL="73152" marR="73152" marT="36576" marB="36576" anchor="ctr">
                    <a:solidFill>
                      <a:schemeClr val="bg2">
                        <a:lumMod val="20000"/>
                        <a:lumOff val="80000"/>
                      </a:schemeClr>
                    </a:solidFill>
                  </a:tcPr>
                </a:tc>
                <a:tc>
                  <a:txBody>
                    <a:bodyPr wrap="square"/>
                    <a:lstStyle/>
                    <a:p>
                      <a:r>
                        <a:rPr sz="1200" lang="es-MX">
                          <a:solidFill>
                            <a:schemeClr val="tx1"/>
                          </a:solidFill>
                          <a:latin typeface="Franklin Gothic Book"/>
                        </a:rPr>
                        <a:t>Perdida 2020</a:t>
                      </a:r>
                    </a:p>
                  </a:txBody>
                  <a:tcPr marL="73152" marR="73152" marT="36576" marB="36576" anchor="ctr">
                    <a:solidFill>
                      <a:schemeClr val="bg2">
                        <a:lumMod val="20000"/>
                        <a:lumOff val="80000"/>
                      </a:schemeClr>
                    </a:solidFill>
                  </a:tcPr>
                </a:tc>
                <a:tc>
                  <a:txBody>
                    <a:bodyPr wrap="square"/>
                    <a:lstStyle/>
                    <a:p>
                      <a:r>
                        <a:rPr sz="1200" lang="es-MX">
                          <a:solidFill>
                            <a:schemeClr val="tx1"/>
                          </a:solidFill>
                          <a:latin typeface="Franklin Gothic Book"/>
                        </a:rPr>
                        <a:t>0.00</a:t>
                      </a:r>
                    </a:p>
                  </a:txBody>
                  <a:tcPr marL="73152" marR="73152" marT="36576" marB="36576" anchor="ctr">
                    <a:solidFill>
                      <a:schemeClr val="bg2">
                        <a:lumMod val="20000"/>
                        <a:lumOff val="80000"/>
                      </a:schemeClr>
                    </a:solidFill>
                  </a:tcPr>
                </a:tc>
                <a:tc>
                  <a:txBody>
                    <a:bodyPr wrap="square"/>
                    <a:lstStyle/>
                    <a:p>
                      <a:r>
                        <a:rPr sz="1200" lang="es-MX">
                          <a:solidFill>
                            <a:schemeClr val="tx1"/>
                          </a:solidFill>
                          <a:latin typeface="Franklin Gothic Book"/>
                        </a:rPr>
                        <a:t>sin dato</a:t>
                      </a:r>
                    </a:p>
                  </a:txBody>
                  <a:tcPr marL="73152" marR="73152" marT="36576" marB="36576" anchor="ctr">
                    <a:solidFill>
                      <a:schemeClr val="bg2">
                        <a:lumMod val="20000"/>
                        <a:lumOff val="80000"/>
                      </a:schemeClr>
                    </a:solidFill>
                  </a:tcPr>
                </a:tc>
              </a:tr>
            </a:tbl>
          </a:graphicData>
        </a:graphic>
      </p:graphicFrame>
    </p:spTree>
  </p:cSld>
  <p:clrMapOvr>
    <a:masterClrMapping/>
  </p:clrMapOvr>
</p:sld>
</file>

<file path=ppt/theme/theme1.xml><?xml version="1.0" encoding="utf-8"?>
<a:theme xmlns:a="http://schemas.openxmlformats.org/drawingml/2006/main" name="Gates Content Slides">
  <a:themeElements>
    <a:clrScheme name="Gates Theme Colors">
      <a:dk1>
        <a:srgbClr val="000000"/>
      </a:dk1>
      <a:lt1>
        <a:srgbClr val="FFFFFF"/>
      </a:lt1>
      <a:dk2>
        <a:srgbClr val="686868"/>
      </a:dk2>
      <a:lt2>
        <a:srgbClr val="C0C0C0"/>
      </a:lt2>
      <a:accent1>
        <a:srgbClr val="C02026"/>
      </a:accent1>
      <a:accent2>
        <a:srgbClr val="808080"/>
      </a:accent2>
      <a:accent3>
        <a:srgbClr val="041E42"/>
      </a:accent3>
      <a:accent4>
        <a:srgbClr val="FFD700"/>
      </a:accent4>
      <a:accent5>
        <a:srgbClr val="00778B"/>
      </a:accent5>
      <a:accent6>
        <a:srgbClr val="DC4405"/>
      </a:accent6>
      <a:hlink>
        <a:srgbClr val="0077C8"/>
      </a:hlink>
      <a:folHlink>
        <a:srgbClr val="64A70B"/>
      </a:folHlink>
    </a:clrScheme>
    <a:fontScheme name="Gates Heading and Body Font">
      <a:majorFont>
        <a:latin typeface="Franklin Gothic Heavy"/>
        <a:ea typeface=""/>
        <a:cs typeface=""/>
      </a:majorFont>
      <a:minorFont>
        <a:latin typeface="Franklin Gothic Dem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tIns="91440" bIns="91440" rtlCol="0" anchor="ctr"/>
      <a:lstStyle>
        <a:defPPr algn="ctr">
          <a:defRPr sz="1800" dirty="0">
            <a:solidFill>
              <a:schemeClr val="tx1"/>
            </a:solidFill>
            <a:latin typeface="Franklin Gothic Demi" charset="0"/>
            <a:ea typeface="Franklin Gothic Demi" charset="0"/>
            <a:cs typeface="Franklin Gothic Demi"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accent2"/>
          </a:solidFill>
        </a:ln>
        <a:effectLst/>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nSpc>
            <a:spcPct val="110000"/>
          </a:lnSpc>
          <a:spcBef>
            <a:spcPts val="600"/>
          </a:spcBef>
          <a:defRPr sz="1800" dirty="0">
            <a:latin typeface="Franklin Gothic Book" charset="0"/>
            <a:ea typeface="Franklin Gothic Book" charset="0"/>
            <a:cs typeface="Franklin Gothic Book" charset="0"/>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a05b10e8-7f44-4e45-9ed7-f09d22361ca6">
      <UserInfo>
        <DisplayName/>
        <AccountId xsi:nil="true"/>
        <AccountType/>
      </UserInfo>
    </SharedWithUser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446B32299F144C46B528D924256075E0" ma:contentTypeVersion="10" ma:contentTypeDescription="Create a new document." ma:contentTypeScope="" ma:versionID="70ffd646c2a2d78e956edb66a9bc059e">
  <xsd:schema xmlns:xsd="http://www.w3.org/2001/XMLSchema" xmlns:xs="http://www.w3.org/2001/XMLSchema" xmlns:p="http://schemas.microsoft.com/office/2006/metadata/properties" xmlns:ns2="a05b10e8-7f44-4e45-9ed7-f09d22361ca6" targetNamespace="http://schemas.microsoft.com/office/2006/metadata/properties" ma:root="true" ma:fieldsID="09be63227c29e4a3a7ddc07857d0d68c" ns2:_="">
    <xsd:import namespace="a05b10e8-7f44-4e45-9ed7-f09d22361ca6"/>
    <xsd:element name="properties">
      <xsd:complexType>
        <xsd:sequence>
          <xsd:element name="documentManagement">
            <xsd:complexType>
              <xsd:all>
                <xsd:element ref="ns2:SharedWithUsers" minOccurs="0"/>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05b10e8-7f44-4e45-9ed7-f09d22361ca6" elementFormDefault="qualified">
    <xsd:import namespace="http://schemas.microsoft.com/office/2006/documentManagement/types"/>
    <xsd:import namespace="http://schemas.microsoft.com/office/infopath/2007/PartnerControls"/>
    <xsd:element name="SharedWithUsers" ma:index="8" nillable="true" ma:displayName="Shared With" ma:list="UserInfo" ma:SearchPeopleOnly="false" ma:internalName="SharedWithUsers" ma:readOnly="fals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5A9CC87-B171-4D64-A5A6-D9CAC696C4A9}">
  <ds:schemaRefs>
    <ds:schemaRef ds:uri="http://schemas.microsoft.com/office/2006/metadata/properties"/>
    <ds:schemaRef ds:uri="http://schemas.microsoft.com/office/infopath/2007/PartnerControls"/>
    <ds:schemaRef ds:uri="a05b10e8-7f44-4e45-9ed7-f09d22361ca6"/>
  </ds:schemaRefs>
</ds:datastoreItem>
</file>

<file path=customXml/itemProps2.xml><?xml version="1.0" encoding="utf-8"?>
<ds:datastoreItem xmlns:ds="http://schemas.openxmlformats.org/officeDocument/2006/customXml" ds:itemID="{6ECF6E4D-85CB-4D57-A073-97E9B2A9FA53}">
  <ds:schemaRefs>
    <ds:schemaRef ds:uri="http://schemas.microsoft.com/sharepoint/v3/contenttype/forms"/>
  </ds:schemaRefs>
</ds:datastoreItem>
</file>

<file path=customXml/itemProps3.xml><?xml version="1.0" encoding="utf-8"?>
<ds:datastoreItem xmlns:ds="http://schemas.openxmlformats.org/officeDocument/2006/customXml" ds:itemID="{67E3473C-5B23-4CED-AF7C-DCF04470D13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05b10e8-7f44-4e45-9ed7-f09d22361ca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9202</TotalTime>
  <Words>3404</Words>
  <Application>Microsoft Office PowerPoint</Application>
  <PresentationFormat>Custom</PresentationFormat>
  <Paragraphs>462</Paragraphs>
  <Slides>33</Slides>
  <Notes>7</Notes>
  <HiddenSlides>0</HiddenSlides>
  <MMClips>0</MMClips>
  <ScaleCrop>false</ScaleCrop>
  <HeadingPairs>
    <vt:vector size="4" baseType="variant">
      <vt:variant>
        <vt:lpstr>Theme</vt:lpstr>
      </vt:variant>
      <vt:variant>
        <vt:i4>1</vt:i4>
      </vt:variant>
      <vt:variant>
        <vt:lpstr>Slide Titles</vt:lpstr>
      </vt:variant>
      <vt:variant>
        <vt:i4>33</vt:i4>
      </vt:variant>
    </vt:vector>
  </HeadingPairs>
  <TitlesOfParts>
    <vt:vector size="34" baseType="lpstr">
      <vt:lpstr>Gates Content Slides</vt:lpstr>
      <vt:lpstr>Template overview</vt:lpstr>
      <vt:lpstr>Best Practices: Migrating Content </vt:lpstr>
      <vt:lpstr>Best practices: bulleted and Numbered lists</vt:lpstr>
      <vt:lpstr>Best practices: Updating colors</vt:lpstr>
      <vt:lpstr>TITLE HERE</vt:lpstr>
      <vt:lpstr>TITLE HERE</vt:lpstr>
      <vt:lpstr>Title here</vt:lpstr>
      <vt:lpstr>TITLE HERE</vt:lpstr>
      <vt:lpstr>Content slide – Single Block (with TAKEAWAY BOX)</vt:lpstr>
      <vt:lpstr>Content slide – Single Block (no TAKEAWAY BOX)</vt:lpstr>
      <vt:lpstr>Content slide – Single Block large</vt:lpstr>
      <vt:lpstr>Content slide – 2 columns</vt:lpstr>
      <vt:lpstr>Content slide – 2 columns</vt:lpstr>
      <vt:lpstr>Content slide – 2 columns</vt:lpstr>
      <vt:lpstr>CONTENT SLIDE – FLAG LEFT</vt:lpstr>
      <vt:lpstr>CONTENT SLIDE – FLAG RIGHT</vt:lpstr>
      <vt:lpstr>Content slide – comparisons</vt:lpstr>
      <vt:lpstr>Content slide – 3 column</vt:lpstr>
      <vt:lpstr>Content slide – 4 column with bottom text</vt:lpstr>
      <vt:lpstr>Content slide – 4 column with bottom text</vt:lpstr>
      <vt:lpstr>Content Slide – Quads</vt:lpstr>
      <vt:lpstr>Content Slide – Quads</vt:lpstr>
      <vt:lpstr>Content slide – photo &amp; caption</vt:lpstr>
      <vt:lpstr>Conclusion slide</vt:lpstr>
      <vt:lpstr>Editable object </vt:lpstr>
      <vt:lpstr>colors</vt:lpstr>
      <vt:lpstr>Chart example – column chart</vt:lpstr>
      <vt:lpstr>Chart example – Stacked column chart</vt:lpstr>
      <vt:lpstr>Chart example – Stacked bar chart</vt:lpstr>
      <vt:lpstr>Chart example – Pie chart</vt:lpstr>
      <vt:lpstr>Chart example – Doughnut chart</vt:lpstr>
      <vt:lpstr>Standard table</vt:lpstr>
      <vt:lpstr>ICON LIBRARY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Gates PowerPoint Template 2018</dc:title>
  <dc:creator>Microsoft Office User</dc:creator>
  <cp:lastModifiedBy>Eric Lepire</cp:lastModifiedBy>
  <cp:revision>252</cp:revision>
  <dcterms:created xsi:type="dcterms:W3CDTF">2017-09-07T17:35:02Z</dcterms:created>
  <dcterms:modified xsi:type="dcterms:W3CDTF">2026-10-14T20:17:29Z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0x010100446B32299F144C46B528D924256075E0</vt:lpwstr>
  </property>
  <property fmtid="{D5CDD505-2E9C-101B-9397-08002B2CF9AE}" pid="3" name="Order">
    <vt:r8>6700</vt:r8>
  </property>
</Properties>
</file>
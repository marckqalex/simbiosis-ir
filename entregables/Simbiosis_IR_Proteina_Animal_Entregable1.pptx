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10792a49-cf0c-edd8-31fe-51fe76ed8667}">
          <p14:sldIdLst>
            <p14:sldId id="257"/>
          </p14:sldIdLst>
        </p14:section>
        <p14:section name="Mercado" id="{592d3a89-2918-68c5-616c-b815c188745d}">
          <p14:sldIdLst>
            <p14:sldId id="258"/>
            <p14:sldId id="259"/>
            <p14:sldId id="260"/>
          </p14:sldIdLst>
        </p14:section>
        <p14:section name="Experiencia" id="{b2eaee33-a8a2-95b3-44a1-3bc97d444588}">
          <p14:sldIdLst>
            <p14:sldId id="261"/>
          </p14:sldIdLst>
        </p14:section>
        <p14:section name="Grupos" id="{bea8de26-5666-2c42-42f4-9bae6a90a988}">
          <p14:sldIdLst>
            <p14:sldId id="262"/>
          </p14:sldIdLst>
        </p14:section>
        <p14:section name="Plantas" id="{8d2659d9-d0da-82ae-7be3-3961c87eacae}">
          <p14:sldIdLst>
            <p14:sldId id="263"/>
          </p14:sldIdLst>
        </p14:section>
        <p14:section name="Cierre" id="{e99fcf40-ed7b-e003-174d-8f20a0407111}">
          <p14:sldIdLst>
            <p14:sldId id="264"/>
            <p14:sldId id="265"/>
            <p14:sldId id="266"/>
            <p14:sldId id="267"/>
            <p14:sldId id="268"/>
            <p14:sldId id="269"/>
          </p14:sldIdLst>
        </p14:section>
        <p14:section name="Default-1" id="{6f69d972-6c1f-51d3-2a6a-521853c7a6b5}">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real anual 2025, %</a:t>
            </a:r>
          </a:p>
        </c:rich>
      </c:tx>
      <c:layout/>
      <c:overlay val="0"/>
    </c:title>
    <c:autoTitleDeleted val="0"/>
    <c:plotArea>
      <c:layout/>
      <c:barChart>
        <c:barDir val="bar"/>
        <c:grouping val="clustered"/>
        <c:varyColors val="0"/>
        <c:ser>
          <c:idx val="0"/>
          <c:order val="0"/>
          <c:tx>
            <c:strRef>
              <c:f>Sheet1!$B$1</c:f>
              <c:strCache>
                <c:ptCount val="1"/>
                <c:pt idx="0">
                  <c:v>Crecimiento real anual 2025 (%)</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7C878C"/>
              </a:solidFill>
              <a:effectLst/>
            </c:spPr>
          </c:dPt>
          <c:dPt>
            <c:idx val="2"/>
            <c:invertIfNegative val="0"/>
            <c:bubble3D val="0"/>
            <c:spPr>
              <a:solidFill>
                <a:srgbClr val="2F6F62"/>
              </a:solidFill>
              <a:effectLst/>
            </c:spPr>
          </c:dPt>
          <c:cat>
            <c:multiLvlStrRef>
              <c:f>Sheet1!$A$2:$A$4</c:f>
              <c:multiLvlStrCache>
                <c:ptCount val="3"/>
                <c:lvl>
                  <c:pt idx="0">
                    <c:v>Sector secundario (industria)</c:v>
                  </c:pt>
                  <c:pt idx="1">
                    <c:v>PIB nacional</c:v>
                  </c:pt>
                  <c:pt idx="2">
                    <c:v>PIB primario (agro, ganadería, pesca)</c:v>
                  </c:pt>
                </c:lvl>
              </c:multiLvlStrCache>
            </c:multiLvlStrRef>
          </c:cat>
          <c:val>
            <c:numRef>
              <c:f>Sheet1!$B$2:$B$4</c:f>
              <c:numCache>
                <c:formatCode>General</c:formatCode>
                <c:ptCount val="3"/>
                <c:pt idx="0">
                  <c:v>-1.1</c:v>
                </c:pt>
                <c:pt idx="1">
                  <c:v>0.8</c:v>
                </c:pt>
                <c:pt idx="2">
                  <c:v>4</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5"/>
          <c:min val="-2"/>
        </c:scaling>
        <c:delete val="0"/>
        <c:axPos val="b"/>
        <c:majorGridlines>
          <c:spPr>
            <a:ln w="6350" cap="flat">
              <a:solidFill>
                <a:srgbClr val="D9DE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2025, % anual</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5B7B8C"/>
              </a:solidFill>
              <a:effectLst/>
            </c:spPr>
          </c:dPt>
          <c:cat>
            <c:multiLvlStrRef>
              <c:f>Sheet1!$A$2:$A$3</c:f>
              <c:multiLvlStrCache>
                <c:ptCount val="2"/>
                <c:lvl>
                  <c:pt idx="0">
                    <c:v>Consumo de carne</c:v>
                  </c:pt>
                  <c:pt idx="1">
                    <c:v>Producción de carne</c:v>
                  </c:pt>
                </c:lvl>
              </c:multiLvlStrCache>
            </c:multiLvlStrRef>
          </c:cat>
          <c:val>
            <c:numRef>
              <c:f>Sheet1!$B$2:$B$3</c:f>
              <c:numCache>
                <c:formatCode>General</c:formatCode>
                <c:ptCount val="2"/>
                <c:pt idx="0">
                  <c:v>4.5</c:v>
                </c:pt>
                <c:pt idx="1">
                  <c:v>2.6</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D9DE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2E"/>
                </a:solidFill>
                <a:latin typeface="+mn-lt"/>
              </a:defRPr>
            </a:pPr>
            <a:r>
              <a:rPr sz="1200" b="0" i="0" u="none" strike="noStrike">
                <a:solidFill>
                  <a:srgbClr val="1F2A2E"/>
                </a:solidFill>
                <a:latin typeface="+mn-lt"/>
              </a:rPr>
              <a:t>Tasa de ganancia, % (ganadas / ganadas + perdidas)</a:t>
            </a:r>
          </a:p>
        </c:rich>
      </c:tx>
      <c:layout/>
      <c:overlay val="0"/>
    </c:title>
    <c:autoTitleDeleted val="0"/>
    <c:plotArea>
      <c:layout/>
      <c:barChart>
        <c:barDir val="bar"/>
        <c:grouping val="clustered"/>
        <c:varyColors val="0"/>
        <c:ser>
          <c:idx val="0"/>
          <c:order val="0"/>
          <c:tx>
            <c:strRef>
              <c:f>Sheet1!$B$1</c:f>
              <c:strCache>
                <c:ptCount val="1"/>
                <c:pt idx="0">
                  <c:v>Tasa de ganancia</c:v>
                </c:pt>
              </c:strCache>
            </c:strRef>
          </c:tx>
          <c:spPr>
            <a:solidFill>
              <a:srgbClr val="7C878C"/>
            </a:solidFill>
            <a:effectLst/>
          </c:spPr>
          <c:invertIfNegative val="0"/>
          <c:dLbls>
            <c:numFmt formatCode="0.0" sourceLinked="0"/>
            <c:txPr>
              <a:bodyPr/>
              <a:lstStyle/>
              <a:p>
                <a:pPr>
                  <a:defRPr b="0" i="0" strike="noStrike" sz="13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7C878C"/>
              </a:solidFill>
              <a:effectLst/>
            </c:spPr>
          </c:dPt>
          <c:dPt>
            <c:idx val="1"/>
            <c:invertIfNegative val="0"/>
            <c:bubble3D val="0"/>
            <c:spPr>
              <a:solidFill>
                <a:srgbClr val="5B7B8C"/>
              </a:solidFill>
              <a:effectLst/>
            </c:spPr>
          </c:dPt>
          <c:dPt>
            <c:idx val="2"/>
            <c:invertIfNegative val="0"/>
            <c:bubble3D val="0"/>
            <c:spPr>
              <a:solidFill>
                <a:srgbClr val="C98A1B"/>
              </a:solidFill>
              <a:effectLst/>
            </c:spPr>
          </c:dPt>
          <c:dPt>
            <c:idx val="3"/>
            <c:invertIfNegative val="0"/>
            <c:bubble3D val="0"/>
            <c:spPr>
              <a:solidFill>
                <a:srgbClr val="A63D2B"/>
              </a:solidFill>
              <a:effectLst/>
            </c:spPr>
          </c:dPt>
          <c:cat>
            <c:multiLvlStrRef>
              <c:f>Sheet1!$A$2:$A$5</c:f>
              <c:multiLvlStrCache>
                <c:ptCount val="4"/>
                <c:lvl>
                  <c:pt idx="0">
                    <c:v>Food &amp; Beverage (clasificación del CRM)</c:v>
                  </c:pt>
                  <c:pt idx="1">
                    <c:v>Total nacional (CRM)</c:v>
                  </c:pt>
                  <c:pt idx="2">
                    <c:v>Los 4 grupos de esta presentación</c:v>
                  </c:pt>
                  <c:pt idx="3">
                    <c:v>Proteína animal (60 claves)</c:v>
                  </c:pt>
                </c:lvl>
              </c:multiLvlStrCache>
            </c:multiLvlStrRef>
          </c:cat>
          <c:val>
            <c:numRef>
              <c:f>Sheet1!$B$2:$B$5</c:f>
              <c:numCache>
                <c:formatCode>General</c:formatCode>
                <c:ptCount val="4"/>
                <c:pt idx="0">
                  <c:v>62.5</c:v>
                </c:pt>
                <c:pt idx="1">
                  <c:v>66.2</c:v>
                </c:pt>
                <c:pt idx="2">
                  <c:v>64.6</c:v>
                </c:pt>
                <c:pt idx="3">
                  <c:v>73.4</c:v>
                </c:pt>
              </c:numCache>
            </c:numRef>
          </c:val>
        </c:ser>
        <c:dLbls>
          <c:numFmt formatCode="0.0" sourceLinked="0"/>
          <c:txPr>
            <a:bodyPr/>
            <a:lstStyle/>
            <a:p>
              <a:pPr>
                <a:defRPr b="0" i="0" strike="noStrike" sz="13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b"/>
        <c:majorGridlines>
          <c:spPr>
            <a:ln w="6350" cap="flat">
              <a:solidFill>
                <a:srgbClr val="D9DE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va de lo macro (alimentos y bebidas) a lo micro (proteína animal), luego a los cuatro grupos y a plantas concretas por estado. Al final, un hallazgo adicional: Sigma.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pares planta origen a planta destino. Solo Pilgrim's Tepeji se sostiene, y depende de confirmar que es el mismo sitio que el TIF A-239. Lagos de Moreno es parcial porque no hay áreas verificadas en el destino. TIF 94 de SuKarne es una planta de cocción sin sacrificio.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contraste entre el campo (+4.0%) y la industria (−1.1%) justifica mirar proteína animal. No prueba demanda de reposición: eso se valida por planta.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proyecto anunciado no es demanda actual: la reposición llega después del arranque, no durante la obra. Para 2027 las fuentes consultadas no publican una cifra de crecimiento, por eso no se estima.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que presentarlo con matices. Primero, historial propio: en las 60 claves de proteína animal la tasa de ganancia es 73.4%, pero se concentra en cuatro claves que no son de los grupos de esta presentación; los cuatro grupos juntos están en 64.6%, cerca del promedio nacional de 66.2%. Segundo, el mercado: la producción de carne creció 2.6% y el consumo 4.5%; la diferencia se cubre con importación, no con más turnos en planta. Tercero, hay grupos con muchas plantas donde un caso ganado podría replicarse, pero solo una réplica de seis se sostiene con condición. Límites: no hay cifra de 2027 y la inversión anunciada no es demanda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nomenclatura está copiada tal cual del campo Nombre de oportunidad. El número va solo como referencia. En Lucero hay 6 ganadas y en El Porvenir (Pilgrim's) 3; aquí se citan los casos más cercanos a cada réplica.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etiquetas describen el historial en el CRM, no una compra vigente. Bachoco: otras regiones atienden la cuenta; hay que confirmar si incluye Lagos. Bafar: sin ganadas en el CRM, pero La Piedad ya tiene dos oportunidades abiertas.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plantas; seis tienen veredicto de réplica. La Piedad no se evaluó como par de réplica: ahí ya hay dos oportunidades abiertas. Solo Tepeji queda como sí, condicionado a confirmar que es el mismo sitio que el TIF A-239.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Sigma no estaba en el radar y es el procesador de alimentos con más establecimientos TIF del padrón. Tiene historial en cuatro de sus ocho estados con TIF; en Chihuahua, Guanajuato, Sonora y Yucatán no hay cuenta propia. No sacrifica: procesa carnes frías, igual que Bafar y Qualtia. Las ganadas son en bases y plantas distintas, hay que ver cuál replica mejor. Con razón social Sigma, Jalisco tampoco tiene cuenta: serían 5 estados sin cuenta propia si Tonalá no resulta de Sigma.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Los pasos 1 a 4 dependen de la visita y del CRM; el paso 5 es el hallazgo nuevo de Sigma; el 6 queda abierto porque no hay cifra publicada.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Gates de México · Industrial Replacement</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Proteína animal · 14 de octubre de 2026</a:t>
            </a:r>
            <a:endParaRPr lang="en-US" sz="1000" dirty="0"/>
          </a:p>
        </p:txBody>
      </p:sp>
      <p:sp>
        <p:nvSpPr>
          <p:cNvPr id="3" name="Text 1"/>
          <p:cNvSpPr/>
          <p:nvPr>
            <p:ph idx="101" type="title" hasCustomPrompt="1"/>
          </p:nvPr>
        </p:nvSpPr>
        <p:spPr>
          <a:xfrm>
            <a:off x="548640" y="365760"/>
            <a:ext cx="11091672" cy="82296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8778240" cy="182880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Proteína animal: de los casos ganados a cuatro grupos prospecto</a:t>
            </a:r>
            <a:endParaRPr lang="en-US" sz="4400" dirty="0"/>
          </a:p>
        </p:txBody>
      </p:sp>
      <p:sp>
        <p:nvSpPr>
          <p:cNvPr id="3" name="Text 1"/>
          <p:cNvSpPr txBox="1"/>
          <p:nvPr/>
        </p:nvSpPr>
        <p:spPr>
          <a:xfrm>
            <a:off x="548640" y="3474720"/>
            <a:ext cx="8778240" cy="457200"/>
          </a:xfrm>
          <a:prstGeom prst="rect">
            <a:avLst/>
          </a:prstGeom>
          <a:noFill/>
          <a:ln/>
        </p:spPr>
        <p:txBody>
          <a:bodyPr wrap="square" lIns="0" tIns="0" rIns="0" bIns="0" rtlCol="0" anchor="ctr"/>
          <a:lstStyle/>
          <a:p>
            <a:pPr indent="0" marL="0">
              <a:buNone/>
            </a:pPr>
            <a:r>
              <a:rPr lang="en-US" sz="2200" dirty="0">
                <a:solidFill>
                  <a:schemeClr val="accent6"/>
                </a:solidFill>
                <a:latin typeface="Calibri" pitchFamily="34" charset="0"/>
                <a:ea typeface="Calibri" pitchFamily="34" charset="-122"/>
                <a:cs typeface="Calibri" pitchFamily="34" charset="-120"/>
              </a:rPr>
              <a:t>SuKarne · Bachoco · Pilgrim's Pride · Grupo Bafar</a:t>
            </a:r>
            <a:endParaRPr lang="en-US" sz="2200" dirty="0"/>
          </a:p>
        </p:txBody>
      </p:sp>
      <p:sp>
        <p:nvSpPr>
          <p:cNvPr id="4" name="Text 2"/>
          <p:cNvSpPr txBox="1"/>
          <p:nvPr/>
        </p:nvSpPr>
        <p:spPr>
          <a:xfrm>
            <a:off x="548640" y="4846320"/>
            <a:ext cx="8229600" cy="73152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Programa Simbiosis IR · 14 de octubre de 2026</a:t>
            </a:r>
            <a:endParaRPr lang="en-US" sz="1400" dirty="0"/>
          </a:p>
          <a:p>
            <a:pPr indent="0" marL="0">
              <a:buNone/>
            </a:pPr>
            <a:r>
              <a:rPr lang="en-US" sz="1400" dirty="0">
                <a:solidFill>
                  <a:schemeClr val="accent6"/>
                </a:solidFill>
                <a:latin typeface="Calibri" pitchFamily="34" charset="0"/>
                <a:ea typeface="Calibri" pitchFamily="34" charset="-122"/>
                <a:cs typeface="Calibri" pitchFamily="34" charset="-120"/>
              </a:rPr>
              <a:t>Marcos Arévalo, Gates de México (Industrial Replacement)</a:t>
            </a:r>
            <a:endParaRPr lang="en-US" sz="1400" dirty="0"/>
          </a:p>
        </p:txBody>
      </p:sp>
      <p:sp>
        <p:nvSpPr>
          <p:cNvPr id="5" name="circulo macro"/>
          <p:cNvSpPr/>
          <p:nvPr/>
        </p:nvSpPr>
        <p:spPr>
          <a:xfrm>
            <a:off x="9326880" y="1371600"/>
            <a:ext cx="2377440" cy="2377440"/>
          </a:xfrm>
          <a:prstGeom prst="ellipse">
            <a:avLst/>
          </a:prstGeom>
          <a:solidFill>
            <a:schemeClr val="accent1">
              <a:alpha val="90000"/>
            </a:schemeClr>
          </a:solidFill>
          <a:ln w="12700">
            <a:solidFill>
              <a:schemeClr val="accent1"/>
            </a:solidFill>
            <a:prstDash val="solid"/>
          </a:ln>
        </p:spPr>
      </p:sp>
      <p:sp>
        <p:nvSpPr>
          <p:cNvPr id="6" name="circulo micro"/>
          <p:cNvSpPr/>
          <p:nvPr/>
        </p:nvSpPr>
        <p:spPr>
          <a:xfrm>
            <a:off x="9875520" y="2103120"/>
            <a:ext cx="1371600" cy="1371600"/>
          </a:xfrm>
          <a:prstGeom prst="ellipse">
            <a:avLst/>
          </a:prstGeom>
          <a:solidFill>
            <a:schemeClr val="accent3">
              <a:alpha val="95000"/>
            </a:schemeClr>
          </a:solidFill>
          <a:ln w="12700">
            <a:solidFill>
              <a:schemeClr val="accent3"/>
            </a:solidFill>
            <a:prstDash val="solid"/>
          </a:ln>
        </p:spPr>
      </p:sp>
      <p:sp>
        <p:nvSpPr>
          <p:cNvPr id="7" name="circulo planta"/>
          <p:cNvSpPr/>
          <p:nvPr/>
        </p:nvSpPr>
        <p:spPr>
          <a:xfrm>
            <a:off x="10314432" y="2697480"/>
            <a:ext cx="502920" cy="502920"/>
          </a:xfrm>
          <a:prstGeom prst="ellipse">
            <a:avLst/>
          </a:prstGeom>
          <a:solidFill>
            <a:schemeClr val="bg1"/>
          </a:solidFill>
          <a:ln w="12700">
            <a:solidFill>
              <a:schemeClr val="bg1"/>
            </a:solidFill>
            <a:prstDash val="solid"/>
          </a:ln>
        </p:spPr>
      </p:sp>
      <p:sp>
        <p:nvSpPr>
          <p:cNvPr id="8" name="Text 6"/>
          <p:cNvSpPr txBox="1"/>
          <p:nvPr/>
        </p:nvSpPr>
        <p:spPr>
          <a:xfrm>
            <a:off x="9144000" y="388620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Alimentos y bebidas</a:t>
            </a:r>
            <a:endParaRPr lang="en-US" sz="1200" dirty="0"/>
          </a:p>
        </p:txBody>
      </p:sp>
      <p:sp>
        <p:nvSpPr>
          <p:cNvPr id="9" name="Text 7"/>
          <p:cNvSpPr txBox="1"/>
          <p:nvPr/>
        </p:nvSpPr>
        <p:spPr>
          <a:xfrm>
            <a:off x="9144000" y="416052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Proteína animal → 4 grupos → plantas</a:t>
            </a:r>
            <a:endParaRPr lang="en-US" sz="12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Seis réplicas evaluadas: 1 sí condicionada, 4 parciales, 1 no</a:t>
            </a:r>
            <a:endParaRPr lang="en-US" sz="2800" dirty="0"/>
          </a:p>
        </p:txBody>
      </p:sp>
      <p:sp>
        <p:nvSpPr>
          <p:cNvPr id="3" name="tarjeta 1"/>
          <p:cNvSpPr/>
          <p:nvPr/>
        </p:nvSpPr>
        <p:spPr>
          <a:xfrm>
            <a:off x="548640" y="1371600"/>
            <a:ext cx="2560320" cy="1828800"/>
          </a:xfrm>
          <a:prstGeom prst="rect">
            <a:avLst/>
          </a:prstGeom>
          <a:solidFill>
            <a:schemeClr val="bg2"/>
          </a:solidFill>
          <a:ln w="12700">
            <a:solidFill>
              <a:schemeClr val="bg2"/>
            </a:solidFill>
            <a:prstDash val="solid"/>
          </a:ln>
        </p:spPr>
      </p:sp>
      <p:sp>
        <p:nvSpPr>
          <p:cNvPr id="4" name="Text 2"/>
          <p:cNvSpPr txBox="1"/>
          <p:nvPr/>
        </p:nvSpPr>
        <p:spPr>
          <a:xfrm>
            <a:off x="731520" y="1417320"/>
            <a:ext cx="2194560" cy="822960"/>
          </a:xfrm>
          <a:prstGeom prst="rect">
            <a:avLst/>
          </a:prstGeom>
          <a:noFill/>
          <a:ln/>
        </p:spPr>
        <p:txBody>
          <a:bodyPr wrap="square" lIns="0" tIns="0" rIns="0" bIns="0" rtlCol="0" anchor="ctr"/>
          <a:lstStyle/>
          <a:p>
            <a:pPr indent="0" marL="0">
              <a:buNone/>
            </a:pPr>
            <a:r>
              <a:rPr lang="en-US" sz="5400" b="1" dirty="0">
                <a:solidFill>
                  <a:schemeClr val="tx1"/>
                </a:solidFill>
                <a:latin typeface="Cambria" pitchFamily="34" charset="0"/>
                <a:ea typeface="Cambria" pitchFamily="34" charset="-122"/>
                <a:cs typeface="Cambria" pitchFamily="34" charset="-120"/>
              </a:rPr>
              <a:t>6</a:t>
            </a:r>
            <a:endParaRPr lang="en-US" sz="5400" dirty="0"/>
          </a:p>
        </p:txBody>
      </p:sp>
      <p:sp>
        <p:nvSpPr>
          <p:cNvPr id="5" name="Text 3"/>
          <p:cNvSpPr txBox="1"/>
          <p:nvPr/>
        </p:nvSpPr>
        <p:spPr>
          <a:xfrm>
            <a:off x="7315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pares planta origen → destino evaluados técnicamente</a:t>
            </a:r>
            <a:endParaRPr lang="en-US" sz="1400" dirty="0"/>
          </a:p>
        </p:txBody>
      </p:sp>
      <p:sp>
        <p:nvSpPr>
          <p:cNvPr id="6" name="tarjeta 2"/>
          <p:cNvSpPr/>
          <p:nvPr/>
        </p:nvSpPr>
        <p:spPr>
          <a:xfrm>
            <a:off x="3291840" y="1371600"/>
            <a:ext cx="2560320" cy="1828800"/>
          </a:xfrm>
          <a:prstGeom prst="rect">
            <a:avLst/>
          </a:prstGeom>
          <a:solidFill>
            <a:schemeClr val="bg2"/>
          </a:solidFill>
          <a:ln w="12700">
            <a:solidFill>
              <a:schemeClr val="bg2"/>
            </a:solidFill>
            <a:prstDash val="solid"/>
          </a:ln>
        </p:spPr>
      </p:sp>
      <p:sp>
        <p:nvSpPr>
          <p:cNvPr id="7" name="Text 5"/>
          <p:cNvSpPr txBox="1"/>
          <p:nvPr/>
        </p:nvSpPr>
        <p:spPr>
          <a:xfrm>
            <a:off x="3474720" y="1417320"/>
            <a:ext cx="2194560" cy="82296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a:t>
            </a:r>
            <a:endParaRPr lang="en-US" sz="5400" dirty="0"/>
          </a:p>
        </p:txBody>
      </p:sp>
      <p:sp>
        <p:nvSpPr>
          <p:cNvPr id="8" name="Text 6"/>
          <p:cNvSpPr txBox="1"/>
          <p:nvPr/>
        </p:nvSpPr>
        <p:spPr>
          <a:xfrm>
            <a:off x="34747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réplica SÍ, condicionada a confirmar el sitio: Pilgrim's Tepeji</a:t>
            </a:r>
            <a:endParaRPr lang="en-US" sz="1400" dirty="0"/>
          </a:p>
        </p:txBody>
      </p:sp>
      <p:sp>
        <p:nvSpPr>
          <p:cNvPr id="9" name="tarjeta 3"/>
          <p:cNvSpPr/>
          <p:nvPr/>
        </p:nvSpPr>
        <p:spPr>
          <a:xfrm>
            <a:off x="6035040" y="1371600"/>
            <a:ext cx="2560320" cy="1828800"/>
          </a:xfrm>
          <a:prstGeom prst="rect">
            <a:avLst/>
          </a:prstGeom>
          <a:solidFill>
            <a:schemeClr val="bg2"/>
          </a:solidFill>
          <a:ln w="12700">
            <a:solidFill>
              <a:schemeClr val="bg2"/>
            </a:solidFill>
            <a:prstDash val="solid"/>
          </a:ln>
        </p:spPr>
      </p:sp>
      <p:sp>
        <p:nvSpPr>
          <p:cNvPr id="10" name="Text 8"/>
          <p:cNvSpPr txBox="1"/>
          <p:nvPr/>
        </p:nvSpPr>
        <p:spPr>
          <a:xfrm>
            <a:off x="6217920" y="1417320"/>
            <a:ext cx="2194560" cy="82296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4</a:t>
            </a:r>
            <a:endParaRPr lang="en-US" sz="5400" dirty="0"/>
          </a:p>
        </p:txBody>
      </p:sp>
      <p:sp>
        <p:nvSpPr>
          <p:cNvPr id="11" name="Text 9"/>
          <p:cNvSpPr txBox="1"/>
          <p:nvPr/>
        </p:nvSpPr>
        <p:spPr>
          <a:xfrm>
            <a:off x="62179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PARCIAL: Bachoco Lagos, SuKarne TIF 718, Pilgrim's Toluca y Bafar Lerma</a:t>
            </a:r>
            <a:endParaRPr lang="en-US" sz="1400" dirty="0"/>
          </a:p>
        </p:txBody>
      </p:sp>
      <p:sp>
        <p:nvSpPr>
          <p:cNvPr id="12" name="tarjeta 4"/>
          <p:cNvSpPr/>
          <p:nvPr/>
        </p:nvSpPr>
        <p:spPr>
          <a:xfrm>
            <a:off x="8778240" y="1371600"/>
            <a:ext cx="2560320" cy="1828800"/>
          </a:xfrm>
          <a:prstGeom prst="rect">
            <a:avLst/>
          </a:prstGeom>
          <a:solidFill>
            <a:schemeClr val="bg2"/>
          </a:solidFill>
          <a:ln w="12700">
            <a:solidFill>
              <a:schemeClr val="bg2"/>
            </a:solidFill>
            <a:prstDash val="solid"/>
          </a:ln>
        </p:spPr>
      </p:sp>
      <p:sp>
        <p:nvSpPr>
          <p:cNvPr id="13" name="Text 11"/>
          <p:cNvSpPr txBox="1"/>
          <p:nvPr/>
        </p:nvSpPr>
        <p:spPr>
          <a:xfrm>
            <a:off x="8961120" y="1417320"/>
            <a:ext cx="2194560" cy="82296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14" name="Text 12"/>
          <p:cNvSpPr txBox="1"/>
          <p:nvPr/>
        </p:nvSpPr>
        <p:spPr>
          <a:xfrm>
            <a:off x="89611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se sostiene: SuKarne TIF 94 Zapopan (planta de cocción, sin sacrificio)</a:t>
            </a:r>
            <a:endParaRPr lang="en-US" sz="1400" dirty="0"/>
          </a:p>
        </p:txBody>
      </p:sp>
      <p:sp>
        <p:nvSpPr>
          <p:cNvPr id="15" name="Text 13"/>
          <p:cNvSpPr txBox="1"/>
          <p:nvPr/>
        </p:nvSpPr>
        <p:spPr>
          <a:xfrm>
            <a:off x="548640" y="3429000"/>
            <a:ext cx="11091672" cy="251460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latin typeface="Calibri" pitchFamily="34" charset="0"/>
                <a:ea typeface="Calibri" pitchFamily="34" charset="-122"/>
                <a:cs typeface="Calibri" pitchFamily="34" charset="-120"/>
              </a:rPr>
              <a:t>Lo que hay que saber</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Bachoco Lagos de Moreno no es prospección nueva: el CRM tiene la oportunidad perdida «7.1 PCC C2B-Bachoco Lagos- Bamac Guadalajara» (2020; motivo no disponible). Compañeros de otras regiones ya atienden la cuenta; falta confirmar si incluye Lagos.</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Bafar tiene 0 ganadas en el CRM (corte 12-ago-2026), pero La Piedad ya está en trabajo: dos oportunidades abiertas por 650,220 y 265,000 MXN de potencial anual registrado (lámina 8).</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Sigma, con 15 establecimientos TIF en 8 estados, queda como hallazgo adicional (lámina 9).</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Esta presentación cubre un mercado candidato, proteína animal. La selección de tres mercados y nueve usuarios sigue abierta.</a:t>
            </a:r>
            <a:endParaRPr lang="en-US" sz="1500" dirty="0"/>
          </a:p>
        </p:txBody>
      </p:sp>
      <p:sp>
        <p:nvSpPr>
          <p:cNvPr id="16" name="Text 14"/>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validación técnica de réplicas, 12-sep-2026, ajustada el 14-oct-2026 (Lagos baja a parcial). Las réplicas se confirman en visita a planta.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Macro: el campo creció 4.0% en 2025; la industria cayó 1.1%</a:t>
            </a:r>
            <a:endParaRPr lang="en-US" sz="2800" dirty="0"/>
          </a:p>
        </p:txBody>
      </p:sp>
      <p:graphicFrame>
        <p:nvGraphicFramePr>
          <p:cNvPr id="3" name="Chart 0" descr=""/>
          <p:cNvGraphicFramePr/>
          <p:nvPr/>
        </p:nvGraphicFramePr>
        <p:xfrm>
          <a:off x="548640" y="1371600"/>
          <a:ext cx="6309360" cy="4206240"/>
        </p:xfrm>
        <a:graphic xmlns:a="http://schemas.openxmlformats.org/drawingml/2006/main">
          <a:graphicData uri="http://schemas.openxmlformats.org/drawingml/2006/chart">
            <c:chart xmlns:c="http://schemas.openxmlformats.org/drawingml/2006/chart" r:id="rId1"/>
          </a:graphicData>
        </a:graphic>
      </p:graphicFrame>
      <p:sp>
        <p:nvSpPr>
          <p:cNvPr id="4" name="panel lectura"/>
          <p:cNvSpPr/>
          <p:nvPr/>
        </p:nvSpPr>
        <p:spPr>
          <a:xfrm>
            <a:off x="7223760" y="1371600"/>
            <a:ext cx="4416552" cy="4206240"/>
          </a:xfrm>
          <a:prstGeom prst="rect">
            <a:avLst/>
          </a:prstGeom>
          <a:solidFill>
            <a:schemeClr val="bg2"/>
          </a:solidFill>
          <a:ln w="12700">
            <a:solidFill>
              <a:schemeClr val="bg2"/>
            </a:solidFill>
            <a:prstDash val="solid"/>
          </a:ln>
        </p:spPr>
      </p:sp>
      <p:sp>
        <p:nvSpPr>
          <p:cNvPr id="5" name="Text 2"/>
          <p:cNvSpPr txBox="1"/>
          <p:nvPr/>
        </p:nvSpPr>
        <p:spPr>
          <a:xfrm>
            <a:off x="7406640" y="1508760"/>
            <a:ext cx="4050792" cy="39319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latin typeface="Calibri" pitchFamily="34" charset="0"/>
                <a:ea typeface="Calibri" pitchFamily="34" charset="-122"/>
                <a:cs typeface="Calibri" pitchFamily="34" charset="-120"/>
              </a:rPr>
              <a:t>Cómo leerlo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El PIB primario tuvo su mejor desempeño en 13 años (SIAP/SADER con base en INEGI, 23-feb-2026).</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La fuente no desglosa cuánto del 4.0% es ganadería, por eso no se atribuye a proteína animal.</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El dato macro explica por qué el mercado es candidato, pero la reposición de bandas y mangueras se prueba planta por planta.</a:t>
            </a:r>
            <a:endParaRPr lang="en-US" sz="1500" dirty="0"/>
          </a:p>
        </p:txBody>
      </p:sp>
      <p:sp>
        <p:nvSpPr>
          <p:cNvPr id="6" name="Text 3"/>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SIAP/SADER, «El PIB primario tiene su mejor desempeño en trece años al crecer 4.0% en 2025», 23-feb-2026, gob.mx/agricultura/dgsiap/articulos/el-pib-primario-tiene-su-mejor-desempeno-en-trece-anos-al-crecer-4-0-en-2025</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Carne: consumo +4.5% y producción +2.6% en 2025</a:t>
            </a:r>
            <a:endParaRPr lang="en-US" sz="2800" dirty="0"/>
          </a:p>
        </p:txBody>
      </p:sp>
      <p:graphicFrame>
        <p:nvGraphicFramePr>
          <p:cNvPr id="3" name="Chart 0" descr=""/>
          <p:cNvGraphicFramePr/>
          <p:nvPr/>
        </p:nvGraphicFramePr>
        <p:xfrm>
          <a:off x="548640" y="1371600"/>
          <a:ext cx="42062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526280"/>
            <a:ext cx="4206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Consumo total: 11.3 millones de toneladas (Comecarne, citado por prensa); es consumo aparente, no implica más turnos en planta.</a:t>
            </a:r>
            <a:endParaRPr lang="en-US" sz="1400" dirty="0"/>
          </a:p>
        </p:txBody>
      </p:sp>
      <p:sp>
        <p:nvSpPr>
          <p:cNvPr id="5" name="tarjeta Pronóstico 2026"/>
          <p:cNvSpPr/>
          <p:nvPr/>
        </p:nvSpPr>
        <p:spPr>
          <a:xfrm>
            <a:off x="5074920" y="1371600"/>
            <a:ext cx="2194560" cy="3977640"/>
          </a:xfrm>
          <a:prstGeom prst="rect">
            <a:avLst/>
          </a:prstGeom>
          <a:solidFill>
            <a:schemeClr val="bg2"/>
          </a:solidFill>
          <a:ln w="12700">
            <a:solidFill>
              <a:schemeClr val="bg2"/>
            </a:solidFill>
            <a:prstDash val="solid"/>
          </a:ln>
        </p:spPr>
      </p:sp>
      <p:sp>
        <p:nvSpPr>
          <p:cNvPr id="6" name="Text 3"/>
          <p:cNvSpPr txBox="1"/>
          <p:nvPr/>
        </p:nvSpPr>
        <p:spPr>
          <a:xfrm>
            <a:off x="5212080"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2026</a:t>
            </a:r>
            <a:endParaRPr lang="en-US" sz="1700" dirty="0"/>
          </a:p>
        </p:txBody>
      </p:sp>
      <p:sp>
        <p:nvSpPr>
          <p:cNvPr id="7" name="etiqueta Pronóstico 2026"/>
          <p:cNvSpPr/>
          <p:nvPr/>
        </p:nvSpPr>
        <p:spPr>
          <a:xfrm>
            <a:off x="5212080" y="2194560"/>
            <a:ext cx="1920240" cy="274320"/>
          </a:xfrm>
          <a:prstGeom prst="roundRect">
            <a:avLst>
              <a:gd name="adj" fmla="val 50000"/>
            </a:avLst>
          </a:prstGeom>
          <a:solidFill>
            <a:schemeClr val="accent2"/>
          </a:solidFill>
          <a:ln w="12700">
            <a:solidFill>
              <a:schemeClr val="accent2"/>
            </a:solidFill>
            <a:prstDash val="solid"/>
          </a:ln>
        </p:spPr>
      </p:sp>
      <p:sp>
        <p:nvSpPr>
          <p:cNvPr id="8" name="Text 5"/>
          <p:cNvSpPr txBox="1"/>
          <p:nvPr/>
        </p:nvSpPr>
        <p:spPr>
          <a:xfrm>
            <a:off x="5212080"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PRONÓSTICO</a:t>
            </a:r>
            <a:endParaRPr lang="en-US" sz="1100" dirty="0"/>
          </a:p>
        </p:txBody>
      </p:sp>
      <p:sp>
        <p:nvSpPr>
          <p:cNvPr id="9" name="Text 6"/>
          <p:cNvSpPr txBox="1"/>
          <p:nvPr/>
        </p:nvSpPr>
        <p:spPr>
          <a:xfrm>
            <a:off x="5212080"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USDA: pie de cría porcino +2% (inventario, no producción; feb-2026); pollo +2% en producción (reporte 2025). Bovino: sacrificio al alza, sin cifra en el resumen consultado.</a:t>
            </a:r>
            <a:endParaRPr lang="en-US" sz="1500" dirty="0"/>
          </a:p>
        </p:txBody>
      </p:sp>
      <p:sp>
        <p:nvSpPr>
          <p:cNvPr id="10" name="tarjeta Inversión anunciada"/>
          <p:cNvSpPr/>
          <p:nvPr/>
        </p:nvSpPr>
        <p:spPr>
          <a:xfrm>
            <a:off x="7415784" y="1371600"/>
            <a:ext cx="2194560" cy="3977640"/>
          </a:xfrm>
          <a:prstGeom prst="rect">
            <a:avLst/>
          </a:prstGeom>
          <a:solidFill>
            <a:schemeClr val="bg2"/>
          </a:solidFill>
          <a:ln w="12700">
            <a:solidFill>
              <a:schemeClr val="bg2"/>
            </a:solidFill>
            <a:prstDash val="solid"/>
          </a:ln>
        </p:spPr>
      </p:sp>
      <p:sp>
        <p:nvSpPr>
          <p:cNvPr id="11" name="Text 8"/>
          <p:cNvSpPr txBox="1"/>
          <p:nvPr/>
        </p:nvSpPr>
        <p:spPr>
          <a:xfrm>
            <a:off x="7552944"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Inversión anunciada</a:t>
            </a:r>
            <a:endParaRPr lang="en-US" sz="1700" dirty="0"/>
          </a:p>
        </p:txBody>
      </p:sp>
      <p:sp>
        <p:nvSpPr>
          <p:cNvPr id="12" name="etiqueta Inversión anunciada"/>
          <p:cNvSpPr/>
          <p:nvPr/>
        </p:nvSpPr>
        <p:spPr>
          <a:xfrm>
            <a:off x="7552944" y="2194560"/>
            <a:ext cx="1920240" cy="274320"/>
          </a:xfrm>
          <a:prstGeom prst="roundRect">
            <a:avLst>
              <a:gd name="adj" fmla="val 50000"/>
            </a:avLst>
          </a:prstGeom>
          <a:solidFill>
            <a:schemeClr val="accent3"/>
          </a:solidFill>
          <a:ln w="12700">
            <a:solidFill>
              <a:schemeClr val="accent3"/>
            </a:solidFill>
            <a:prstDash val="solid"/>
          </a:ln>
        </p:spPr>
      </p:sp>
      <p:sp>
        <p:nvSpPr>
          <p:cNvPr id="13" name="Text 10"/>
          <p:cNvSpPr txBox="1"/>
          <p:nvPr/>
        </p:nvSpPr>
        <p:spPr>
          <a:xfrm>
            <a:off x="7552944"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NO ES DEMANDA ACTUAL</a:t>
            </a:r>
            <a:endParaRPr lang="en-US" sz="1100" dirty="0"/>
          </a:p>
        </p:txBody>
      </p:sp>
      <p:sp>
        <p:nvSpPr>
          <p:cNvPr id="14" name="Text 11"/>
          <p:cNvSpPr txBox="1"/>
          <p:nvPr/>
        </p:nvSpPr>
        <p:spPr>
          <a:xfrm>
            <a:off x="7552944"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Pilgrim's: 1,300 millones de dólares en México 2026–2030, +38% de capacidad (Presidencia, 15-ene-2026). Bafar: parque agroindustrial de La Piedad, 650 mdd, en obra (Reporte Anual 2024).</a:t>
            </a:r>
            <a:endParaRPr lang="en-US" sz="1500" dirty="0"/>
          </a:p>
        </p:txBody>
      </p:sp>
      <p:sp>
        <p:nvSpPr>
          <p:cNvPr id="15" name="tarjeta Pronóstico 2027"/>
          <p:cNvSpPr/>
          <p:nvPr/>
        </p:nvSpPr>
        <p:spPr>
          <a:xfrm>
            <a:off x="9756648" y="1371600"/>
            <a:ext cx="2194560" cy="3977640"/>
          </a:xfrm>
          <a:prstGeom prst="rect">
            <a:avLst/>
          </a:prstGeom>
          <a:solidFill>
            <a:schemeClr val="bg2"/>
          </a:solidFill>
          <a:ln w="12700">
            <a:solidFill>
              <a:schemeClr val="bg2"/>
            </a:solidFill>
            <a:prstDash val="solid"/>
          </a:ln>
        </p:spPr>
      </p:sp>
      <p:sp>
        <p:nvSpPr>
          <p:cNvPr id="16" name="Text 13"/>
          <p:cNvSpPr txBox="1"/>
          <p:nvPr/>
        </p:nvSpPr>
        <p:spPr>
          <a:xfrm>
            <a:off x="9893808"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2027</a:t>
            </a:r>
            <a:endParaRPr lang="en-US" sz="1700" dirty="0"/>
          </a:p>
        </p:txBody>
      </p:sp>
      <p:sp>
        <p:nvSpPr>
          <p:cNvPr id="17" name="etiqueta Pronóstico 2027"/>
          <p:cNvSpPr/>
          <p:nvPr/>
        </p:nvSpPr>
        <p:spPr>
          <a:xfrm>
            <a:off x="9893808" y="2194560"/>
            <a:ext cx="1920240" cy="274320"/>
          </a:xfrm>
          <a:prstGeom prst="roundRect">
            <a:avLst>
              <a:gd name="adj" fmla="val 50000"/>
            </a:avLst>
          </a:prstGeom>
          <a:solidFill>
            <a:schemeClr val="accent4"/>
          </a:solidFill>
          <a:ln w="12700">
            <a:solidFill>
              <a:schemeClr val="accent4"/>
            </a:solidFill>
            <a:prstDash val="solid"/>
          </a:ln>
        </p:spPr>
      </p:sp>
      <p:sp>
        <p:nvSpPr>
          <p:cNvPr id="18" name="Text 15"/>
          <p:cNvSpPr txBox="1"/>
          <p:nvPr/>
        </p:nvSpPr>
        <p:spPr>
          <a:xfrm>
            <a:off x="9893808"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SIN CIFRA</a:t>
            </a:r>
            <a:endParaRPr lang="en-US" sz="1100" dirty="0"/>
          </a:p>
        </p:txBody>
      </p:sp>
      <p:sp>
        <p:nvSpPr>
          <p:cNvPr id="19" name="Text 16"/>
          <p:cNvSpPr txBox="1"/>
          <p:nvPr/>
        </p:nvSpPr>
        <p:spPr>
          <a:xfrm>
            <a:off x="9893808"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Las fuentes consultadas no publican una cifra de crecimiento para 2027.</a:t>
            </a:r>
            <a:endParaRPr lang="en-US" sz="1500" dirty="0"/>
          </a:p>
        </p:txBody>
      </p:sp>
      <p:sp>
        <p:nvSpPr>
          <p:cNvPr id="20" name="Text 17"/>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Comecarne, Compendio 2026, feb-2026 (comecarne.org/compendio26). USDA FAS GAIN, Mexico Livestock and Products Semi-annual, feb-2026. USDA GAIN Poultry Annual MX2025-0045. Presidencia/Plan México, 15-ene-2026. Reporte Anual 2024 de Bafar.</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Por qué proteína animal: datos propios y de mercado</a:t>
            </a:r>
            <a:endParaRPr lang="en-US" sz="2800" dirty="0"/>
          </a:p>
        </p:txBody>
      </p:sp>
      <p:graphicFrame>
        <p:nvGraphicFramePr>
          <p:cNvPr id="3" name="Chart 0" descr=""/>
          <p:cNvGraphicFramePr/>
          <p:nvPr/>
        </p:nvGraphicFramePr>
        <p:xfrm>
          <a:off x="548640" y="1234440"/>
          <a:ext cx="4572000" cy="25146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3794760"/>
            <a:ext cx="4572000" cy="2148840"/>
          </a:xfrm>
          <a:prstGeom prst="rect">
            <a:avLst/>
          </a:prstGeom>
          <a:noFill/>
          <a:ln/>
        </p:spPr>
        <p:txBody>
          <a:bodyPr wrap="square" lIns="0" tIns="0" rIns="0" bIns="0" rtlCol="0" anchor="t"/>
          <a:lstStyle/>
          <a:p>
            <a:pPr indent="0" marL="0">
              <a:spcAft>
                <a:spcPts val="300"/>
              </a:spcAft>
              <a:buNone/>
            </a:pPr>
            <a:r>
              <a:rPr lang="en-US" sz="1300" b="1" dirty="0">
                <a:solidFill>
                  <a:schemeClr val="tx1"/>
                </a:solidFill>
                <a:latin typeface="Calibri" pitchFamily="34" charset="0"/>
                <a:ea typeface="Calibri" pitchFamily="34" charset="-122"/>
                <a:cs typeface="Calibri" pitchFamily="34" charset="-120"/>
              </a:rPr>
              <a:t>Historial propio (CRM, oportunidades elegibles)</a:t>
            </a:r>
            <a:endParaRPr lang="en-US" sz="1100" dirty="0"/>
          </a:p>
          <a:p>
            <a:pPr marL="342900" indent="-342900">
              <a:spcAft>
                <a:spcPts val="300"/>
              </a:spcAft>
              <a:buSzPct val="100000"/>
              <a:buChar char="•"/>
            </a:pPr>
            <a:r>
              <a:rPr lang="en-US" sz="1100" dirty="0">
                <a:solidFill>
                  <a:schemeClr val="tx1"/>
                </a:solidFill>
                <a:latin typeface="Calibri" pitchFamily="34" charset="0"/>
                <a:ea typeface="Calibri" pitchFamily="34" charset="-122"/>
                <a:cs typeface="Calibri" pitchFamily="34" charset="-120"/>
              </a:rPr>
              <a:t>Proteína animal: 60 claves en 19 estados, 149 ganadas y 54 perdidas; 53.0 millones MXN de potencial anual registrado, acumulado.</a:t>
            </a:r>
            <a:endParaRPr lang="en-US" sz="1100" dirty="0"/>
          </a:p>
          <a:p>
            <a:pPr marL="342900" indent="-342900">
              <a:spcAft>
                <a:spcPts val="300"/>
              </a:spcAft>
              <a:buSzPct val="100000"/>
              <a:buChar char="•"/>
            </a:pPr>
            <a:r>
              <a:rPr lang="en-US" sz="1100" dirty="0">
                <a:solidFill>
                  <a:schemeClr val="tx1"/>
                </a:solidFill>
                <a:latin typeface="Calibri" pitchFamily="34" charset="0"/>
                <a:ea typeface="Calibri" pitchFamily="34" charset="-122"/>
                <a:cs typeface="Calibri" pitchFamily="34" charset="-120"/>
              </a:rPr>
              <a:t>El 73.4% se concentra en 4 claves (Gusi, Granjas Carroll, Pecuario San Antonio y Proan: 58 de las 149 ganadas); sin ellas es 65.0%. Los 4 grupos de esta presentación suman 51 ganadas y 28 perdidas (64.6%), en línea con el promedio.</a:t>
            </a:r>
            <a:endParaRPr lang="en-US" sz="1100" dirty="0"/>
          </a:p>
          <a:p>
            <a:pPr marL="342900" indent="-342900">
              <a:buSzPct val="100000"/>
              <a:buChar char="•"/>
            </a:pPr>
            <a:r>
              <a:rPr lang="en-US" sz="1100" dirty="0">
                <a:solidFill>
                  <a:schemeClr val="tx1"/>
                </a:solidFill>
                <a:latin typeface="Calibri" pitchFamily="34" charset="0"/>
                <a:ea typeface="Calibri" pitchFamily="34" charset="-122"/>
                <a:cs typeface="Calibri" pitchFamily="34" charset="-120"/>
              </a:rPr>
              <a:t>Food &amp; Beverage es el 3.er mercado del CRM por ganadas (391) y por potencial anual registrado (128.8 millones MXN), tras Manufactura general y Minería; en potencial casi empata con Vehículos pesados (126.3).</a:t>
            </a:r>
            <a:endParaRPr lang="en-US" sz="1100" dirty="0"/>
          </a:p>
        </p:txBody>
      </p:sp>
      <p:sp>
        <p:nvSpPr>
          <p:cNvPr id="5" name="bloque Mercado en crecimiento"/>
          <p:cNvSpPr/>
          <p:nvPr/>
        </p:nvSpPr>
        <p:spPr>
          <a:xfrm>
            <a:off x="5440680" y="1234440"/>
            <a:ext cx="6199632" cy="1490472"/>
          </a:xfrm>
          <a:prstGeom prst="rect">
            <a:avLst/>
          </a:prstGeom>
          <a:solidFill>
            <a:schemeClr val="bg2"/>
          </a:solidFill>
          <a:ln w="12700">
            <a:solidFill>
              <a:schemeClr val="bg2"/>
            </a:solidFill>
            <a:prstDash val="solid"/>
          </a:ln>
        </p:spPr>
      </p:sp>
      <p:sp>
        <p:nvSpPr>
          <p:cNvPr id="6" name="Text 3"/>
          <p:cNvSpPr txBox="1"/>
          <p:nvPr/>
        </p:nvSpPr>
        <p:spPr>
          <a:xfrm>
            <a:off x="5577840" y="1307592"/>
            <a:ext cx="594360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Mercado en crecimiento</a:t>
            </a:r>
            <a:endParaRPr lang="en-US" sz="1600" dirty="0"/>
          </a:p>
        </p:txBody>
      </p:sp>
      <p:sp>
        <p:nvSpPr>
          <p:cNvPr id="7" name="Text 4"/>
          <p:cNvSpPr txBox="1"/>
          <p:nvPr/>
        </p:nvSpPr>
        <p:spPr>
          <a:xfrm>
            <a:off x="5577840" y="1655064"/>
            <a:ext cx="5925312" cy="1042416"/>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La producción de carne creció 2.6% en 2025; el consumo creció más (+4.5%, 11.3 millones de toneladas, máximo histórico), y esa diferencia se cubre con importación, no con más turnos en planta. PIB primario +4.0% frente a industria −1.1%. Pronóstico USDA 2026: pollo +2%, pie de cría porcino +2%.</a:t>
            </a:r>
            <a:endParaRPr lang="en-US" sz="1300" dirty="0"/>
          </a:p>
        </p:txBody>
      </p:sp>
      <p:sp>
        <p:nvSpPr>
          <p:cNvPr id="8" name="bloque Inversión anunciada"/>
          <p:cNvSpPr/>
          <p:nvPr/>
        </p:nvSpPr>
        <p:spPr>
          <a:xfrm>
            <a:off x="5440680" y="2816352"/>
            <a:ext cx="6199632" cy="1490472"/>
          </a:xfrm>
          <a:prstGeom prst="rect">
            <a:avLst/>
          </a:prstGeom>
          <a:solidFill>
            <a:schemeClr val="bg2"/>
          </a:solidFill>
          <a:ln w="12700">
            <a:solidFill>
              <a:schemeClr val="bg2"/>
            </a:solidFill>
            <a:prstDash val="solid"/>
          </a:ln>
        </p:spPr>
      </p:sp>
      <p:sp>
        <p:nvSpPr>
          <p:cNvPr id="9" name="Text 6"/>
          <p:cNvSpPr txBox="1"/>
          <p:nvPr/>
        </p:nvSpPr>
        <p:spPr>
          <a:xfrm>
            <a:off x="5577840" y="2889504"/>
            <a:ext cx="594360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Inversión anunciada</a:t>
            </a:r>
            <a:endParaRPr lang="en-US" sz="1600" dirty="0"/>
          </a:p>
        </p:txBody>
      </p:sp>
      <p:sp>
        <p:nvSpPr>
          <p:cNvPr id="10" name="Text 7"/>
          <p:cNvSpPr txBox="1"/>
          <p:nvPr/>
        </p:nvSpPr>
        <p:spPr>
          <a:xfrm>
            <a:off x="5577840" y="3236976"/>
            <a:ext cx="5925312" cy="1042416"/>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Pilgrim's: 1,300 millones de dólares en México 2026–2030 (+38% de capacidad). Bafar: parque de La Piedad, 650 mdd. Son proyectos, no demanda actual: la reposición llega después del arranque.</a:t>
            </a:r>
            <a:endParaRPr lang="en-US" sz="1300" dirty="0"/>
          </a:p>
        </p:txBody>
      </p:sp>
      <p:sp>
        <p:nvSpPr>
          <p:cNvPr id="11" name="bloque Réplica por validar"/>
          <p:cNvSpPr/>
          <p:nvPr/>
        </p:nvSpPr>
        <p:spPr>
          <a:xfrm>
            <a:off x="5440680" y="4398264"/>
            <a:ext cx="6199632" cy="1490472"/>
          </a:xfrm>
          <a:prstGeom prst="rect">
            <a:avLst/>
          </a:prstGeom>
          <a:solidFill>
            <a:schemeClr val="bg2"/>
          </a:solidFill>
          <a:ln w="12700">
            <a:solidFill>
              <a:schemeClr val="bg2"/>
            </a:solidFill>
            <a:prstDash val="solid"/>
          </a:ln>
        </p:spPr>
      </p:sp>
      <p:sp>
        <p:nvSpPr>
          <p:cNvPr id="12" name="Text 9"/>
          <p:cNvSpPr txBox="1"/>
          <p:nvPr/>
        </p:nvSpPr>
        <p:spPr>
          <a:xfrm>
            <a:off x="5577840" y="4471416"/>
            <a:ext cx="594360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Réplica por validar</a:t>
            </a:r>
            <a:endParaRPr lang="en-US" sz="1600" dirty="0"/>
          </a:p>
        </p:txBody>
      </p:sp>
      <p:sp>
        <p:nvSpPr>
          <p:cNvPr id="13" name="Text 10"/>
          <p:cNvSpPr txBox="1"/>
          <p:nvPr/>
        </p:nvSpPr>
        <p:spPr>
          <a:xfrm>
            <a:off x="5577840" y="4818888"/>
            <a:ext cx="5925312" cy="1042416"/>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Grupos con muchas plantas: Bachoco 64 (10 procesadoras), Sigma 24 en México, SuKarne 10 TIF, Pilgrim's 6 TIF. De 6 pares evaluados, 1 se sostiene con condición (lámina 2): llevar un caso ganado a otra planta es una posibilidad por validar planta por planta.</a:t>
            </a:r>
            <a:endParaRPr lang="en-US" sz="1300" dirty="0"/>
          </a:p>
        </p:txBody>
      </p:sp>
      <p:sp>
        <p:nvSpPr>
          <p:cNvPr id="14" name="Text 1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Límites: sin cifra publicada para 2027; el CRM clasifica distinto al mismo cliente según el año (Food &amp; Beverage no muestra ganadas en 2019 y 2020); las 60 claves se identificaron por nombre. Fuentes: CRM de Gates (corte 12-ago-2026); Comecarne; SIAP/SADER; USDA FAS; Presidencia; Directorio TIF SENASICA, 7-sep-2026; informes de cada grupo (apéndices 1 y 2).</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Experiencia ganada que sirve de origen para cada grupo</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1234440"/>
                <a:gridCol w="4846320"/>
                <a:gridCol w="1005840"/>
                <a:gridCol w="914400"/>
                <a:gridCol w="1737360"/>
                <a:gridCol w="1353312"/>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Oportunidad ganada (nomenclatura completa del CRM)</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N.º CRM</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Año de cierre</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Potencial anual registrado, MXN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Familia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3.1 SuKarne Lucero - Planta TIF 645 - Durango FP-HYDRAULICS-653517</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653517</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412,664.84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HID MXT Ganaderia Integral Monarca Su Karne Vista Hermosa, - Ryasa Morelia - 717533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717533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257,915.55</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PCC SuKarne Lucero - Planta TIF 645 - Durango PT-PU BELTS-574398</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7.1 V-B SuKarne Lucero - Planta TIF 645 - Durango PT-V-BELTS-656640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574398</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656640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2022</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262,738.95</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309,498.58</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Bachoco</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V-Belts Bachoco, S.A. de C.V. - Planta procesadora de aves Guanajuato - Guanajuato PT-V-BELTS-643201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643201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538,004.45</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Pilgrim's Pride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TPU-Pilgrims Pride Gomez Palacio -Rybalsa-Torreón</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744810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206,332.51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Bafar</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Sin caso propio. Caso espejo de Qualtia: 2.2 QUALTIA ALIMENTOS MANGUERA Y INDS, E HIDRAULICA BANDAS MECTROL_</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O-00244438</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306,528.89</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por definir</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160520"/>
            <a:ext cx="11091672"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Montos: potencial anual registrado en el CRM, no facturación. Ryasa y Rybalsa son distribuidores: canal, no usuario final.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La nomenclatura da solo la familia de producto. Máquina, número de parte e intervalo de reemplazo se definen en visita a planta, igual que si la banda TPU de Pilgrim's es de transmisión o de transporte, cuál de los TIF A-88, A-14 y 794 de Gómez Palacio es el origen y el domicilio del origen de Bachoco.</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SuKarne: las bandas de Lucero sostienen la réplica en TIF 718; la manguera hidráulica ligada a sacrificio, rendimiento y taller no aplica allí. Bafar: réplica de perfil de negocio, evidencia más débil.</a:t>
            </a:r>
            <a:endParaRPr lang="en-US" sz="1400" dirty="0"/>
          </a:p>
        </p:txBody>
      </p:sp>
      <p:sp>
        <p:nvSpPr>
          <p:cNvPr id="5" name="Text 2"/>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CRM de Gates (oportunidades elegibles, actualización máxima 12-ago-2026). Año de cierre según el campo Año cierre.</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Cuatro grupos, cuatro situaciones comerciales distintas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1920240"/>
                <a:gridCol w="3017520"/>
                <a:gridCol w="3291840"/>
                <a:gridCol w="2862072"/>
              </a:tblGrid>
              <a:tr h="347472">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Plantas documentadas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Historial en el CRM (solo elegibles)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Contexto y alertas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109728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SuKarne</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CON HISTORIAL GANADO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TIF en 9 domicilios (431 y 561 comparten; el 630 es almacén frigorífico). Varios están a nombre de otras razones sociales del grupo (Vizur, S.K. y, para el 645, Ganadería y Rastro de la Laguna) y se atribuyen por sukarne.com.</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ganadas; suma de potenciales anuales registrados: 2.68 millones MXN. Monarca («TIF 43» en el CRM, «431» en SENASICA y sukarne.com) y Ganadería Integral SK se atribuyen por nombre: sin ellas, 8 ganadas y 2.23 millones.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Posible venta del grupo por más de 2,000 millones de dólares (El Financiero, 4-ago-2026): proceso en curso, sin resultado.</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86868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Bachoco</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ATENDIDO POR OTRAS REGIONES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64 plantas en 10 complejos (Informe Anual 2024).</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31 ganadas; suma 10.59 millones MXN. Lagos de Moreno: «7.1 PCC C2B-Bachoco Lagos- Bamac Guadalajara», perdida en 2020, motivo no disponible.</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Compañeros de otras regiones ya atienden la cuenta, pero sigue siendo buen prospecto. Falta confirmar si incluye la planta de Lagos.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100584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Pilgrim's Pride</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CON HISTORIAL GANADO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TIF en el padrón: 3 en Gómez Palacio, y 1 en Hidalgo, Querétaro y San Luis Potosí.</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ganadas; suma 2.15 millones MXN, de los cuales 1.89 millones en claves de Durango. Hidalgo y Estado de México: sin registros.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Inversión anunciada de 1,300 mdd (2026–2030): expansión de +38% de capacidad; solo 150 mdd del centro del país son modernización. No es demanda actual.</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100584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Grupo Bafar</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EN TRABAJO EN LA PIEDAD</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5"/>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 complejos declarados: Chihuahua, La Piedad, Toluca y Gómez Palacio (Reporte Anual 2024). Compra la carne a terceros: no sacrifica.</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 ganadas en el corte del 12-ago-2026; 2 perdidas en 2023 (PT-PU BELTS, motivo no disponible). La Piedad: dos oportunidades abiertas (lámina 8).</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Ventas netas +14.8% en 2025 y +17.1% en 2T-2026, incluye tiendas propias. Antes de estas oportunidades, Gates casi no tenía presencia en el grupo.</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Sumas = potencial anual registrado de ganadas de varios años (2019–2026), no monto anual ni facturación; pueden repetir importes entre años. Fuera de las elegibles hay 13 ganadas más de Bachoco y 3 de SuKarne, no contadas. Fuentes en el apéndice 2.</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Siete plantas por estado y qué tan firme es cada réplica</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1188720"/>
                <a:gridCol w="2926080"/>
                <a:gridCol w="1188720"/>
                <a:gridCol w="5788152"/>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Estado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Qué falta validar o decidir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Michoacán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Bafar · Complejo productivo La Piedad (incluye el Complejo Agroindustrial de 650 mdd, en obra según el Reporte Anual 2024)</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EN TRABAJO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5"/>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Dos oportunidades abiertas, posteriores al corte del CRM: «3.1 MI Grupo bafar, sab de cv - La piedad FP-HYDRAULICS-813492» (650,220 MXN de potencial anual registrado) y «7.1 PTI Grupo bafar, sab de cv - La piedad- Ryasa Morelia PT-IND SYNCH BELTS-814010» (265,000 MXN; Ryasa es canal). Domicilio y TIF por confirmar (¿TIF 126 de Strattega?). Lo que está en obra no es demanda actual.</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Bachoco · Planta Procesadora de Aves, División Occidente, Lagos de Moreno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Oportunidad perdida «7.1 PCC C2B-Bachoco Lagos- Bamac Guadalajara» (O-00218689, 2020, 834,766.20 MXN registrado; Bamac es canal; motivo no disponible). Sin áreas verificadas en destino ni en origen; sube a SÍ si es el TIF A-183 (la dirección difiere: km 12.5 contra 13.5, otro CP y municipio) y se confirman domicilio y áreas del origen Guanajuato.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Hidalgo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Pilgrim's · Tepeji del Río (¿TIF A-239 «Ocampo»?)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SÍ, CONDICIONADO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Confirmar con el domicilio que son el mismo sitio; si no, baja a PARCIAL. El TIF A-239 declara embutidos y pasta que el origen no tiene: aplicación nueva, no 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Pilgrim's · Toluca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Solo aparece en un directorio telefónico y no está en el padrón TIF. Confirmar que existe y si sacrifica.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Bafar · Lerma de Villada (¿mismo sitio que Complejo Toluca?)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Posible duplicado: usar el Complejo Toluca (Reporte Anual 2024) como referencia principal. No contar dos plantas hasta aclarar.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Tlaxcala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SuKarne · TIF 718 Villa de las Flores (SENASICA: Atlangatepec; Expansión 2023: Tlaxco)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Corte, deshuese, inyección porcina y frío. Capacidad reportada: 120 t/semana (Expansión, 12-abr-2023; vigencia por confirmar; la meta de 840 no está confirmada). No proyectar el consumo del origen.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SuKarne · TIF 94 Zapopan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Planta de cocción sin sacrificio. Solo MRO genérico: sería prospección nueva, no 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Directorio TIF SENASICA, 7-sep-2026 · Reporte Anual 2024 de Bafar · Expansión, 12-abr-2023 · directorios comerciales para Tepeji, Toluca, Lerma y Lagos (apéndice 2) · CRM de Gates. Todas las réplicas se confirman en visita a planta.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Sigma: 15 TIF en 8 estados y sin cuenta propia en 4 de ellos</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040880" cy="914400"/>
        </p:xfrm>
        <a:graphic>
          <a:graphicData uri="http://schemas.openxmlformats.org/drawingml/2006/table">
            <a:tbl>
              <a:tblPr/>
              <a:tblGrid>
                <a:gridCol w="2103120"/>
                <a:gridCol w="493776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Estado con TIF de Sigma</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Historial en el CRM (solo elegibles)</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Xalostoc: 2 ganadas y 1 perdida en 2020; 1.72 millones MXN en las 2 ganadas</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Nuevo León</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Monterrey: 2 ganadas (2020 y 2024); 0.49 millones MXN</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Tonalá (Productos Cárnicos de Occidente, vinculada a Sigma por confirmar): 1 ganada en 2020, 0.37 millones MXN, aparte de las 7</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Hidalgo</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 perdidas en bases de mantenimiento: Pachuca (2021) y Atitalaquia (2022)</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Chihuahua</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Sin cuenta propia en el CRM. Solo una perdida de 2020 (0 MXN) bajo la clave corporativa, cuyo nombre menciona Chihuahua</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Guanajuato</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Sin cuenta propia en el CRM</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Sonora</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Sin cuenta propia en el CRM</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Yucatán</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Sin cuenta propia en el CRM</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Otros estados con historial</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Veracruz (Coatzacoalcos, 1 ganada 2024), San Luis Potosí (Ciudad Valles, 1 ganada 2025) y Tlaxcala (base de mantenimiento Apizaco, 1 ganada 2019)</a:t>
                      </a:r>
                      <a:endParaRPr lang="en-US" sz="1200" dirty="0">
                        <a:latin typeface="Calibri" charset="0"/>
                        <a:ea typeface="Calibri" charset="0"/>
                        <a:cs typeface="Calibri" charset="0"/>
                      </a:endParaRPr>
                    </a:p>
                  </a:txBody>
                  <a:tcPr marL="73152" marR="73152" marT="36576" marB="36576"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arjeta sigma 1"/>
          <p:cNvSpPr/>
          <p:nvPr/>
        </p:nvSpPr>
        <p:spPr>
          <a:xfrm>
            <a:off x="7863840" y="1280160"/>
            <a:ext cx="3776472" cy="1078992"/>
          </a:xfrm>
          <a:prstGeom prst="rect">
            <a:avLst/>
          </a:prstGeom>
          <a:solidFill>
            <a:schemeClr val="bg2"/>
          </a:solidFill>
          <a:ln w="12700">
            <a:solidFill>
              <a:schemeClr val="bg2"/>
            </a:solidFill>
            <a:prstDash val="solid"/>
          </a:ln>
        </p:spPr>
      </p:sp>
      <p:sp>
        <p:nvSpPr>
          <p:cNvPr id="5" name="Text 2"/>
          <p:cNvSpPr txBox="1"/>
          <p:nvPr/>
        </p:nvSpPr>
        <p:spPr>
          <a:xfrm>
            <a:off x="8001000" y="1325880"/>
            <a:ext cx="1097280" cy="96012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15</a:t>
            </a:r>
            <a:endParaRPr lang="en-US" sz="4000" dirty="0"/>
          </a:p>
        </p:txBody>
      </p:sp>
      <p:sp>
        <p:nvSpPr>
          <p:cNvPr id="6" name="Text 3"/>
          <p:cNvSpPr txBox="1"/>
          <p:nvPr/>
        </p:nvSpPr>
        <p:spPr>
          <a:xfrm>
            <a:off x="9098280" y="1325880"/>
            <a:ext cx="2450592" cy="98755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establecimientos TIF en 8 estados (padrón SENASICA, 7-sep-2026)</a:t>
            </a:r>
            <a:endParaRPr lang="en-US" sz="1200" dirty="0"/>
          </a:p>
        </p:txBody>
      </p:sp>
      <p:sp>
        <p:nvSpPr>
          <p:cNvPr id="7" name="tarjeta sigma 2"/>
          <p:cNvSpPr/>
          <p:nvPr/>
        </p:nvSpPr>
        <p:spPr>
          <a:xfrm>
            <a:off x="7863840" y="2468880"/>
            <a:ext cx="3776472" cy="1078992"/>
          </a:xfrm>
          <a:prstGeom prst="rect">
            <a:avLst/>
          </a:prstGeom>
          <a:solidFill>
            <a:schemeClr val="bg2"/>
          </a:solidFill>
          <a:ln w="12700">
            <a:solidFill>
              <a:schemeClr val="bg2"/>
            </a:solidFill>
            <a:prstDash val="solid"/>
          </a:ln>
        </p:spPr>
      </p:sp>
      <p:sp>
        <p:nvSpPr>
          <p:cNvPr id="8" name="Text 5"/>
          <p:cNvSpPr txBox="1"/>
          <p:nvPr/>
        </p:nvSpPr>
        <p:spPr>
          <a:xfrm>
            <a:off x="8001000" y="2514600"/>
            <a:ext cx="1097280" cy="96012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24</a:t>
            </a:r>
            <a:endParaRPr lang="en-US" sz="4000" dirty="0"/>
          </a:p>
        </p:txBody>
      </p:sp>
      <p:sp>
        <p:nvSpPr>
          <p:cNvPr id="9" name="Text 6"/>
          <p:cNvSpPr txBox="1"/>
          <p:nvPr/>
        </p:nvSpPr>
        <p:spPr>
          <a:xfrm>
            <a:off x="9098280" y="2514600"/>
            <a:ext cx="2450592" cy="98755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plantas en México, 11 de carnes frías (Reporte Anual SIGMA 2024)</a:t>
            </a:r>
            <a:endParaRPr lang="en-US" sz="1200" dirty="0"/>
          </a:p>
        </p:txBody>
      </p:sp>
      <p:sp>
        <p:nvSpPr>
          <p:cNvPr id="10" name="tarjeta sigma 3"/>
          <p:cNvSpPr/>
          <p:nvPr/>
        </p:nvSpPr>
        <p:spPr>
          <a:xfrm>
            <a:off x="7863840" y="3657600"/>
            <a:ext cx="3776472" cy="1078992"/>
          </a:xfrm>
          <a:prstGeom prst="rect">
            <a:avLst/>
          </a:prstGeom>
          <a:solidFill>
            <a:schemeClr val="bg2"/>
          </a:solidFill>
          <a:ln w="12700">
            <a:solidFill>
              <a:schemeClr val="bg2"/>
            </a:solidFill>
            <a:prstDash val="solid"/>
          </a:ln>
        </p:spPr>
      </p:sp>
      <p:sp>
        <p:nvSpPr>
          <p:cNvPr id="11" name="Text 8"/>
          <p:cNvSpPr txBox="1"/>
          <p:nvPr/>
        </p:nvSpPr>
        <p:spPr>
          <a:xfrm>
            <a:off x="8001000" y="3703320"/>
            <a:ext cx="1097280" cy="96012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7</a:t>
            </a:r>
            <a:endParaRPr lang="en-US" sz="4000" dirty="0"/>
          </a:p>
        </p:txBody>
      </p:sp>
      <p:sp>
        <p:nvSpPr>
          <p:cNvPr id="12" name="Text 9"/>
          <p:cNvSpPr txBox="1"/>
          <p:nvPr/>
        </p:nvSpPr>
        <p:spPr>
          <a:xfrm>
            <a:off x="9098280" y="3703320"/>
            <a:ext cx="2450592" cy="98755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ganadas en el CRM bajo razón social Sigma: 3.11 millones MXN de potencial anual registrado, acumulado 2019–2025 (no es monto anual ni facturación)</a:t>
            </a:r>
            <a:endParaRPr lang="en-US" sz="1200" dirty="0"/>
          </a:p>
        </p:txBody>
      </p:sp>
      <p:sp>
        <p:nvSpPr>
          <p:cNvPr id="13" name="Text 10"/>
          <p:cNvSpPr txBox="1"/>
          <p:nvPr/>
        </p:nvSpPr>
        <p:spPr>
          <a:xfrm>
            <a:off x="7863840" y="4892040"/>
            <a:ext cx="3776472" cy="100584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Qualtia, mismo giro de carnes frías: </a:t>
            </a:r>
            <a:pPr indent="0" marL="0">
              <a:buNone/>
            </a:pPr>
            <a:r>
              <a:rPr lang="en-US" sz="1200" dirty="0">
                <a:solidFill>
                  <a:schemeClr val="tx1"/>
                </a:solidFill>
                <a:latin typeface="Calibri" pitchFamily="34" charset="0"/>
                <a:ea typeface="Calibri" pitchFamily="34" charset="-122"/>
                <a:cs typeface="Calibri" pitchFamily="34" charset="-120"/>
              </a:rPr>
              <a:t>4 TIF en Ciudad de México, Estado de México y Nuevo León; 1 ganada en el CRM, «2.2 QUALTIA ALIMENTOS MANGUERA Y INDS, E HIDRAULICA BANDAS MECTROL_» (2021, 306,528.89 MXN).</a:t>
            </a:r>
            <a:endParaRPr lang="en-US" sz="1200" dirty="0"/>
          </a:p>
        </p:txBody>
      </p:sp>
      <p:sp>
        <p:nvSpPr>
          <p:cNvPr id="14" name="Text 1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Directorio TIF SENASICA, 7-sep-2026; Reporte Anual SIGMA 2024; CRM de Gates (búsqueda por «Sigma», subsidiarias con TIF y marcas; corte 12-ago-2026; detalle en el apéndice 4). Los 15 TIF no incluyen los de Productos Cárnicos de Occidente. Las 65 plantas del reporte 4T25 (11-feb-2026) son globales. Filiales con otro nombre podrían no aparecer.</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Próximos pasos</a:t>
            </a:r>
            <a:endParaRPr lang="en-US" sz="2800" dirty="0"/>
          </a:p>
        </p:txBody>
      </p:sp>
      <p:sp>
        <p:nvSpPr>
          <p:cNvPr id="3" name="numero 1"/>
          <p:cNvSpPr/>
          <p:nvPr/>
        </p:nvSpPr>
        <p:spPr>
          <a:xfrm>
            <a:off x="548640" y="1380744"/>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548640" y="138074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1</a:t>
            </a:r>
            <a:endParaRPr lang="en-US" sz="1800" dirty="0"/>
          </a:p>
        </p:txBody>
      </p:sp>
      <p:sp>
        <p:nvSpPr>
          <p:cNvPr id="5" name="Text 3"/>
          <p:cNvSpPr txBox="1"/>
          <p:nvPr/>
        </p:nvSpPr>
        <p:spPr>
          <a:xfrm>
            <a:off x="1280160" y="1325880"/>
            <a:ext cx="10360152" cy="64008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Visita a plantas: confirmar la identidad de cada sitio (Tepeji = TIF A-239; Lagos = TIF A-183 y origen Guanajuato; Lerma = Toluca) y su composición de áreas.</a:t>
            </a:r>
            <a:endParaRPr lang="en-US" sz="1600" dirty="0"/>
          </a:p>
        </p:txBody>
      </p:sp>
      <p:sp>
        <p:nvSpPr>
          <p:cNvPr id="6" name="numero 2"/>
          <p:cNvSpPr/>
          <p:nvPr/>
        </p:nvSpPr>
        <p:spPr>
          <a:xfrm>
            <a:off x="548640" y="2130552"/>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548640" y="213055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2</a:t>
            </a:r>
            <a:endParaRPr lang="en-US" sz="1800" dirty="0"/>
          </a:p>
        </p:txBody>
      </p:sp>
      <p:sp>
        <p:nvSpPr>
          <p:cNvPr id="8" name="Text 6"/>
          <p:cNvSpPr txBox="1"/>
          <p:nvPr/>
        </p:nvSpPr>
        <p:spPr>
          <a:xfrm>
            <a:off x="1280160" y="2075688"/>
            <a:ext cx="10360152" cy="64008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Bachoco: coordinar con las regiones que ya atienden la cuenta antes de acercarnos a Lagos de Moreno.</a:t>
            </a:r>
            <a:endParaRPr lang="en-US" sz="1600" dirty="0"/>
          </a:p>
        </p:txBody>
      </p:sp>
      <p:sp>
        <p:nvSpPr>
          <p:cNvPr id="9" name="numero 3"/>
          <p:cNvSpPr/>
          <p:nvPr/>
        </p:nvSpPr>
        <p:spPr>
          <a:xfrm>
            <a:off x="548640" y="28803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548640" y="28803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3</a:t>
            </a:r>
            <a:endParaRPr lang="en-US" sz="1800" dirty="0"/>
          </a:p>
        </p:txBody>
      </p:sp>
      <p:sp>
        <p:nvSpPr>
          <p:cNvPr id="11" name="Text 9"/>
          <p:cNvSpPr txBox="1"/>
          <p:nvPr/>
        </p:nvSpPr>
        <p:spPr>
          <a:xfrm>
            <a:off x="1280160" y="2825496"/>
            <a:ext cx="10360152" cy="64008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Bachoco Guanajuato: designar quién recupera el expediente, porque el responsable histórico figura inactivo.</a:t>
            </a:r>
            <a:endParaRPr lang="en-US" sz="1600" dirty="0"/>
          </a:p>
        </p:txBody>
      </p:sp>
      <p:sp>
        <p:nvSpPr>
          <p:cNvPr id="12" name="numero 4"/>
          <p:cNvSpPr/>
          <p:nvPr/>
        </p:nvSpPr>
        <p:spPr>
          <a:xfrm>
            <a:off x="548640" y="3630168"/>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548640" y="363016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4</a:t>
            </a:r>
            <a:endParaRPr lang="en-US" sz="1800" dirty="0"/>
          </a:p>
        </p:txBody>
      </p:sp>
      <p:sp>
        <p:nvSpPr>
          <p:cNvPr id="14" name="Text 12"/>
          <p:cNvSpPr txBox="1"/>
          <p:nvPr/>
        </p:nvSpPr>
        <p:spPr>
          <a:xfrm>
            <a:off x="1280160" y="3575304"/>
            <a:ext cx="10360152" cy="64008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Bafar: confirmar domicilio y TIF de La Piedad y buscar en el CRM subsidiarias con otro nombre.</a:t>
            </a:r>
            <a:endParaRPr lang="en-US" sz="1600" dirty="0"/>
          </a:p>
        </p:txBody>
      </p:sp>
      <p:sp>
        <p:nvSpPr>
          <p:cNvPr id="15" name="numero 5"/>
          <p:cNvSpPr/>
          <p:nvPr/>
        </p:nvSpPr>
        <p:spPr>
          <a:xfrm>
            <a:off x="548640" y="4379976"/>
            <a:ext cx="502920" cy="502920"/>
          </a:xfrm>
          <a:prstGeom prst="ellipse">
            <a:avLst/>
          </a:prstGeom>
          <a:solidFill>
            <a:schemeClr val="accent1"/>
          </a:solidFill>
          <a:ln w="12700">
            <a:solidFill>
              <a:schemeClr val="accent1"/>
            </a:solidFill>
            <a:prstDash val="solid"/>
          </a:ln>
        </p:spPr>
      </p:sp>
      <p:sp>
        <p:nvSpPr>
          <p:cNvPr id="16" name="Text 14"/>
          <p:cNvSpPr txBox="1"/>
          <p:nvPr/>
        </p:nvSpPr>
        <p:spPr>
          <a:xfrm>
            <a:off x="548640" y="4379976"/>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5</a:t>
            </a:r>
            <a:endParaRPr lang="en-US" sz="1800" dirty="0"/>
          </a:p>
        </p:txBody>
      </p:sp>
      <p:sp>
        <p:nvSpPr>
          <p:cNvPr id="17" name="Text 15"/>
          <p:cNvSpPr txBox="1"/>
          <p:nvPr/>
        </p:nvSpPr>
        <p:spPr>
          <a:xfrm>
            <a:off x="1280160" y="4325112"/>
            <a:ext cx="10360152" cy="64008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Sigma: priorizar Chihuahua, Guanajuato, Sonora y Yucatán, donde hay TIF y no hay cuenta propia en el CRM.</a:t>
            </a:r>
            <a:endParaRPr lang="en-US" sz="1600" dirty="0"/>
          </a:p>
        </p:txBody>
      </p:sp>
      <p:sp>
        <p:nvSpPr>
          <p:cNvPr id="18" name="numero 6"/>
          <p:cNvSpPr/>
          <p:nvPr/>
        </p:nvSpPr>
        <p:spPr>
          <a:xfrm>
            <a:off x="548640" y="5129784"/>
            <a:ext cx="502920" cy="502920"/>
          </a:xfrm>
          <a:prstGeom prst="ellipse">
            <a:avLst/>
          </a:prstGeom>
          <a:solidFill>
            <a:schemeClr val="accent1"/>
          </a:solidFill>
          <a:ln w="12700">
            <a:solidFill>
              <a:schemeClr val="accent1"/>
            </a:solidFill>
            <a:prstDash val="solid"/>
          </a:ln>
        </p:spPr>
      </p:sp>
      <p:sp>
        <p:nvSpPr>
          <p:cNvPr id="19" name="Text 17"/>
          <p:cNvSpPr txBox="1"/>
          <p:nvPr/>
        </p:nvSpPr>
        <p:spPr>
          <a:xfrm>
            <a:off x="548640" y="5129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6</a:t>
            </a:r>
            <a:endParaRPr lang="en-US" sz="1800" dirty="0"/>
          </a:p>
        </p:txBody>
      </p:sp>
      <p:sp>
        <p:nvSpPr>
          <p:cNvPr id="20" name="Text 18"/>
          <p:cNvSpPr txBox="1"/>
          <p:nvPr/>
        </p:nvSpPr>
        <p:spPr>
          <a:xfrm>
            <a:off x="1280160" y="5074920"/>
            <a:ext cx="10360152" cy="64008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Pronóstico 2027: las fuentes consultadas no publican cifra; revisar nuevas ediciones de USDA y Comecarne.</a:t>
            </a:r>
            <a:endParaRPr lang="en-US" sz="16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1: fuentes de mercado con URL y fecha</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2834640"/>
                <a:gridCol w="2286000"/>
                <a:gridCol w="1554480"/>
                <a:gridCol w="441655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PIB primario +4.0%, nacional +0.8%, secundario −1.1%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SIAP/SADER con base en INEGI</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23-feb-2026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gob.mx/agricultura/dgsiap/articulos/el-pib-primario-tiene-su-mejor-desempeno-en-trece-anos-al-crecer-4-0-en-2025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Consumo de carne +4.5%, producción +2.6%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Consejo Mexicano de la Carne, Compendio 2026, citado por prensa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 (día exacto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comecarne.org/compendio26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Pie de cría porcino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fas.usda.gov/data/gain/2026/02/mexico-livestock-and-products-semi-annual</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Pollo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 Poultry Annual MX2025-0045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2025 (día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apps.fas.usda.gov/newgainapi/api/Report/DownloadReportByFileName?fileName=Poultry+and+Products+Annual_Mexico+City_Mexico_MX2025-0045.pdf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Pilgrim's: 1,300 mdd 2026–2030, +38% de capacidad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Presidencia, Plan México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15-ene-2026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gob.mx/presidencia/prensa/plan-mexico-empresa-global-pilgrim-s-invertira-en-el-pais-mil-300-millones-de-dolares-para-2026-2030-generara-20-mil-empleos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SuKarne: posible venta por más de 2,000 mdd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Financiero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4-ago-2026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elfinanciero.com.mx/empresas/2026/08/04/que-sabemos-de-la-posible-venta-de-sukarne-el-mayor-exportador-de-carne-de-mexico/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netas +14.8% en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 Bafar</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grupobafar.com/grupo-bafar-incrementa-14-8-sus-ventas-en-2025-y-dispara-173-1-su-utilidad-neta/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netas +17.1% en 2T-2026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Heraldo de Chihuahua (OEM)</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28-jul-2026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oem.com.mx/elheraldodechihuahua/finanzas/crecieron-un-17-las-ventas-netas-en-grupo-bafar-al-segundo-trimestre-de-2026-31348026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2: fuentes de plantas y grupos</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3200400"/>
                <a:gridCol w="2194560"/>
                <a:gridCol w="1463040"/>
                <a:gridCol w="423367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TIF de SuKarne, Pilgrim's, Bachoco, Qualtia y Sigma; TIF 94 sin sacrificio; TIF 126 de Strattega, subsidiaria de Bafar, en Michoacán (¿La Piedad?, por confirmar)</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Directorio TIF, SENASICA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gob.mx/cms/uploads/attachment/file/1095992/DIRECTORIO_TIF_07-09-2026.pdf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Bachoco: 64 plantas en 10 complejos (una fuente de 2009 hablaba de siete; se usa la más reciente)</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Informe Anual 2024, Bachoco (BMV)</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grupobachoco.com/wp-content/downloads/2025/Informe-Anual-2024-BMV.pdf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Bafar: 4 complejos productivos; La Piedad (Complejo Agroindustrial, 650 mdd); compra de carne a terceros; Strattega como subsidiaria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Reporte Anual 2024, Grupo Bafar (BIVA)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 (≈ 30-abr-2025, inferida del sello del archivo)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biva.mx/storage/information-send/RAN/BAFAR/ReporteAnual_2024_BAFAR_1746046978785.pdf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Sigma: 24 plantas en México (11 de carnes frías), flota propia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Reporte Anual SIGMA 2024</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 (ejercicio al 31-dic-2024)</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sigma-alimentos.com/wp-content/uploads/2025/05/Reporte-Anual-SIGMA-2024.pdf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Sigma: 65 plantas globales (no solo México)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Sigma Foods, resultados 4T25</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11-feb-2026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sigmafoods.com/wp-content/uploads/2026/02/SigmaFoods4T25Resultados.pdf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 TIF 645 (Lucero), 111 (Vizur) y 105 (S.K.) atribuidos al grupo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sukarne.com, consultada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sukarne.com/plantas/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 TIF 718: 120 t/semana, meta de 840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Expansión</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12-abr-2023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expansion.mx/empresas/2023/04/12/sukarne-adquiere-planta-procesadora-tlaxcala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Pilgrim's Tepeji; Toluca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az-mexico.com; abctelefonos.com (directorios comerciales, consultados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az-mexico.com/empresas/pilgrims_pride_tepeji_del_rio_de_ocampo_hgo_carretera_antga_mex_queretaro_sn_72_5 · abctelefonos.com/persona_mexico/pilgrim/pag_22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Bachoco Lagos de Moreno; Bafar Lerma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desarrolloeconomicolagos.com; manufactura-latam.com (consultados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desarrolloeconomicolagos.com/listing/bachoco/ · manufactura-latam.com/mexico/lerma-de-villada/fabricantes/grupo-bafar</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3: oportunidades citadas fuera de la lámina 6</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4297680"/>
                <a:gridCol w="1005840"/>
                <a:gridCol w="1097280"/>
                <a:gridCol w="1737360"/>
                <a:gridCol w="295351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Nomenclatura completa</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N.º</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Estado y año</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MXN (potencial anual registrado)</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Canal (campo Proveedor CRM)</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gridSpan="5">
                  <a:txBody>
                    <a:bodyPr/>
                    <a:lstStyle/>
                    <a:p>
                      <a:pPr indent="0" marL="0">
                        <a:buNone/>
                      </a:pPr>
                      <a:r>
                        <a:rPr lang="en-US" sz="1100" b="1" dirty="0">
                          <a:solidFill>
                            <a:schemeClr val="tx1"/>
                          </a:solidFill>
                          <a:latin typeface="Calibri" pitchFamily="34" charset="0"/>
                          <a:ea typeface="Calibri" pitchFamily="34" charset="-122"/>
                          <a:cs typeface="Calibri" pitchFamily="34" charset="-120"/>
                        </a:rPr>
                        <a:t>En el CRM de Gates (oportunidades elegibles), verificadas el 14-oct-2026; año = Año cierre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2"/>
                    </a:solidFill>
                  </a:tcPr>
                </a:tc>
                <a:tc hMerge="1">
                  <a:tcPr/>
                </a:tc>
                <a:tc hMerge="1">
                  <a:tcPr/>
                </a:tc>
                <a:tc hMerge="1">
                  <a:tcPr/>
                </a:tc>
                <a:tc hMerge="1">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PCC C2B-Bachoco Lagos- Bamac Guadalajara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O-00218689</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834,766.20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BANDAS Y MANGUERAS EL CAMINO SA DE - 60311 - GUADALAJARA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TPU Grupo Bafar Chihuahua - Rorisa Chihuahua PT-PU BELTS-566392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566392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591,804.81</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RODAMIENTOS Y REPRESENTACIONES INDU - 62314 - CHIHUAHUA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 TPU + LINATRIL - Grupo Bafar Chihuahua - Interbandas Chihuahua PT-PU BELTS-656090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656090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286,935.76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INTERNACIONAL DE BANDAS Y SERVICIOS - 110109 - CHIHUAHUA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gridSpan="5">
                  <a:txBody>
                    <a:bodyPr/>
                    <a:lstStyle/>
                    <a:p>
                      <a:pPr indent="0" marL="0">
                        <a:buNone/>
                      </a:pPr>
                      <a:r>
                        <a:rPr lang="en-US" sz="1100" b="1" dirty="0">
                          <a:solidFill>
                            <a:schemeClr val="tx1"/>
                          </a:solidFill>
                          <a:latin typeface="Calibri" pitchFamily="34" charset="0"/>
                          <a:ea typeface="Calibri" pitchFamily="34" charset="-122"/>
                          <a:cs typeface="Calibri" pitchFamily="34" charset="-120"/>
                        </a:rPr>
                        <a:t>Abiertas, posteriores al corte del CRM del 12-ago-2026</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2"/>
                    </a:solidFill>
                  </a:tcPr>
                </a:tc>
                <a:tc hMerge="1">
                  <a:tcPr/>
                </a:tc>
                <a:tc hMerge="1">
                  <a:tcPr/>
                </a:tc>
                <a:tc hMerge="1">
                  <a:tcPr/>
                </a:tc>
                <a:tc hMerge="1">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3.1 MI Grupo bafar, sab de cv - La piedad FP-HYDRAULICS-813492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813492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650,220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No aparece en la nomenclatura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PTI Grupo bafar, sab de cv - La piedad- Ryasa Morelia PT-IND SYNCH BELTS-814010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814010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265,000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Ryasa Morelia (nomenclatura)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Montos: potencial anual registrado, no facturación.</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4: oportunidades de Sigma citadas en la lámina 9</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3749040"/>
                <a:gridCol w="914400"/>
                <a:gridCol w="1737360"/>
                <a:gridCol w="914400"/>
                <a:gridCol w="1188720"/>
                <a:gridCol w="258775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Nomenclatura completa</a:t>
                      </a:r>
                      <a:endParaRPr lang="en-US" sz="1100" dirty="0">
                        <a:latin typeface="Calibri" charset="0"/>
                        <a:ea typeface="Calibri" charset="0"/>
                        <a:cs typeface="Calibri" charset="0"/>
                      </a:endParaRPr>
                    </a:p>
                  </a:txBody>
                  <a:tcPr marL="54864" marR="54864" marT="18288" marB="18288"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N.º</a:t>
                      </a:r>
                      <a:endParaRPr lang="en-US" sz="1100" dirty="0">
                        <a:latin typeface="Calibri" charset="0"/>
                        <a:ea typeface="Calibri" charset="0"/>
                        <a:cs typeface="Calibri" charset="0"/>
                      </a:endParaRPr>
                    </a:p>
                  </a:txBody>
                  <a:tcPr marL="54864" marR="54864" marT="18288" marB="18288"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Planta o clave</a:t>
                      </a:r>
                      <a:endParaRPr lang="en-US" sz="1100" dirty="0">
                        <a:latin typeface="Calibri" charset="0"/>
                        <a:ea typeface="Calibri" charset="0"/>
                        <a:cs typeface="Calibri" charset="0"/>
                      </a:endParaRPr>
                    </a:p>
                  </a:txBody>
                  <a:tcPr marL="54864" marR="54864" marT="18288" marB="18288"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Estado y año</a:t>
                      </a:r>
                      <a:endParaRPr lang="en-US" sz="1100" dirty="0">
                        <a:latin typeface="Calibri" charset="0"/>
                        <a:ea typeface="Calibri" charset="0"/>
                        <a:cs typeface="Calibri" charset="0"/>
                      </a:endParaRPr>
                    </a:p>
                  </a:txBody>
                  <a:tcPr marL="54864" marR="54864" marT="18288" marB="18288"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MXN (potencial anual registrado)</a:t>
                      </a:r>
                      <a:endParaRPr lang="en-US" sz="1100" dirty="0">
                        <a:latin typeface="Calibri" charset="0"/>
                        <a:ea typeface="Calibri" charset="0"/>
                        <a:cs typeface="Calibri" charset="0"/>
                      </a:endParaRPr>
                    </a:p>
                  </a:txBody>
                  <a:tcPr marL="54864" marR="54864" marT="18288" marB="18288"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Canal (campo Proveedor CRM)</a:t>
                      </a:r>
                      <a:endParaRPr lang="en-US" sz="1100" dirty="0">
                        <a:latin typeface="Calibri" charset="0"/>
                        <a:ea typeface="Calibri" charset="0"/>
                        <a:cs typeface="Calibri" charset="0"/>
                      </a:endParaRPr>
                    </a:p>
                  </a:txBody>
                  <a:tcPr marL="54864" marR="54864" marT="18288" marB="18288"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2.2 PTI Optibelt Nayar Embutidos Tonala Macomich Gdl</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O-00241294</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Tonalá, Jalisco (vinculada a Sigma, por confirmar)</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Won 2020</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371,007.16</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MANGUERAS AUTOMOTRICES E INDUSTRIAL - 50901 - GUADALAJARA</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7.1 V-Belts Sigma Alimentos Coatzacoalcos Ryasa Coatzacoalcos</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708835</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Coatzacoalcos, Veracruz</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Won 2024</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361,081.80</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RODAMIENTOS Y ACCESORIOS, S.A. DE C -030411-COATZACOALCOS</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2.2. MIG Conti SIGMA ALIMENTOS Tula RYSBASA Apaxco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O-00231261</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Xalostoc, Edo. de México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Won 2020</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324,631.22</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REFACCIONES Y SERVICIOS BARRERA, S. - 15288 - APAXCO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2.2 HD EOM SIGMA ALIMENTOS NAL RYASA Mex - 02/20/20 - 2019-07-25T16:44:00.000Z</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O-00231265</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Xalostoc, Edo. de México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Lost 2020</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649,262.62</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RODAMIENTOS Y ACCESORIOS, S.A. DE C - 21015 - MIGUEL HIDALGO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2.2 HD EOM SIGMA ALIMENTOS NAL RYASA Mex</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O-00244934</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Xalostoc, Edo. de México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Won 2020</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1,391,276.95</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RODAMIENTOS Y ACCESORIOS, S.A. DE C - 21015 - MIGUEL HIDALGO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2.2 Optibelt Sigma Alimentos Binasa Puebla</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O-00222731</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Base Apizaco, Tlaxcala</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Won 2019</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46,375.94</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BINASA RODAMIENTOS Y REFACCIONES, S. DE R.L. DE C. - 10114 - Puebla</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2.2 Pneum Sigma Tula Rysbasa Apaxco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570597</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Base Atitalaquia, Hidalgo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Lost 2022</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350,318.65</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REFACCIONES Y SERVICIOS BARRERA, S. - 15288 - APAXCO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7.1 TPU Sigma Pachuca RYASA Tula</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520100</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Base Pachuca, Hidalgo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Lost 2021</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87,579.71</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RODAMIENTOS Y ACCESORIOS, S.A. DE C - 30902 - TULA DE ALLENDE</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2.2 MI Sigma Alimentos comercial, S.A. de C.V - Ciudad valles FP-ENGINE HOSE-768398</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768398</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Ciudad Valles, S.L.P.</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Won 2025</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491,710.59</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BINASA REFACCIONES INDUSTRIALES, S. - 10615 - SAN LUIS POTOSI</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2.2 SIGMS ALIMENTOS BANDAS E HIDRAULICA</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O-00244436</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Monterrey, Nuevo León</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Won 2020</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231,879.52</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RODAMIENTOS Y ACCESORIOS, S.A. DE C - 30902 - SAN NICOLAS DE LOS GARZA</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2.2 FP INDS Kuriyama- SIGMA Alimentos Mty, -Ryasa Mty - 705389</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705389</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Monterrey, Nuevo León</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Won 2024</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263,073.92</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RODAMIENTOS Y ACCESORIOS, S.A. DE C - 30902 - SAN NICOLAS DE LOS GARZA</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Calibri" pitchFamily="34" charset="0"/>
                          <a:ea typeface="Calibri" pitchFamily="34" charset="-122"/>
                          <a:cs typeface="Calibri" pitchFamily="34" charset="-120"/>
                        </a:rPr>
                        <a:t>3.1 - PNEUMATIC - PARKER - SIGMA ALIMENTOS - MANGUERAS Y CONEXIONES CHIHUAHUA</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O-00223013</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Clave corporativa</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Lost 2020</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0.00</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Calibri" pitchFamily="34" charset="0"/>
                          <a:ea typeface="Calibri" pitchFamily="34" charset="-122"/>
                          <a:cs typeface="Calibri" pitchFamily="34" charset="-120"/>
                        </a:rPr>
                        <a:t>sin dato</a:t>
                      </a:r>
                      <a:endParaRPr lang="en-US" sz="900" dirty="0">
                        <a:latin typeface="Calibri" charset="0"/>
                        <a:ea typeface="Calibri" charset="0"/>
                        <a:cs typeface="Calibri" charset="0"/>
                      </a:endParaRPr>
                    </a:p>
                  </a:txBody>
                  <a:tcPr marL="54864" marR="54864" marT="18288" marB="18288"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CRM de Gates (oportunidades elegibles), verificadas el 14-oct-2026. Montos: potencial anual registrado, no facturación; los ganados de Sigma suman 3.11 millones MXN sin Tonalá. Productos Cárnicos de Occidente aparece como subsidiaria de Sigma con TIF propio en nuestro listado de subsidiarias; el CRM la clasifica como independiente, por eso el vínculo está por confirmar.</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Simbiosis IR">
  <a:themeElements>
    <a:clrScheme name="Simbiosis IR">
      <a:dk1>
        <a:srgbClr val="1F2A2E"/>
      </a:dk1>
      <a:lt1>
        <a:srgbClr val="FFFFFF"/>
      </a:lt1>
      <a:dk2>
        <a:srgbClr val="3A4A50"/>
      </a:dk2>
      <a:lt2>
        <a:srgbClr val="F1F3F4"/>
      </a:lt2>
      <a:accent1>
        <a:srgbClr val="A63D2B"/>
      </a:accent1>
      <a:accent2>
        <a:srgbClr val="2F6F62"/>
      </a:accent2>
      <a:accent3>
        <a:srgbClr val="C98A1B"/>
      </a:accent3>
      <a:accent4>
        <a:srgbClr val="7C878C"/>
      </a:accent4>
      <a:accent5>
        <a:srgbClr val="5B7B8C"/>
      </a:accent5>
      <a:accent6>
        <a:srgbClr val="D9DEE0"/>
      </a:accent6>
      <a:hlink>
        <a:srgbClr val="2F6F62"/>
      </a:hlink>
      <a:folHlink>
        <a:srgbClr val="7C878C"/>
      </a:folHlink>
    </a:clrScheme>
    <a:fontScheme name="Simbiosis I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Simbiosis IR - Proteína animal - Entregable 1</dc:title>
  <dc:subject>PptxGenJS Presentation</dc:subject>
  <dc:creator>Programa Simbiosis IR</dc:creator>
  <cp:lastModifiedBy>Programa Simbiosis IR</cp:lastModifiedBy>
  <cp:revision>1</cp:revision>
  <dcterms:created xsi:type="dcterms:W3CDTF">2026-10-14T14:01:49Z</dcterms:created>
  <dcterms:modified xsi:type="dcterms:W3CDTF">2026-10-14T14:01:49Z</dcterms:modified>
</cp:coreProperties>
</file>